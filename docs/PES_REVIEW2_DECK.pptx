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Vidisha] Review 2 — Tue 13 Oct 2026, 3:00–3:30 pm, B204, with Prof. Sawant. Everyone presents and is evaluated individually. One sentence, identical from all four of us: a deployed, multimodal screening system for parents that measures how a child plays, not just how long — externally validated against a clinical questionnaire, with its limitations named before you ask.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Vidisha] Read the list in one breath; the order follows the department template.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Vidisha] FILL IN BEFORE 13 OCT: one row per remark the Review 1 panel actually made — the remark in their words, whether it is feasible (yes / partly / no, and why), and the progress shown since (point to the slide number in this deck). Do not leave the grey placeholder text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Kaustubh] One: capture is passive, so the child does nothing, and raw audio is deleted after feature extraction. Two: we measure how a child plays, not just how long. Three: each channel has its own model, and calibrated means a predicted 70% really happens about 70% of the time. The behaviour model reaches 91.6% accuracy, but on synthetic labels from a simulation grounded on two real surveys, so we do not lean on it. Chat combines the model and keyword list by noisy-OR, so either detector can raise the score. PR-AUC summarises the precision and recall trade-off, where 1.0 is perfect. Voice is weakest: 0.574 accuracy on speakers it never trained on. Four: the average is renormalised over channels that are present, and no child is shown at High concern before three scored sessions. Five: only the behaviour score was validated, without genre weight, chat or voice. Screen-time hours alone give 0.147. SHAP, which credits each feature's share of a score, writes the parent-facing reasons.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Kaustubh] Our answer: keep the approach and change parts only where our own data says so. Rho is a rank correlation, and the ranges are 95% intervals. The raw survey had 134 responses, 104 usable. A late batch lowered the headline from 0.352 to 0.317, and a rule set in advance made us keep the lower number. Two changes are done. The renames change wording only. Model inputs are untouched. Hindi plus English speech costs four to five times the CPU of the default. Two changes are next. Removing the genre weight is planned for the weeks right after this review. It was never part of the validated score, and the survey found no genre effect, p 0.598. That test had only 32% power, so removal is about consistency, not proof that genre is irrelevant. Until the change ships the weight stays, flagged, and an environment variable can switch it off without code changes. A properly powered study could justify bringing it back. The guardian study needs ethics approval first and will be slower, but it is the only route to children.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Khushee] A background service on the phone checks every 5 seconds which app is in front. A game starts a session. If the child stays away from it for more than 20 seconds, the session ends at the moment they left. Chat comes from our own keyboard or the accessibility service. The microphone runs only while that exact game is in front, and Vosk turns speech into text on the phone. A heartbeat every 3 minutes tells parents monitoring is still running. On the server, noisy-OR means a line is flagged if either the keyword list or the trained model is confident. The speech gate drops clips with almost no speech, and the audio is deleted once features are taken. At session end, the calibrated Random Forest gives probabilities that match real frequencies. Spoken words stay out of the chat score so they are not counted twice. SHAP shows which habits raised the score. This is a screening signal, never a diagnosis.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Kaustubh] Say: this is how one session becomes a behaviour score. We look back 30 days at this child's sessions that started before this one, so re-scoring an old session gives the same answer. History is capped at the latest 200 sessions. Late night uses the child's local clock. A break counts only if it lasts between zero minutes and one day, and the break just before this session is included, because restarting four minutes after stopping is the pattern we want. With no breaks the average defaults to 120 minutes. A zero-second session is skipped so it cannot count as a healthy day. The forest has 200 trees of depth 6. Isotonic calibration cut expected calibration error from 0.062 to 0.015. SHAP is skipped on frequent live updates to save memory. Proxy scores like 'Gaming cravings' are still computed and stored but never fed to the model. Cravings is just late-night ratio plus re-login ratio, so SHAP would be citing a disguised copy of two real reasons.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Kaustubh] This is what happens to every chat line the phone sends. The keyword list catches clear abuse, including Hindi typed in Devanagari or in English letters. The model turns the cleaned text into TF-IDF word and character features, runs logistic regression, then isotonic calibration, so its scores track how often lines really are toxic. Noisy-OR treats the two scores as independent clues. The single-line bar is high on purpose: a false alarm about a child's language costs parent trust. The 0.235 figure comes from a realistic general chat stream. On real Dota 2 chat, PR-AUC, the area under the precision-recall curve, is 0.825, against 0.709 for off-the-shelf toxic-BERT. Hindi precision at 0.95 is 0.968 in Devanagari and 0.958 romanised. At 0.97, the high-severity mark, precision was 1.00 but recall only 0.024. The 0.6 bar alone gives precision 0.63 and recall 0.82 per line, so we require three hits. The session score uses typed lines only, because spoken words already feed the voice channel.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Khushee] The phone listens only while the tracked game is on screen. First, Vosk turns speech into text on the phone, and each phrase goes through the chat toxicity model, so spoken abuse can raise an alert. These lines stay out of the session chat score so words are not counted twice. Second, every 10 seconds the audio clip is uploaded. A speech detector, called a VAD, drops clips that are silent or mostly game sound, and those count as missing voice. The rest become 36 acoustic numbers, and a gradient-boosted tree model gives four emotion probabilities. Recent words then adjust the reading, so excited is not mistaken for angry. The audio is deleted, so production scores use each stored emotion times its confidence. Training data is about 9,800 acted clips from RAVDESS, CREMA-D, EMO-DB and URDU. Macro-F1, the F1 averaged over the four emotions, is 0.568. Embeddings from wav2vec2, a large pretrained speech model, reached 0.776 versus 0.553 for our features, but do not fit our 512 MB server.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Kanak] A session can have three scores: behaviour, chat and voice. We average only the ones captured, so a game with no text chat is not judged on a placeholder. The average is multiplied by a genre weight, clipped to 0 to 1, and cut at 0.33 and 0.67 into Low, Some and High concern. Until a child has 3 scored sessions we never show High concern. Some concern creates a medium alert and High concern a high alert, and every guardian sees it. High concern is also pushed to their phones through Firebase Cloud Messaging. If late evidence raises the band, we create a new alert so it is delivered again. If it lowers the band, we correct the old one. On 131 pilot sessions, shifting the weights by 0.15 changed a median 0.8 percent of bands, worst case 10.7 percent. Removing the genre multiplier changes 34.4 percent. The survey's genre test had only 32 percent power, so we keep the multiplier but flag it as unproven.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Kanak] Our design rests on five ideas. First, three tiers: the child's phone only captures, the server only scores, and the parent's app only explains. Second, late fusion: behaviour, chat and voice each have their own model, and we combine only their final scores, weighted 0.40, 0.30 and 0.30 and renormalised over whichever channels are present. Third, one shared function in backend/behavior_features.py feeds both training and live scoring, so the two cannot drift apart. Fourth, privacy: speech is transcribed on the phone with Vosk, the server deletes raw audio after extracting 36 acoustic features, it refuses data without current parent consent, and we never record the screen. Fifth, every choice has a measured alternative. For example, we re-banded pilot sessions under two other fusion rules. Noisy-OR (any one channel can push the score up) flipped 45.0% of bands and max-pooling 32.1%, every flip upward, so the weighted average is the conservative choice. The cost is that we never learn how channels interact.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Kanak] Each row is a road we did not take and what it cost us. A single deep model needs labelled phone play data, and no public dataset has it. That is also why the behaviour labels are synthetic. On chat, we measured instead of assuming. Off-the-shelf toxic-BERT scored 0.709 on real Dota 2 chat, below our TF-IDF pipeline at 0.825. Removing the in-game chat data drops ours to 0.511, so the data mattered more than the model size. The Phase-1 plan proposed Flutter or React Native with iOS. The capture we built relies on Android services such as a custom keyboard and an accessibility service, so both apps are native Kotlin and Android only. Vosk transcribes speech on the phone, so no outside company hears the child. Default capture costs about 14% CPU and 288 MB, while adding Hindi recognition fails our device budget, so spoken Hindi is not transcribed by default. We accept the browser-game blind spot rather than record the screen.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Khushee] Say: every module is built, deployed and tested, so we demo the whole product. We follow DEMO_RUNBOOK section 3. First open the health URL so the free cloud server is awake. Parent app: sign in as the demo family, open Arjun's dashboard and its reasons, rate one alert, send a nudge, then show Emotion Insights, Chat Analysis and the weekly PDF. Child app: the home screen, the Mira counsellor chat, the daily check-in, and logout asking for the parent PIN. Then live capture: open Roblox, type and speak, close it, and refresh the parent dashboard. Close by turning off Accessibility, the chat-capture permission, to show the tamper alert. If the cloud is slow, switch to the laptop backend over USB. If the phone or network fails, play the backup video, which follows the same order. Extra numbers: an 82-check production sweep and a median response of 66 ms. Hindi typing and two-language voice are beta. Two-language voice is off by default because it uses too much CPU.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Kanak] Model-number follow-ups go to Kaustubh by name. Numbers behind this slide: behaviour macro-F1 0.918, cross-validation 0.921 ± 0.002, calibration error (ECE) 0.062 → 0.015, screen-time-only baseline 0.702, five pattern features alone 0.902 vs five volume features 0.871. Chat PR-AUC interval [0.807, 0.841]; without the in-game chat corpus 0.511; 933 Hindi held-out rows never trained on. Voice: chance is 0.25; wav2vec2 headroom 0.776. Survey: ρ 0.317 [0.137, 0.478] on 103 people; gain over screen time +0.167 with interval touching zero (suggestive); partial with hours removed 0.303 [0.110, 0.476]; pattern-minus-volume +0.199 [+0.019, +0.380]; genre test p 0.598; one respondent in the disordered range, so no sensitivity/specificity. Fairness: 9.61 h, 117 speakers. Tests: 181 backend (SQLite and Postgres) + 110 Android + 7 paper-vs-data guards, all in CI; 288 concurrent requests, 0 errors, p50 66 ms.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Vidisha] This slide covers template points one to five. The shared problem in every row is ours too: a simple count of hours, keywords or money misses the pattern that signals harm, and false alarms quickly destroy trust. Calibrated means that among cases scored 0.7, about 70 percent really are positive. For fintech, say clearly that our models do not transfer, only the evaluation and alerting method. References to verify: StudentLife, Wang and colleagues, ACM UbiComp 2014. Smartphone Addiction Scale short version, Kwon and colleagues, PLoS ONE 2013. Bergen Social Media Addiction Scale, Andreassen and colleagues, Psychology of Addictive Behaviors 2016. bwin data, Transparency Project, Division on Addiction, Cambridge Health Alliance, LaBrie and colleagues 2007. Problem Gambling Severity Index, Ferris and Wynne, Canadian Centre on Substance Abuse 2001. HASOC, Mandl and colleagues, FIRE 2019. MACD, Gupta and colleagues, ShareChat, NeurIPS 2022 Datasets and Benchmarks. IEEE-CIS Fraud Detection, Kaggle with Vesta, 2019. ULB credit-card fraud, Dal Pozzolo and colleagues, ULB with Worldline, 2015.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Vidisha] This slide covers template points six to nine. The main benefit is the recipe, not the trained models: measure patterns, calibrate the score, explain it, alert only when sure, and audit fairness. Be honest about feasibility. PR-AUC measures how well a model ranks the rare positives above the rest. Dropping CONDA, the real Dota 2 chat corpus, took chat PR-AUC from 0.825 to 0.511. Our own external check is a moderate link, rho 0.317, on adult self-report, so every new domain must earn its own validation. One open-data check is already done: in StudentLife, college students' late-night share of phone activity has a median of 0.32 and a 90th percentile of 0.36, so our heavy-use prior of 0.60 sits well above normal night use. On-device, the default ChildApp used 14 percent CPU and 288 MB, while dual Hindi and English speech-to-text took 51 to 72 percent CPU and peaked at 419 MB, failed our gate, and stays off by default.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Kanak] All modules were built, validated and released by September (v2.4.0). Pending: the genre-multiplier removal (the one change of approach, on the methodology slide), polishing and submitting the IEEE paper, and the department milestones. FINAL REPORT and FINAL EVALUATION dates: fill in when the department announces them.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Vidisha] Close on four points. First, this is a working, deployed system: 181 backend tests, 110 Android tests and 7 paper-versus-data guards run in CI. Second, the core idea is that the pattern of play carries signal that raw hours miss. The gap is a difference between two correlations, and its 95 percent interval stays above zero. Third, be exact about scope. Only the behaviour score was tested, on adults, against their own questionnaire answers. With screen time held fixed the link remains, partial 0.303 [0.110, 0.476]. But the lead over screen time alone has an interval that touches zero, so call it suggestive. Fourth, say the failures out loud. Genre gave p 0.598 at 32 percent power, so it is underpowered rather than disproven. We are removing it from the served score anyway, because it was never part of what we validated; a study of about 400 people could bring it back only if it shows an effect. Only the craving label held up. Bilingual Hindi and English speech-to-text used 51 to 72 percent CPU and 419 MB, so it failed our gate. The next work needs data, not new models.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Kanak] IEEE format. Sources the system and its evaluation are built on; the full lists are in the report and the IEEE paper.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Kanak] IEEE format. Sources named on the applicability slides, each verified against the publisher or official page.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es_logo.png"/>
          <p:cNvPicPr>
            <a:picLocks noChangeAspect="1"/>
          </p:cNvPicPr>
          <p:nvPr/>
        </p:nvPicPr>
        <p:blipFill>
          <a:blip r:embed="rId2"/>
          <a:stretch>
            <a:fillRect/>
          </a:stretch>
        </p:blipFill>
        <p:spPr>
          <a:xfrm>
            <a:off x="11201400" y="109728"/>
            <a:ext cx="642682" cy="868680"/>
          </a:xfrm>
          <a:prstGeom prst="rect">
            <a:avLst/>
          </a:prstGeom>
        </p:spPr>
      </p:pic>
      <p:sp>
        <p:nvSpPr>
          <p:cNvPr id="3" name="TextBox 2"/>
          <p:cNvSpPr txBox="1"/>
          <p:nvPr/>
        </p:nvSpPr>
        <p:spPr>
          <a:xfrm>
            <a:off x="0" y="1005840"/>
            <a:ext cx="12191695" cy="640080"/>
          </a:xfrm>
          <a:prstGeom prst="rect">
            <a:avLst/>
          </a:prstGeom>
          <a:noFill/>
        </p:spPr>
        <p:txBody>
          <a:bodyPr wrap="square" lIns="0" rIns="0">
            <a:spAutoFit/>
          </a:bodyPr>
          <a:lstStyle/>
          <a:p>
            <a:pPr algn="ctr"/>
            <a:r>
              <a:rPr sz="3000" b="0" i="0">
                <a:solidFill>
                  <a:srgbClr val="1A1A1A"/>
                </a:solidFill>
                <a:latin typeface="Trebuchet MS"/>
              </a:rPr>
              <a:t>UE23CS441A – Capstone Project Phase – 3</a:t>
            </a:r>
          </a:p>
        </p:txBody>
      </p:sp>
      <p:sp>
        <p:nvSpPr>
          <p:cNvPr id="4" name="TextBox 3"/>
          <p:cNvSpPr txBox="1"/>
          <p:nvPr/>
        </p:nvSpPr>
        <p:spPr>
          <a:xfrm>
            <a:off x="0" y="1783080"/>
            <a:ext cx="12191695" cy="548640"/>
          </a:xfrm>
          <a:prstGeom prst="rect">
            <a:avLst/>
          </a:prstGeom>
          <a:noFill/>
        </p:spPr>
        <p:txBody>
          <a:bodyPr wrap="square" lIns="0" rIns="0">
            <a:spAutoFit/>
          </a:bodyPr>
          <a:lstStyle/>
          <a:p>
            <a:pPr algn="ctr"/>
            <a:r>
              <a:rPr sz="2600" b="0" i="0">
                <a:solidFill>
                  <a:srgbClr val="E07B1A"/>
                </a:solidFill>
                <a:latin typeface="Trebuchet MS"/>
              </a:rPr>
              <a:t>Project Progress Review # 2</a:t>
            </a:r>
          </a:p>
        </p:txBody>
      </p:sp>
      <p:sp>
        <p:nvSpPr>
          <p:cNvPr id="5" name="TextBox 4"/>
          <p:cNvSpPr txBox="1"/>
          <p:nvPr/>
        </p:nvSpPr>
        <p:spPr>
          <a:xfrm>
            <a:off x="1920240" y="4206240"/>
            <a:ext cx="2743200" cy="2011680"/>
          </a:xfrm>
          <a:prstGeom prst="rect">
            <a:avLst/>
          </a:prstGeom>
          <a:noFill/>
        </p:spPr>
        <p:txBody>
          <a:bodyPr wrap="square" lIns="0" rIns="0">
            <a:spAutoFit/>
          </a:bodyPr>
          <a:lstStyle/>
          <a:p>
            <a:pPr algn="l"/>
            <a:r>
              <a:rPr sz="2200" b="0" i="0">
                <a:solidFill>
                  <a:srgbClr val="E07B1A"/>
                </a:solidFill>
                <a:latin typeface="Trebuchet MS"/>
              </a:rPr>
              <a:t>Project Title   :</a:t>
            </a:r>
          </a:p>
          <a:p>
            <a:pPr algn="l"/>
            <a:r>
              <a:rPr sz="2200" b="0" i="0">
                <a:solidFill>
                  <a:srgbClr val="E07B1A"/>
                </a:solidFill>
                <a:latin typeface="Trebuchet MS"/>
              </a:rPr>
              <a:t>Project ID        :</a:t>
            </a:r>
          </a:p>
          <a:p>
            <a:pPr algn="l"/>
            <a:r>
              <a:rPr sz="2200" b="0" i="0">
                <a:solidFill>
                  <a:srgbClr val="E07B1A"/>
                </a:solidFill>
                <a:latin typeface="Trebuchet MS"/>
              </a:rPr>
              <a:t>Project Guide  :</a:t>
            </a:r>
          </a:p>
          <a:p>
            <a:pPr algn="l"/>
            <a:r>
              <a:rPr sz="2200" b="0" i="0">
                <a:solidFill>
                  <a:srgbClr val="E07B1A"/>
                </a:solidFill>
                <a:latin typeface="Trebuchet MS"/>
              </a:rPr>
              <a:t>Project Team   :</a:t>
            </a:r>
          </a:p>
        </p:txBody>
      </p:sp>
      <p:sp>
        <p:nvSpPr>
          <p:cNvPr id="6" name="TextBox 5"/>
          <p:cNvSpPr txBox="1"/>
          <p:nvPr/>
        </p:nvSpPr>
        <p:spPr>
          <a:xfrm>
            <a:off x="4572000" y="4261104"/>
            <a:ext cx="7315200" cy="365760"/>
          </a:xfrm>
          <a:prstGeom prst="rect">
            <a:avLst/>
          </a:prstGeom>
          <a:noFill/>
        </p:spPr>
        <p:txBody>
          <a:bodyPr wrap="square" lIns="0" rIns="0">
            <a:spAutoFit/>
          </a:bodyPr>
          <a:lstStyle/>
          <a:p>
            <a:pPr algn="l"/>
            <a:r>
              <a:rPr sz="1800" b="0" i="0">
                <a:solidFill>
                  <a:srgbClr val="1A1A1A"/>
                </a:solidFill>
                <a:latin typeface="Trebuchet MS"/>
              </a:rPr>
              <a:t>AI-Driven Gaming Addiction Screening System</a:t>
            </a:r>
          </a:p>
        </p:txBody>
      </p:sp>
      <p:sp>
        <p:nvSpPr>
          <p:cNvPr id="7" name="TextBox 6"/>
          <p:cNvSpPr txBox="1"/>
          <p:nvPr/>
        </p:nvSpPr>
        <p:spPr>
          <a:xfrm>
            <a:off x="4572000" y="4626864"/>
            <a:ext cx="7315200" cy="365760"/>
          </a:xfrm>
          <a:prstGeom prst="rect">
            <a:avLst/>
          </a:prstGeom>
          <a:noFill/>
        </p:spPr>
        <p:txBody>
          <a:bodyPr wrap="square" lIns="0" rIns="0">
            <a:spAutoFit/>
          </a:bodyPr>
          <a:lstStyle/>
          <a:p>
            <a:pPr algn="l"/>
            <a:r>
              <a:rPr sz="1800" b="0" i="0">
                <a:solidFill>
                  <a:srgbClr val="1A1A1A"/>
                </a:solidFill>
                <a:latin typeface="Trebuchet MS"/>
              </a:rPr>
              <a:t>PW26_SAS-03</a:t>
            </a:r>
          </a:p>
        </p:txBody>
      </p:sp>
      <p:sp>
        <p:nvSpPr>
          <p:cNvPr id="8" name="TextBox 7"/>
          <p:cNvSpPr txBox="1"/>
          <p:nvPr/>
        </p:nvSpPr>
        <p:spPr>
          <a:xfrm>
            <a:off x="4572000" y="4992624"/>
            <a:ext cx="7315200" cy="365760"/>
          </a:xfrm>
          <a:prstGeom prst="rect">
            <a:avLst/>
          </a:prstGeom>
          <a:noFill/>
        </p:spPr>
        <p:txBody>
          <a:bodyPr wrap="square" lIns="0" rIns="0">
            <a:spAutoFit/>
          </a:bodyPr>
          <a:lstStyle/>
          <a:p>
            <a:pPr algn="l"/>
            <a:r>
              <a:rPr sz="1800" b="0" i="0">
                <a:solidFill>
                  <a:srgbClr val="1A1A1A"/>
                </a:solidFill>
                <a:latin typeface="Trebuchet MS"/>
              </a:rPr>
              <a:t>Prof. Shridevi Sawant</a:t>
            </a:r>
          </a:p>
        </p:txBody>
      </p:sp>
      <p:sp>
        <p:nvSpPr>
          <p:cNvPr id="9" name="TextBox 8"/>
          <p:cNvSpPr txBox="1"/>
          <p:nvPr/>
        </p:nvSpPr>
        <p:spPr>
          <a:xfrm>
            <a:off x="4572000" y="5358384"/>
            <a:ext cx="7315200" cy="685800"/>
          </a:xfrm>
          <a:prstGeom prst="rect">
            <a:avLst/>
          </a:prstGeom>
          <a:noFill/>
        </p:spPr>
        <p:txBody>
          <a:bodyPr wrap="square" lIns="0" rIns="0">
            <a:spAutoFit/>
          </a:bodyPr>
          <a:lstStyle/>
          <a:p>
            <a:pPr algn="l"/>
            <a:r>
              <a:rPr sz="1500" b="0" i="0">
                <a:solidFill>
                  <a:srgbClr val="1A1A1A"/>
                </a:solidFill>
                <a:latin typeface="Trebuchet MS"/>
              </a:rPr>
              <a:t>Kaustubh Agarwal (PES1UG23CS291) · Khushee P Kiran (PES1UG23CS303)</a:t>
            </a:r>
          </a:p>
          <a:p>
            <a:pPr algn="l"/>
            <a:r>
              <a:rPr sz="1500" b="0" i="0">
                <a:solidFill>
                  <a:srgbClr val="1A1A1A"/>
                </a:solidFill>
                <a:latin typeface="Trebuchet MS"/>
              </a:rPr>
              <a:t>Kanak Goyal (PES1UG23CS279) · Vidisha Murali (PES1UG23CS681)</a:t>
            </a:r>
          </a:p>
        </p:txBody>
      </p:sp>
      <p:sp>
        <p:nvSpPr>
          <p:cNvPr id="10" name="Rectangle 9"/>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Outline</a:t>
            </a:r>
          </a:p>
        </p:txBody>
      </p:sp>
      <p:sp>
        <p:nvSpPr>
          <p:cNvPr id="5" name="Rectangle 4"/>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sp>
        <p:nvSpPr>
          <p:cNvPr id="8" name="TextBox 7"/>
          <p:cNvSpPr txBox="1"/>
          <p:nvPr/>
        </p:nvSpPr>
        <p:spPr>
          <a:xfrm>
            <a:off x="731520" y="1371600"/>
            <a:ext cx="10789920" cy="4892040"/>
          </a:xfrm>
          <a:prstGeom prst="rect">
            <a:avLst/>
          </a:prstGeom>
          <a:noFill/>
        </p:spPr>
        <p:txBody>
          <a:bodyPr wrap="square">
            <a:spAutoFit/>
          </a:bodyPr>
          <a:lstStyle/>
          <a:p>
            <a:pPr>
              <a:spcAft>
                <a:spcPts val="900"/>
              </a:spcAft>
            </a:pPr>
            <a:r>
              <a:rPr sz="2100" b="0">
                <a:solidFill>
                  <a:srgbClr val="E07B1A"/>
                </a:solidFill>
                <a:latin typeface="Trebuchet MS"/>
              </a:rPr>
              <a:t>▪  Suggestions from Review 1</a:t>
            </a:r>
          </a:p>
          <a:p>
            <a:pPr>
              <a:spcAft>
                <a:spcPts val="900"/>
              </a:spcAft>
            </a:pPr>
            <a:r>
              <a:rPr sz="2100" b="0">
                <a:solidFill>
                  <a:srgbClr val="E07B1A"/>
                </a:solidFill>
                <a:latin typeface="Trebuchet MS"/>
              </a:rPr>
              <a:t>▪  Proposed Approach / Methodology</a:t>
            </a:r>
          </a:p>
          <a:p>
            <a:pPr>
              <a:spcAft>
                <a:spcPts val="900"/>
              </a:spcAft>
            </a:pPr>
            <a:r>
              <a:rPr sz="2100" b="0">
                <a:solidFill>
                  <a:srgbClr val="E07B1A"/>
                </a:solidFill>
                <a:latin typeface="Trebuchet MS"/>
              </a:rPr>
              <a:t>▪  Algorithm &amp; Pseudocode</a:t>
            </a:r>
          </a:p>
          <a:p>
            <a:pPr>
              <a:spcAft>
                <a:spcPts val="900"/>
              </a:spcAft>
            </a:pPr>
            <a:r>
              <a:rPr sz="2100" b="0">
                <a:solidFill>
                  <a:srgbClr val="E07B1A"/>
                </a:solidFill>
                <a:latin typeface="Trebuchet MS"/>
              </a:rPr>
              <a:t>▪  Design Approach</a:t>
            </a:r>
          </a:p>
          <a:p>
            <a:pPr>
              <a:spcAft>
                <a:spcPts val="900"/>
              </a:spcAft>
            </a:pPr>
            <a:r>
              <a:rPr sz="2100" b="0">
                <a:solidFill>
                  <a:srgbClr val="E07B1A"/>
                </a:solidFill>
                <a:latin typeface="Trebuchet MS"/>
              </a:rPr>
              <a:t>▪  Demonstration and Testing of the completed modules</a:t>
            </a:r>
          </a:p>
          <a:p>
            <a:pPr>
              <a:spcAft>
                <a:spcPts val="900"/>
              </a:spcAft>
            </a:pPr>
            <a:r>
              <a:rPr sz="2100" b="0">
                <a:solidFill>
                  <a:srgbClr val="E07B1A"/>
                </a:solidFill>
                <a:latin typeface="Trebuchet MS"/>
              </a:rPr>
              <a:t>▪  Applicability of the proposed methodology in other domains</a:t>
            </a:r>
          </a:p>
          <a:p>
            <a:pPr>
              <a:spcAft>
                <a:spcPts val="900"/>
              </a:spcAft>
            </a:pPr>
            <a:r>
              <a:rPr sz="2100" b="0">
                <a:solidFill>
                  <a:srgbClr val="E07B1A"/>
                </a:solidFill>
                <a:latin typeface="Trebuchet MS"/>
              </a:rPr>
              <a:t>▪  Timeline – update on pending tasks</a:t>
            </a:r>
          </a:p>
          <a:p>
            <a:pPr>
              <a:spcAft>
                <a:spcPts val="900"/>
              </a:spcAft>
            </a:pPr>
            <a:r>
              <a:rPr sz="2100" b="0">
                <a:solidFill>
                  <a:srgbClr val="E07B1A"/>
                </a:solidFill>
                <a:latin typeface="Trebuchet MS"/>
              </a:rPr>
              <a:t>▪  Conclusion</a:t>
            </a:r>
          </a:p>
          <a:p>
            <a:pPr>
              <a:spcAft>
                <a:spcPts val="900"/>
              </a:spcAft>
            </a:pPr>
            <a:r>
              <a:rPr sz="2100" b="0">
                <a:solidFill>
                  <a:srgbClr val="E07B1A"/>
                </a:solidFill>
                <a:latin typeface="Trebuchet MS"/>
              </a:rPr>
              <a:t>▪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Suggestions from Review 1</a:t>
            </a:r>
          </a:p>
        </p:txBody>
      </p:sp>
      <p:sp>
        <p:nvSpPr>
          <p:cNvPr id="5" name="Rectangle 4"/>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sp>
        <p:nvSpPr>
          <p:cNvPr id="8" name="TextBox 7"/>
          <p:cNvSpPr txBox="1"/>
          <p:nvPr/>
        </p:nvSpPr>
        <p:spPr>
          <a:xfrm>
            <a:off x="548640" y="1371600"/>
            <a:ext cx="11064240" cy="411480"/>
          </a:xfrm>
          <a:prstGeom prst="rect">
            <a:avLst/>
          </a:prstGeom>
          <a:noFill/>
        </p:spPr>
        <p:txBody>
          <a:bodyPr wrap="square" lIns="0" rIns="0">
            <a:spAutoFit/>
          </a:bodyPr>
          <a:lstStyle/>
          <a:p>
            <a:pPr algn="l"/>
            <a:r>
              <a:rPr sz="1500" b="0" i="0">
                <a:solidFill>
                  <a:srgbClr val="1A1A1A"/>
                </a:solidFill>
                <a:latin typeface="Trebuchet MS"/>
              </a:rPr>
              <a:t>Remarks from the Review 1 panel, how feasible each is, and the progress we can show today.</a:t>
            </a:r>
          </a:p>
        </p:txBody>
      </p:sp>
      <p:graphicFrame>
        <p:nvGraphicFramePr>
          <p:cNvPr id="9" name="Table 8"/>
          <p:cNvGraphicFramePr>
            <a:graphicFrameLocks noGrp="1"/>
          </p:cNvGraphicFramePr>
          <p:nvPr/>
        </p:nvGraphicFramePr>
        <p:xfrm>
          <a:off x="548640" y="1874519"/>
          <a:ext cx="11064240" cy="1737360"/>
        </p:xfrm>
        <a:graphic>
          <a:graphicData uri="http://schemas.openxmlformats.org/drawingml/2006/table">
            <a:tbl>
              <a:tblPr firstRow="1" bandRow="1">
                <a:tableStyleId>{5C22544A-7EE6-4342-B048-85BDC9FD1C3A}</a:tableStyleId>
              </a:tblPr>
              <a:tblGrid>
                <a:gridCol w="457200"/>
                <a:gridCol w="4572000"/>
                <a:gridCol w="2377440"/>
                <a:gridCol w="3657600"/>
              </a:tblGrid>
              <a:tr h="347472">
                <a:tc>
                  <a:txBody>
                    <a:bodyPr wrap="square"/>
                    <a:lstStyle/>
                    <a:p>
                      <a:r>
                        <a:rPr sz="1400" b="0">
                          <a:solidFill>
                            <a:srgbClr val="FFFFFF"/>
                          </a:solidFill>
                          <a:latin typeface="Trebuchet MS"/>
                        </a:rPr>
                        <a:t>#</a:t>
                      </a:r>
                    </a:p>
                  </a:txBody>
                  <a:tcPr marL="64008" marR="64008" marT="36576" marB="36576">
                    <a:solidFill>
                      <a:srgbClr val="E07B1A"/>
                    </a:solidFill>
                  </a:tcPr>
                </a:tc>
                <a:tc>
                  <a:txBody>
                    <a:bodyPr wrap="square"/>
                    <a:lstStyle/>
                    <a:p>
                      <a:r>
                        <a:rPr sz="1400" b="0">
                          <a:solidFill>
                            <a:srgbClr val="FFFFFF"/>
                          </a:solidFill>
                          <a:latin typeface="Trebuchet MS"/>
                        </a:rPr>
                        <a:t>Suggestion / remark from the panel</a:t>
                      </a:r>
                    </a:p>
                  </a:txBody>
                  <a:tcPr marL="64008" marR="64008" marT="36576" marB="36576">
                    <a:solidFill>
                      <a:srgbClr val="E07B1A"/>
                    </a:solidFill>
                  </a:tcPr>
                </a:tc>
                <a:tc>
                  <a:txBody>
                    <a:bodyPr wrap="square"/>
                    <a:lstStyle/>
                    <a:p>
                      <a:r>
                        <a:rPr sz="1400" b="0">
                          <a:solidFill>
                            <a:srgbClr val="FFFFFF"/>
                          </a:solidFill>
                          <a:latin typeface="Trebuchet MS"/>
                        </a:rPr>
                        <a:t>Feasibility</a:t>
                      </a:r>
                    </a:p>
                  </a:txBody>
                  <a:tcPr marL="64008" marR="64008" marT="36576" marB="36576">
                    <a:solidFill>
                      <a:srgbClr val="E07B1A"/>
                    </a:solidFill>
                  </a:tcPr>
                </a:tc>
                <a:tc>
                  <a:txBody>
                    <a:bodyPr wrap="square"/>
                    <a:lstStyle/>
                    <a:p>
                      <a:r>
                        <a:rPr sz="1400" b="0">
                          <a:solidFill>
                            <a:srgbClr val="FFFFFF"/>
                          </a:solidFill>
                          <a:latin typeface="Trebuchet MS"/>
                        </a:rPr>
                        <a:t>Progress since Review 1 (where shown in this deck)</a:t>
                      </a:r>
                    </a:p>
                  </a:txBody>
                  <a:tcPr marL="64008" marR="64008" marT="36576" marB="36576">
                    <a:solidFill>
                      <a:srgbClr val="E07B1A"/>
                    </a:solidFill>
                  </a:tcPr>
                </a:tc>
              </a:tr>
              <a:tr h="347472">
                <a:tc>
                  <a:txBody>
                    <a:bodyPr wrap="square"/>
                    <a:lstStyle/>
                    <a:p>
                      <a:r>
                        <a:rPr sz="1400" b="0">
                          <a:solidFill>
                            <a:srgbClr val="888888"/>
                          </a:solidFill>
                          <a:latin typeface="Trebuchet MS"/>
                        </a:rPr>
                        <a:t>1</a:t>
                      </a:r>
                    </a:p>
                  </a:txBody>
                  <a:tcPr marL="64008" marR="64008" marT="36576" marB="36576">
                    <a:solidFill>
                      <a:srgbClr val="FBF3EA"/>
                    </a:solidFill>
                  </a:tcPr>
                </a:tc>
                <a:tc>
                  <a:txBody>
                    <a:bodyPr wrap="square"/>
                    <a:lstStyle/>
                    <a:p>
                      <a:r>
                        <a:rPr sz="1400" b="0">
                          <a:solidFill>
                            <a:srgbClr val="888888"/>
                          </a:solidFill>
                          <a:latin typeface="Trebuchet MS"/>
                        </a:rPr>
                        <a:t>[panel remark]</a:t>
                      </a:r>
                    </a:p>
                  </a:txBody>
                  <a:tcPr marL="64008" marR="64008" marT="36576" marB="36576">
                    <a:solidFill>
                      <a:srgbClr val="FBF3EA"/>
                    </a:solidFill>
                  </a:tcPr>
                </a:tc>
                <a:tc>
                  <a:txBody>
                    <a:bodyPr wrap="square"/>
                    <a:lstStyle/>
                    <a:p>
                      <a:r>
                        <a:rPr sz="1400" b="0">
                          <a:solidFill>
                            <a:srgbClr val="888888"/>
                          </a:solidFill>
                          <a:latin typeface="Trebuchet MS"/>
                        </a:rPr>
                        <a:t>[yes / partly / no — why]</a:t>
                      </a:r>
                    </a:p>
                  </a:txBody>
                  <a:tcPr marL="64008" marR="64008" marT="36576" marB="36576">
                    <a:solidFill>
                      <a:srgbClr val="FBF3EA"/>
                    </a:solidFill>
                  </a:tcPr>
                </a:tc>
                <a:tc>
                  <a:txBody>
                    <a:bodyPr wrap="square"/>
                    <a:lstStyle/>
                    <a:p>
                      <a:r>
                        <a:rPr sz="1400" b="0">
                          <a:solidFill>
                            <a:srgbClr val="888888"/>
                          </a:solidFill>
                          <a:latin typeface="Trebuchet MS"/>
                        </a:rPr>
                        <a:t>[what changed · slide no.]</a:t>
                      </a:r>
                    </a:p>
                  </a:txBody>
                  <a:tcPr marL="64008" marR="64008" marT="36576" marB="36576">
                    <a:solidFill>
                      <a:srgbClr val="FBF3EA"/>
                    </a:solidFill>
                  </a:tcPr>
                </a:tc>
              </a:tr>
              <a:tr h="347472">
                <a:tc>
                  <a:txBody>
                    <a:bodyPr wrap="square"/>
                    <a:lstStyle/>
                    <a:p>
                      <a:r>
                        <a:rPr sz="1400" b="0">
                          <a:solidFill>
                            <a:srgbClr val="888888"/>
                          </a:solidFill>
                          <a:latin typeface="Trebuchet MS"/>
                        </a:rPr>
                        <a:t>2</a:t>
                      </a:r>
                    </a:p>
                  </a:txBody>
                  <a:tcPr marL="64008" marR="64008" marT="36576" marB="36576">
                    <a:solidFill>
                      <a:srgbClr val="FFFFFF"/>
                    </a:solidFill>
                  </a:tcPr>
                </a:tc>
                <a:tc>
                  <a:txBody>
                    <a:bodyPr wrap="square"/>
                    <a:lstStyle/>
                    <a:p>
                      <a:r>
                        <a:rPr sz="1400" b="0">
                          <a:solidFill>
                            <a:srgbClr val="888888"/>
                          </a:solidFill>
                          <a:latin typeface="Trebuchet MS"/>
                        </a:rPr>
                        <a:t>[panel remark]</a:t>
                      </a:r>
                    </a:p>
                  </a:txBody>
                  <a:tcPr marL="64008" marR="64008" marT="36576" marB="36576">
                    <a:solidFill>
                      <a:srgbClr val="FFFFFF"/>
                    </a:solidFill>
                  </a:tcPr>
                </a:tc>
                <a:tc>
                  <a:txBody>
                    <a:bodyPr wrap="square"/>
                    <a:lstStyle/>
                    <a:p>
                      <a:r>
                        <a:rPr sz="1400" b="0">
                          <a:solidFill>
                            <a:srgbClr val="888888"/>
                          </a:solidFill>
                          <a:latin typeface="Trebuchet MS"/>
                        </a:rPr>
                        <a:t>[yes / partly / no — why]</a:t>
                      </a:r>
                    </a:p>
                  </a:txBody>
                  <a:tcPr marL="64008" marR="64008" marT="36576" marB="36576">
                    <a:solidFill>
                      <a:srgbClr val="FFFFFF"/>
                    </a:solidFill>
                  </a:tcPr>
                </a:tc>
                <a:tc>
                  <a:txBody>
                    <a:bodyPr wrap="square"/>
                    <a:lstStyle/>
                    <a:p>
                      <a:r>
                        <a:rPr sz="1400" b="0">
                          <a:solidFill>
                            <a:srgbClr val="888888"/>
                          </a:solidFill>
                          <a:latin typeface="Trebuchet MS"/>
                        </a:rPr>
                        <a:t>[what changed · slide no.]</a:t>
                      </a:r>
                    </a:p>
                  </a:txBody>
                  <a:tcPr marL="64008" marR="64008" marT="36576" marB="36576">
                    <a:solidFill>
                      <a:srgbClr val="FFFFFF"/>
                    </a:solidFill>
                  </a:tcPr>
                </a:tc>
              </a:tr>
              <a:tr h="347472">
                <a:tc>
                  <a:txBody>
                    <a:bodyPr wrap="square"/>
                    <a:lstStyle/>
                    <a:p>
                      <a:r>
                        <a:rPr sz="1400" b="0">
                          <a:solidFill>
                            <a:srgbClr val="888888"/>
                          </a:solidFill>
                          <a:latin typeface="Trebuchet MS"/>
                        </a:rPr>
                        <a:t>3</a:t>
                      </a:r>
                    </a:p>
                  </a:txBody>
                  <a:tcPr marL="64008" marR="64008" marT="36576" marB="36576">
                    <a:solidFill>
                      <a:srgbClr val="FBF3EA"/>
                    </a:solidFill>
                  </a:tcPr>
                </a:tc>
                <a:tc>
                  <a:txBody>
                    <a:bodyPr wrap="square"/>
                    <a:lstStyle/>
                    <a:p>
                      <a:r>
                        <a:rPr sz="1400" b="0">
                          <a:solidFill>
                            <a:srgbClr val="888888"/>
                          </a:solidFill>
                          <a:latin typeface="Trebuchet MS"/>
                        </a:rPr>
                        <a:t>[panel remark]</a:t>
                      </a:r>
                    </a:p>
                  </a:txBody>
                  <a:tcPr marL="64008" marR="64008" marT="36576" marB="36576">
                    <a:solidFill>
                      <a:srgbClr val="FBF3EA"/>
                    </a:solidFill>
                  </a:tcPr>
                </a:tc>
                <a:tc>
                  <a:txBody>
                    <a:bodyPr wrap="square"/>
                    <a:lstStyle/>
                    <a:p>
                      <a:r>
                        <a:rPr sz="1400" b="0">
                          <a:solidFill>
                            <a:srgbClr val="888888"/>
                          </a:solidFill>
                          <a:latin typeface="Trebuchet MS"/>
                        </a:rPr>
                        <a:t>[yes / partly / no — why]</a:t>
                      </a:r>
                    </a:p>
                  </a:txBody>
                  <a:tcPr marL="64008" marR="64008" marT="36576" marB="36576">
                    <a:solidFill>
                      <a:srgbClr val="FBF3EA"/>
                    </a:solidFill>
                  </a:tcPr>
                </a:tc>
                <a:tc>
                  <a:txBody>
                    <a:bodyPr wrap="square"/>
                    <a:lstStyle/>
                    <a:p>
                      <a:r>
                        <a:rPr sz="1400" b="0">
                          <a:solidFill>
                            <a:srgbClr val="888888"/>
                          </a:solidFill>
                          <a:latin typeface="Trebuchet MS"/>
                        </a:rPr>
                        <a:t>[what changed · slide no.]</a:t>
                      </a:r>
                    </a:p>
                  </a:txBody>
                  <a:tcPr marL="64008" marR="64008" marT="36576" marB="36576">
                    <a:solidFill>
                      <a:srgbClr val="FBF3EA"/>
                    </a:solidFill>
                  </a:tcPr>
                </a:tc>
              </a:tr>
              <a:tr h="347472">
                <a:tc>
                  <a:txBody>
                    <a:bodyPr wrap="square"/>
                    <a:lstStyle/>
                    <a:p>
                      <a:r>
                        <a:rPr sz="1400" b="0">
                          <a:solidFill>
                            <a:srgbClr val="888888"/>
                          </a:solidFill>
                          <a:latin typeface="Trebuchet MS"/>
                        </a:rPr>
                        <a:t>4</a:t>
                      </a:r>
                    </a:p>
                  </a:txBody>
                  <a:tcPr marL="64008" marR="64008" marT="36576" marB="36576">
                    <a:solidFill>
                      <a:srgbClr val="FFFFFF"/>
                    </a:solidFill>
                  </a:tcPr>
                </a:tc>
                <a:tc>
                  <a:txBody>
                    <a:bodyPr wrap="square"/>
                    <a:lstStyle/>
                    <a:p>
                      <a:r>
                        <a:rPr sz="1400" b="0">
                          <a:solidFill>
                            <a:srgbClr val="888888"/>
                          </a:solidFill>
                          <a:latin typeface="Trebuchet MS"/>
                        </a:rPr>
                        <a:t>[panel remark]</a:t>
                      </a:r>
                    </a:p>
                  </a:txBody>
                  <a:tcPr marL="64008" marR="64008" marT="36576" marB="36576">
                    <a:solidFill>
                      <a:srgbClr val="FFFFFF"/>
                    </a:solidFill>
                  </a:tcPr>
                </a:tc>
                <a:tc>
                  <a:txBody>
                    <a:bodyPr wrap="square"/>
                    <a:lstStyle/>
                    <a:p>
                      <a:r>
                        <a:rPr sz="1400" b="0">
                          <a:solidFill>
                            <a:srgbClr val="888888"/>
                          </a:solidFill>
                          <a:latin typeface="Trebuchet MS"/>
                        </a:rPr>
                        <a:t>[yes / partly / no — why]</a:t>
                      </a:r>
                    </a:p>
                  </a:txBody>
                  <a:tcPr marL="64008" marR="64008" marT="36576" marB="36576">
                    <a:solidFill>
                      <a:srgbClr val="FFFFFF"/>
                    </a:solidFill>
                  </a:tcPr>
                </a:tc>
                <a:tc>
                  <a:txBody>
                    <a:bodyPr wrap="square"/>
                    <a:lstStyle/>
                    <a:p>
                      <a:r>
                        <a:rPr sz="1400" b="0">
                          <a:solidFill>
                            <a:srgbClr val="888888"/>
                          </a:solidFill>
                          <a:latin typeface="Trebuchet MS"/>
                        </a:rPr>
                        <a:t>[what changed · slide no.]</a:t>
                      </a:r>
                    </a:p>
                  </a:txBody>
                  <a:tcPr marL="64008" marR="64008" marT="36576" marB="36576">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Proposed Approach / Methodology</a:t>
            </a:r>
          </a:p>
        </p:txBody>
      </p:sp>
      <p:sp>
        <p:nvSpPr>
          <p:cNvPr id="5" name="TextBox 4"/>
          <p:cNvSpPr txBox="1"/>
          <p:nvPr/>
        </p:nvSpPr>
        <p:spPr>
          <a:xfrm>
            <a:off x="502920" y="1115568"/>
            <a:ext cx="10515600" cy="365760"/>
          </a:xfrm>
          <a:prstGeom prst="rect">
            <a:avLst/>
          </a:prstGeom>
          <a:noFill/>
        </p:spPr>
        <p:txBody>
          <a:bodyPr wrap="square" lIns="0" rIns="0">
            <a:spAutoFit/>
          </a:bodyPr>
          <a:lstStyle/>
          <a:p>
            <a:pPr algn="r"/>
            <a:r>
              <a:rPr sz="1500" b="1" i="0">
                <a:solidFill>
                  <a:srgbClr val="E07B1A"/>
                </a:solidFill>
                <a:latin typeface="Trebuchet MS"/>
              </a:rPr>
              <a:t>Basic approach and results obtained</a:t>
            </a:r>
          </a:p>
        </p:txBody>
      </p:sp>
      <p:sp>
        <p:nvSpPr>
          <p:cNvPr id="6" name="Rectangle 5"/>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sp>
        <p:nvSpPr>
          <p:cNvPr id="9" name="Rounded Rectangle 8"/>
          <p:cNvSpPr/>
          <p:nvPr/>
        </p:nvSpPr>
        <p:spPr>
          <a:xfrm>
            <a:off x="548640" y="1673352"/>
            <a:ext cx="2008022" cy="3611880"/>
          </a:xfrm>
          <a:prstGeom prst="roundRect">
            <a:avLst>
              <a:gd name="adj" fmla="val 6000"/>
            </a:avLst>
          </a:prstGeom>
          <a:solidFill>
            <a:srgbClr val="FBF3EA"/>
          </a:solidFill>
          <a:ln w="22225">
            <a:solidFill>
              <a:srgbClr val="E07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783080"/>
            <a:ext cx="1788566" cy="320040"/>
          </a:xfrm>
          <a:prstGeom prst="rect">
            <a:avLst/>
          </a:prstGeom>
          <a:noFill/>
        </p:spPr>
        <p:txBody>
          <a:bodyPr wrap="square" lIns="0" rIns="0">
            <a:spAutoFit/>
          </a:bodyPr>
          <a:lstStyle/>
          <a:p>
            <a:pPr algn="l"/>
            <a:r>
              <a:rPr sz="2000" b="1" i="0">
                <a:solidFill>
                  <a:srgbClr val="E07B1A"/>
                </a:solidFill>
                <a:latin typeface="Trebuchet MS"/>
              </a:rPr>
              <a:t>1</a:t>
            </a:r>
          </a:p>
        </p:txBody>
      </p:sp>
      <p:sp>
        <p:nvSpPr>
          <p:cNvPr id="11" name="TextBox 10"/>
          <p:cNvSpPr txBox="1"/>
          <p:nvPr/>
        </p:nvSpPr>
        <p:spPr>
          <a:xfrm>
            <a:off x="658368" y="2176272"/>
            <a:ext cx="1788566" cy="640080"/>
          </a:xfrm>
          <a:prstGeom prst="rect">
            <a:avLst/>
          </a:prstGeom>
          <a:noFill/>
        </p:spPr>
        <p:txBody>
          <a:bodyPr wrap="square" lIns="0" rIns="0">
            <a:spAutoFit/>
          </a:bodyPr>
          <a:lstStyle/>
          <a:p>
            <a:pPr algn="l"/>
            <a:r>
              <a:rPr sz="1400" b="1" i="0">
                <a:solidFill>
                  <a:srgbClr val="5A2E0E"/>
                </a:solidFill>
                <a:latin typeface="Trebuchet MS"/>
              </a:rPr>
              <a:t>Capture passively</a:t>
            </a:r>
          </a:p>
        </p:txBody>
      </p:sp>
      <p:sp>
        <p:nvSpPr>
          <p:cNvPr id="12" name="TextBox 11"/>
          <p:cNvSpPr txBox="1"/>
          <p:nvPr/>
        </p:nvSpPr>
        <p:spPr>
          <a:xfrm>
            <a:off x="658368" y="2816352"/>
            <a:ext cx="1788566" cy="1463040"/>
          </a:xfrm>
          <a:prstGeom prst="rect">
            <a:avLst/>
          </a:prstGeom>
          <a:noFill/>
        </p:spPr>
        <p:txBody>
          <a:bodyPr wrap="square" lIns="0" rIns="0">
            <a:spAutoFit/>
          </a:bodyPr>
          <a:lstStyle/>
          <a:p>
            <a:pPr algn="l"/>
            <a:r>
              <a:rPr sz="1150" b="0" i="0">
                <a:solidFill>
                  <a:srgbClr val="1A1A1A"/>
                </a:solidFill>
                <a:latin typeface="Trebuchet MS"/>
              </a:rPr>
              <a:t>The ChildApp records game sessions, typed chat and 10-second voice segments in the background. Raw audio is deleted once features are extracted.</a:t>
            </a:r>
          </a:p>
        </p:txBody>
      </p:sp>
      <p:sp>
        <p:nvSpPr>
          <p:cNvPr id="13" name="Rectangle 12"/>
          <p:cNvSpPr/>
          <p:nvPr/>
        </p:nvSpPr>
        <p:spPr>
          <a:xfrm>
            <a:off x="621792" y="4261104"/>
            <a:ext cx="1861718" cy="932688"/>
          </a:xfrm>
          <a:prstGeom prst="rect">
            <a:avLst/>
          </a:prstGeom>
          <a:solidFill>
            <a:srgbClr val="FFFFFF"/>
          </a:solidFill>
          <a:ln w="9525">
            <a:solidFill>
              <a:srgbClr val="EEC9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306824"/>
            <a:ext cx="1733702" cy="868680"/>
          </a:xfrm>
          <a:prstGeom prst="rect">
            <a:avLst/>
          </a:prstGeom>
          <a:noFill/>
        </p:spPr>
        <p:txBody>
          <a:bodyPr wrap="square" lIns="0" rIns="0">
            <a:spAutoFit/>
          </a:bodyPr>
          <a:lstStyle/>
          <a:p>
            <a:pPr algn="l"/>
            <a:r>
              <a:rPr sz="1050" b="1" i="0">
                <a:solidFill>
                  <a:srgbClr val="B95427"/>
                </a:solidFill>
                <a:latin typeface="Trebuchet MS"/>
              </a:rPr>
              <a:t>Result: About 14% of one CPU core, 288 MB. Ran in a 23-day consented family pilot.</a:t>
            </a:r>
          </a:p>
        </p:txBody>
      </p:sp>
      <p:sp>
        <p:nvSpPr>
          <p:cNvPr id="15" name="Right Arrow 14"/>
          <p:cNvSpPr/>
          <p:nvPr/>
        </p:nvSpPr>
        <p:spPr>
          <a:xfrm>
            <a:off x="2584094" y="3351276"/>
            <a:ext cx="201168" cy="256032"/>
          </a:xfrm>
          <a:prstGeom prst="rightArrow">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812694" y="1673352"/>
            <a:ext cx="2008022" cy="3611880"/>
          </a:xfrm>
          <a:prstGeom prst="roundRect">
            <a:avLst>
              <a:gd name="adj" fmla="val 6000"/>
            </a:avLst>
          </a:prstGeom>
          <a:solidFill>
            <a:srgbClr val="FBF3EA"/>
          </a:solidFill>
          <a:ln w="22225">
            <a:solidFill>
              <a:srgbClr val="E07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2422" y="1783080"/>
            <a:ext cx="1788566" cy="320040"/>
          </a:xfrm>
          <a:prstGeom prst="rect">
            <a:avLst/>
          </a:prstGeom>
          <a:noFill/>
        </p:spPr>
        <p:txBody>
          <a:bodyPr wrap="square" lIns="0" rIns="0">
            <a:spAutoFit/>
          </a:bodyPr>
          <a:lstStyle/>
          <a:p>
            <a:pPr algn="l"/>
            <a:r>
              <a:rPr sz="2000" b="1" i="0">
                <a:solidFill>
                  <a:srgbClr val="E07B1A"/>
                </a:solidFill>
                <a:latin typeface="Trebuchet MS"/>
              </a:rPr>
              <a:t>2</a:t>
            </a:r>
          </a:p>
        </p:txBody>
      </p:sp>
      <p:sp>
        <p:nvSpPr>
          <p:cNvPr id="18" name="TextBox 17"/>
          <p:cNvSpPr txBox="1"/>
          <p:nvPr/>
        </p:nvSpPr>
        <p:spPr>
          <a:xfrm>
            <a:off x="2922422" y="2176272"/>
            <a:ext cx="1788566" cy="640080"/>
          </a:xfrm>
          <a:prstGeom prst="rect">
            <a:avLst/>
          </a:prstGeom>
          <a:noFill/>
        </p:spPr>
        <p:txBody>
          <a:bodyPr wrap="square" lIns="0" rIns="0">
            <a:spAutoFit/>
          </a:bodyPr>
          <a:lstStyle/>
          <a:p>
            <a:pPr algn="l"/>
            <a:r>
              <a:rPr sz="1400" b="1" i="0">
                <a:solidFill>
                  <a:srgbClr val="5A2E0E"/>
                </a:solidFill>
                <a:latin typeface="Trebuchet MS"/>
              </a:rPr>
              <a:t>Measure play patterns</a:t>
            </a:r>
          </a:p>
        </p:txBody>
      </p:sp>
      <p:sp>
        <p:nvSpPr>
          <p:cNvPr id="19" name="TextBox 18"/>
          <p:cNvSpPr txBox="1"/>
          <p:nvPr/>
        </p:nvSpPr>
        <p:spPr>
          <a:xfrm>
            <a:off x="2922422" y="2816352"/>
            <a:ext cx="1788566" cy="1463040"/>
          </a:xfrm>
          <a:prstGeom prst="rect">
            <a:avLst/>
          </a:prstGeom>
          <a:noFill/>
        </p:spPr>
        <p:txBody>
          <a:bodyPr wrap="square" lIns="0" rIns="0">
            <a:spAutoFit/>
          </a:bodyPr>
          <a:lstStyle/>
          <a:p>
            <a:pPr algn="l"/>
            <a:r>
              <a:rPr sz="1150" b="0" i="0">
                <a:solidFill>
                  <a:srgbClr val="1A1A1A"/>
                </a:solidFill>
                <a:latin typeface="Trebuchet MS"/>
              </a:rPr>
              <a:t>Ten measured features: five on volume, like daily hours, and five on pattern, like late-night share, binges, short breaks and rapid re-logins.</a:t>
            </a:r>
          </a:p>
        </p:txBody>
      </p:sp>
      <p:sp>
        <p:nvSpPr>
          <p:cNvPr id="20" name="Rectangle 19"/>
          <p:cNvSpPr/>
          <p:nvPr/>
        </p:nvSpPr>
        <p:spPr>
          <a:xfrm>
            <a:off x="2885846" y="4261104"/>
            <a:ext cx="1861718" cy="932688"/>
          </a:xfrm>
          <a:prstGeom prst="rect">
            <a:avLst/>
          </a:prstGeom>
          <a:solidFill>
            <a:srgbClr val="FFFFFF"/>
          </a:solidFill>
          <a:ln w="9525">
            <a:solidFill>
              <a:srgbClr val="EEC9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49854" y="4306824"/>
            <a:ext cx="1733702" cy="868680"/>
          </a:xfrm>
          <a:prstGeom prst="rect">
            <a:avLst/>
          </a:prstGeom>
          <a:noFill/>
        </p:spPr>
        <p:txBody>
          <a:bodyPr wrap="square" lIns="0" rIns="0">
            <a:spAutoFit/>
          </a:bodyPr>
          <a:lstStyle/>
          <a:p>
            <a:pPr algn="l"/>
            <a:r>
              <a:rPr sz="1050" b="1" i="0">
                <a:solidFill>
                  <a:srgbClr val="B95427"/>
                </a:solidFill>
                <a:latin typeface="Trebuchet MS"/>
              </a:rPr>
              <a:t>Result: Pattern features track the survey better: 0.330 against 0.128 for volume.</a:t>
            </a:r>
          </a:p>
        </p:txBody>
      </p:sp>
      <p:sp>
        <p:nvSpPr>
          <p:cNvPr id="22" name="Right Arrow 21"/>
          <p:cNvSpPr/>
          <p:nvPr/>
        </p:nvSpPr>
        <p:spPr>
          <a:xfrm>
            <a:off x="4848148" y="3351276"/>
            <a:ext cx="201168" cy="256032"/>
          </a:xfrm>
          <a:prstGeom prst="rightArrow">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6748" y="1673352"/>
            <a:ext cx="2008022" cy="3611880"/>
          </a:xfrm>
          <a:prstGeom prst="roundRect">
            <a:avLst>
              <a:gd name="adj" fmla="val 6000"/>
            </a:avLst>
          </a:prstGeom>
          <a:solidFill>
            <a:srgbClr val="FBF3EA"/>
          </a:solidFill>
          <a:ln w="22225">
            <a:solidFill>
              <a:srgbClr val="E07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86476" y="1783080"/>
            <a:ext cx="1788566" cy="320040"/>
          </a:xfrm>
          <a:prstGeom prst="rect">
            <a:avLst/>
          </a:prstGeom>
          <a:noFill/>
        </p:spPr>
        <p:txBody>
          <a:bodyPr wrap="square" lIns="0" rIns="0">
            <a:spAutoFit/>
          </a:bodyPr>
          <a:lstStyle/>
          <a:p>
            <a:pPr algn="l"/>
            <a:r>
              <a:rPr sz="2000" b="1" i="0">
                <a:solidFill>
                  <a:srgbClr val="E07B1A"/>
                </a:solidFill>
                <a:latin typeface="Trebuchet MS"/>
              </a:rPr>
              <a:t>3</a:t>
            </a:r>
          </a:p>
        </p:txBody>
      </p:sp>
      <p:sp>
        <p:nvSpPr>
          <p:cNvPr id="25" name="TextBox 24"/>
          <p:cNvSpPr txBox="1"/>
          <p:nvPr/>
        </p:nvSpPr>
        <p:spPr>
          <a:xfrm>
            <a:off x="5186476" y="2176272"/>
            <a:ext cx="1788566" cy="640080"/>
          </a:xfrm>
          <a:prstGeom prst="rect">
            <a:avLst/>
          </a:prstGeom>
          <a:noFill/>
        </p:spPr>
        <p:txBody>
          <a:bodyPr wrap="square" lIns="0" rIns="0">
            <a:spAutoFit/>
          </a:bodyPr>
          <a:lstStyle/>
          <a:p>
            <a:pPr algn="l"/>
            <a:r>
              <a:rPr sz="1400" b="1" i="0">
                <a:solidFill>
                  <a:srgbClr val="5A2E0E"/>
                </a:solidFill>
                <a:latin typeface="Trebuchet MS"/>
              </a:rPr>
              <a:t>Score each channel</a:t>
            </a:r>
          </a:p>
        </p:txBody>
      </p:sp>
      <p:sp>
        <p:nvSpPr>
          <p:cNvPr id="26" name="TextBox 25"/>
          <p:cNvSpPr txBox="1"/>
          <p:nvPr/>
        </p:nvSpPr>
        <p:spPr>
          <a:xfrm>
            <a:off x="5186476" y="2816352"/>
            <a:ext cx="1788566" cy="1463040"/>
          </a:xfrm>
          <a:prstGeom prst="rect">
            <a:avLst/>
          </a:prstGeom>
          <a:noFill/>
        </p:spPr>
        <p:txBody>
          <a:bodyPr wrap="square" lIns="0" rIns="0">
            <a:spAutoFit/>
          </a:bodyPr>
          <a:lstStyle/>
          <a:p>
            <a:pPr algn="l"/>
            <a:r>
              <a:rPr sz="1150" b="0" i="0">
                <a:solidFill>
                  <a:srgbClr val="1A1A1A"/>
                </a:solidFill>
                <a:latin typeface="Trebuchet MS"/>
              </a:rPr>
              <a:t>Behaviour: Random Forest. Chat: TF-IDF model plus keyword list. Voice: acoustic emotion model. Each is calibrated: a 0.7 means about 70% likely.</a:t>
            </a:r>
          </a:p>
        </p:txBody>
      </p:sp>
      <p:sp>
        <p:nvSpPr>
          <p:cNvPr id="27" name="Rectangle 26"/>
          <p:cNvSpPr/>
          <p:nvPr/>
        </p:nvSpPr>
        <p:spPr>
          <a:xfrm>
            <a:off x="5149900" y="4261104"/>
            <a:ext cx="1861718" cy="932688"/>
          </a:xfrm>
          <a:prstGeom prst="rect">
            <a:avLst/>
          </a:prstGeom>
          <a:solidFill>
            <a:srgbClr val="FFFFFF"/>
          </a:solidFill>
          <a:ln w="9525">
            <a:solidFill>
              <a:srgbClr val="EEC9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13908" y="4306824"/>
            <a:ext cx="1733702" cy="868680"/>
          </a:xfrm>
          <a:prstGeom prst="rect">
            <a:avLst/>
          </a:prstGeom>
          <a:noFill/>
        </p:spPr>
        <p:txBody>
          <a:bodyPr wrap="square" lIns="0" rIns="0">
            <a:spAutoFit/>
          </a:bodyPr>
          <a:lstStyle/>
          <a:p>
            <a:pPr algn="l"/>
            <a:r>
              <a:rPr sz="1050" b="1" i="0">
                <a:solidFill>
                  <a:srgbClr val="B95427"/>
                </a:solidFill>
                <a:latin typeface="Trebuchet MS"/>
              </a:rPr>
              <a:t>Result: Behaviour calibration error fell 0.062 to 0.015. Chat PR-AUC 0.825 out of 1.</a:t>
            </a:r>
          </a:p>
        </p:txBody>
      </p:sp>
      <p:sp>
        <p:nvSpPr>
          <p:cNvPr id="29" name="Right Arrow 28"/>
          <p:cNvSpPr/>
          <p:nvPr/>
        </p:nvSpPr>
        <p:spPr>
          <a:xfrm>
            <a:off x="7112203" y="3351276"/>
            <a:ext cx="201168" cy="256032"/>
          </a:xfrm>
          <a:prstGeom prst="rightArrow">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40803" y="1673352"/>
            <a:ext cx="2008022" cy="3611880"/>
          </a:xfrm>
          <a:prstGeom prst="roundRect">
            <a:avLst>
              <a:gd name="adj" fmla="val 6000"/>
            </a:avLst>
          </a:prstGeom>
          <a:solidFill>
            <a:srgbClr val="FBF3EA"/>
          </a:solidFill>
          <a:ln w="22225">
            <a:solidFill>
              <a:srgbClr val="E07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50531" y="1783080"/>
            <a:ext cx="1788566" cy="320040"/>
          </a:xfrm>
          <a:prstGeom prst="rect">
            <a:avLst/>
          </a:prstGeom>
          <a:noFill/>
        </p:spPr>
        <p:txBody>
          <a:bodyPr wrap="square" lIns="0" rIns="0">
            <a:spAutoFit/>
          </a:bodyPr>
          <a:lstStyle/>
          <a:p>
            <a:pPr algn="l"/>
            <a:r>
              <a:rPr sz="2000" b="1" i="0">
                <a:solidFill>
                  <a:srgbClr val="E07B1A"/>
                </a:solidFill>
                <a:latin typeface="Trebuchet MS"/>
              </a:rPr>
              <a:t>4</a:t>
            </a:r>
          </a:p>
        </p:txBody>
      </p:sp>
      <p:sp>
        <p:nvSpPr>
          <p:cNvPr id="32" name="TextBox 31"/>
          <p:cNvSpPr txBox="1"/>
          <p:nvPr/>
        </p:nvSpPr>
        <p:spPr>
          <a:xfrm>
            <a:off x="7450531" y="2176272"/>
            <a:ext cx="1788566" cy="640080"/>
          </a:xfrm>
          <a:prstGeom prst="rect">
            <a:avLst/>
          </a:prstGeom>
          <a:noFill/>
        </p:spPr>
        <p:txBody>
          <a:bodyPr wrap="square" lIns="0" rIns="0">
            <a:spAutoFit/>
          </a:bodyPr>
          <a:lstStyle/>
          <a:p>
            <a:pPr algn="l"/>
            <a:r>
              <a:rPr sz="1400" b="1" i="0">
                <a:solidFill>
                  <a:srgbClr val="5A2E0E"/>
                </a:solidFill>
                <a:latin typeface="Trebuchet MS"/>
              </a:rPr>
              <a:t>Fuse and alert carefully</a:t>
            </a:r>
          </a:p>
        </p:txBody>
      </p:sp>
      <p:sp>
        <p:nvSpPr>
          <p:cNvPr id="33" name="TextBox 32"/>
          <p:cNvSpPr txBox="1"/>
          <p:nvPr/>
        </p:nvSpPr>
        <p:spPr>
          <a:xfrm>
            <a:off x="7450531" y="2816352"/>
            <a:ext cx="1788566" cy="1463040"/>
          </a:xfrm>
          <a:prstGeom prst="rect">
            <a:avLst/>
          </a:prstGeom>
          <a:noFill/>
        </p:spPr>
        <p:txBody>
          <a:bodyPr wrap="square" lIns="0" rIns="0">
            <a:spAutoFit/>
          </a:bodyPr>
          <a:lstStyle/>
          <a:p>
            <a:pPr algn="l"/>
            <a:r>
              <a:rPr sz="1150" b="0" i="0">
                <a:solidFill>
                  <a:srgbClr val="1A1A1A"/>
                </a:solidFill>
                <a:latin typeface="Trebuchet MS"/>
              </a:rPr>
              <a:t>Weighted average: behaviour 40%, chat 30%, voice 30%, times a genre weight, banded Low, Some or High concern. Chat alerts need 0.95.</a:t>
            </a:r>
          </a:p>
        </p:txBody>
      </p:sp>
      <p:sp>
        <p:nvSpPr>
          <p:cNvPr id="34" name="Rectangle 33"/>
          <p:cNvSpPr/>
          <p:nvPr/>
        </p:nvSpPr>
        <p:spPr>
          <a:xfrm>
            <a:off x="7413955" y="4261104"/>
            <a:ext cx="1861718" cy="932688"/>
          </a:xfrm>
          <a:prstGeom prst="rect">
            <a:avLst/>
          </a:prstGeom>
          <a:solidFill>
            <a:srgbClr val="FFFFFF"/>
          </a:solidFill>
          <a:ln w="9525">
            <a:solidFill>
              <a:srgbClr val="EEC9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77963" y="4306824"/>
            <a:ext cx="1733702" cy="868680"/>
          </a:xfrm>
          <a:prstGeom prst="rect">
            <a:avLst/>
          </a:prstGeom>
          <a:noFill/>
        </p:spPr>
        <p:txBody>
          <a:bodyPr wrap="square" lIns="0" rIns="0">
            <a:spAutoFit/>
          </a:bodyPr>
          <a:lstStyle/>
          <a:p>
            <a:pPr algn="l"/>
            <a:r>
              <a:rPr sz="1050" b="1" i="0">
                <a:solidFill>
                  <a:srgbClr val="B95427"/>
                </a:solidFill>
                <a:latin typeface="Trebuchet MS"/>
              </a:rPr>
              <a:t>Result: Chat alerts are right 95.6% of the time and catch 42.8% of toxic messages.</a:t>
            </a:r>
          </a:p>
        </p:txBody>
      </p:sp>
      <p:sp>
        <p:nvSpPr>
          <p:cNvPr id="36" name="Right Arrow 35"/>
          <p:cNvSpPr/>
          <p:nvPr/>
        </p:nvSpPr>
        <p:spPr>
          <a:xfrm>
            <a:off x="9376257" y="3351276"/>
            <a:ext cx="201168" cy="256032"/>
          </a:xfrm>
          <a:prstGeom prst="rightArrow">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604857" y="1673352"/>
            <a:ext cx="2008022" cy="3611880"/>
          </a:xfrm>
          <a:prstGeom prst="roundRect">
            <a:avLst>
              <a:gd name="adj" fmla="val 6000"/>
            </a:avLst>
          </a:prstGeom>
          <a:solidFill>
            <a:srgbClr val="FBF3EA"/>
          </a:solidFill>
          <a:ln w="22225">
            <a:solidFill>
              <a:srgbClr val="E07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14585" y="1783080"/>
            <a:ext cx="1788566" cy="320040"/>
          </a:xfrm>
          <a:prstGeom prst="rect">
            <a:avLst/>
          </a:prstGeom>
          <a:noFill/>
        </p:spPr>
        <p:txBody>
          <a:bodyPr wrap="square" lIns="0" rIns="0">
            <a:spAutoFit/>
          </a:bodyPr>
          <a:lstStyle/>
          <a:p>
            <a:pPr algn="l"/>
            <a:r>
              <a:rPr sz="2000" b="1" i="0">
                <a:solidFill>
                  <a:srgbClr val="E07B1A"/>
                </a:solidFill>
                <a:latin typeface="Trebuchet MS"/>
              </a:rPr>
              <a:t>5</a:t>
            </a:r>
          </a:p>
        </p:txBody>
      </p:sp>
      <p:sp>
        <p:nvSpPr>
          <p:cNvPr id="39" name="TextBox 38"/>
          <p:cNvSpPr txBox="1"/>
          <p:nvPr/>
        </p:nvSpPr>
        <p:spPr>
          <a:xfrm>
            <a:off x="9714585" y="2176272"/>
            <a:ext cx="1788566" cy="640080"/>
          </a:xfrm>
          <a:prstGeom prst="rect">
            <a:avLst/>
          </a:prstGeom>
          <a:noFill/>
        </p:spPr>
        <p:txBody>
          <a:bodyPr wrap="square" lIns="0" rIns="0">
            <a:spAutoFit/>
          </a:bodyPr>
          <a:lstStyle/>
          <a:p>
            <a:pPr algn="l"/>
            <a:r>
              <a:rPr sz="1400" b="1" i="0">
                <a:solidFill>
                  <a:srgbClr val="5A2E0E"/>
                </a:solidFill>
                <a:latin typeface="Trebuchet MS"/>
              </a:rPr>
              <a:t>Validate externally</a:t>
            </a:r>
          </a:p>
        </p:txBody>
      </p:sp>
      <p:sp>
        <p:nvSpPr>
          <p:cNvPr id="40" name="TextBox 39"/>
          <p:cNvSpPr txBox="1"/>
          <p:nvPr/>
        </p:nvSpPr>
        <p:spPr>
          <a:xfrm>
            <a:off x="9714585" y="2816352"/>
            <a:ext cx="1788566" cy="1463040"/>
          </a:xfrm>
          <a:prstGeom prst="rect">
            <a:avLst/>
          </a:prstGeom>
          <a:noFill/>
        </p:spPr>
        <p:txBody>
          <a:bodyPr wrap="square" lIns="0" rIns="0">
            <a:spAutoFit/>
          </a:bodyPr>
          <a:lstStyle/>
          <a:p>
            <a:pPr algn="l"/>
            <a:r>
              <a:rPr sz="1150" b="0" i="0">
                <a:solidFill>
                  <a:srgbClr val="1A1A1A"/>
                </a:solidFill>
                <a:latin typeface="Trebuchet MS"/>
              </a:rPr>
              <a:t>Score anonymous adult survey answers through the behaviour model and compare with IGDS9-SF, a standard 9-question gaming-disorder questionnaire.</a:t>
            </a:r>
          </a:p>
        </p:txBody>
      </p:sp>
      <p:sp>
        <p:nvSpPr>
          <p:cNvPr id="41" name="Rectangle 40"/>
          <p:cNvSpPr/>
          <p:nvPr/>
        </p:nvSpPr>
        <p:spPr>
          <a:xfrm>
            <a:off x="9678009" y="4261104"/>
            <a:ext cx="1861718" cy="932688"/>
          </a:xfrm>
          <a:prstGeom prst="rect">
            <a:avLst/>
          </a:prstGeom>
          <a:solidFill>
            <a:srgbClr val="FFFFFF"/>
          </a:solidFill>
          <a:ln w="9525">
            <a:solidFill>
              <a:srgbClr val="EEC9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42017" y="4306824"/>
            <a:ext cx="1733702" cy="868680"/>
          </a:xfrm>
          <a:prstGeom prst="rect">
            <a:avLst/>
          </a:prstGeom>
          <a:noFill/>
        </p:spPr>
        <p:txBody>
          <a:bodyPr wrap="square" lIns="0" rIns="0">
            <a:spAutoFit/>
          </a:bodyPr>
          <a:lstStyle/>
          <a:p>
            <a:pPr algn="l"/>
            <a:r>
              <a:rPr sz="1050" b="1" i="0">
                <a:solidFill>
                  <a:srgbClr val="B95427"/>
                </a:solidFill>
                <a:latin typeface="Trebuchet MS"/>
              </a:rPr>
              <a:t>Result: A moderate link: rank correlation 0.317 [0.137, 0.478] on 103 respondents.</a:t>
            </a:r>
          </a:p>
        </p:txBody>
      </p:sp>
      <p:sp>
        <p:nvSpPr>
          <p:cNvPr id="43" name="TextBox 42"/>
          <p:cNvSpPr txBox="1"/>
          <p:nvPr/>
        </p:nvSpPr>
        <p:spPr>
          <a:xfrm>
            <a:off x="548640" y="5449824"/>
            <a:ext cx="11064240" cy="548640"/>
          </a:xfrm>
          <a:prstGeom prst="rect">
            <a:avLst/>
          </a:prstGeom>
          <a:noFill/>
        </p:spPr>
        <p:txBody>
          <a:bodyPr wrap="square" lIns="0" rIns="0">
            <a:spAutoFit/>
          </a:bodyPr>
          <a:lstStyle/>
          <a:p>
            <a:pPr algn="ctr"/>
            <a:r>
              <a:rPr sz="1400" b="0" i="1">
                <a:solidFill>
                  <a:srgbClr val="5A2E0E"/>
                </a:solidFill>
                <a:latin typeface="Trebuchet MS"/>
              </a:rPr>
              <a:t>Core idea: measure how a child plays, not just how long, then let a standard outside questionnaire, not our own labels, decide whether the behaviour score means anything.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Proposed Approach / Methodology</a:t>
            </a:r>
          </a:p>
        </p:txBody>
      </p:sp>
      <p:sp>
        <p:nvSpPr>
          <p:cNvPr id="5" name="TextBox 4"/>
          <p:cNvSpPr txBox="1"/>
          <p:nvPr/>
        </p:nvSpPr>
        <p:spPr>
          <a:xfrm>
            <a:off x="502920" y="1115568"/>
            <a:ext cx="10515600" cy="365760"/>
          </a:xfrm>
          <a:prstGeom prst="rect">
            <a:avLst/>
          </a:prstGeom>
          <a:noFill/>
        </p:spPr>
        <p:txBody>
          <a:bodyPr wrap="square" lIns="0" rIns="0">
            <a:spAutoFit/>
          </a:bodyPr>
          <a:lstStyle/>
          <a:p>
            <a:pPr algn="r"/>
            <a:r>
              <a:rPr sz="1500" b="1" i="0">
                <a:solidFill>
                  <a:srgbClr val="E07B1A"/>
                </a:solidFill>
                <a:latin typeface="Trebuchet MS"/>
              </a:rPr>
              <a:t>Is there a need to change the approach?</a:t>
            </a:r>
          </a:p>
        </p:txBody>
      </p:sp>
      <p:sp>
        <p:nvSpPr>
          <p:cNvPr id="6" name="Rectangle 5"/>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sp>
        <p:nvSpPr>
          <p:cNvPr id="9" name="Rounded Rectangle 8"/>
          <p:cNvSpPr/>
          <p:nvPr/>
        </p:nvSpPr>
        <p:spPr>
          <a:xfrm>
            <a:off x="548640" y="1673352"/>
            <a:ext cx="5394960" cy="4069080"/>
          </a:xfrm>
          <a:prstGeom prst="roundRect">
            <a:avLst>
              <a:gd name="adj" fmla="val 4000"/>
            </a:avLst>
          </a:prstGeom>
          <a:solidFill>
            <a:srgbClr val="FBF3EA"/>
          </a:solidFill>
          <a:ln w="22225">
            <a:solidFill>
              <a:srgbClr val="E07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783080"/>
            <a:ext cx="5029200" cy="411480"/>
          </a:xfrm>
          <a:prstGeom prst="rect">
            <a:avLst/>
          </a:prstGeom>
          <a:noFill/>
        </p:spPr>
        <p:txBody>
          <a:bodyPr wrap="square" lIns="0" rIns="0">
            <a:spAutoFit/>
          </a:bodyPr>
          <a:lstStyle/>
          <a:p>
            <a:pPr algn="l"/>
            <a:r>
              <a:rPr sz="1600" b="1" i="0">
                <a:solidFill>
                  <a:srgbClr val="E07B1A"/>
                </a:solidFill>
                <a:latin typeface="Trebuchet MS"/>
              </a:rPr>
              <a:t>The core approach holds</a:t>
            </a:r>
          </a:p>
        </p:txBody>
      </p:sp>
      <p:sp>
        <p:nvSpPr>
          <p:cNvPr id="11" name="TextBox 10"/>
          <p:cNvSpPr txBox="1"/>
          <p:nvPr/>
        </p:nvSpPr>
        <p:spPr>
          <a:xfrm>
            <a:off x="731520" y="2240280"/>
            <a:ext cx="5029200" cy="3383280"/>
          </a:xfrm>
          <a:prstGeom prst="rect">
            <a:avLst/>
          </a:prstGeom>
          <a:noFill/>
        </p:spPr>
        <p:txBody>
          <a:bodyPr wrap="square">
            <a:spAutoFit/>
          </a:bodyPr>
          <a:lstStyle/>
          <a:p>
            <a:pPr>
              <a:spcAft>
                <a:spcPts val="700"/>
              </a:spcAft>
            </a:pPr>
            <a:r>
              <a:rPr sz="1300" b="0">
                <a:solidFill>
                  <a:srgbClr val="1A1A1A"/>
                </a:solidFill>
                <a:latin typeface="Trebuchet MS"/>
              </a:rPr>
              <a:t>▪  The behaviour score tracks a standard gaming-disorder questionnaire: a moderate link, 0.317 [0.137, 0.478], across 103 scored survey respondents.</a:t>
            </a:r>
          </a:p>
          <a:p>
            <a:pPr>
              <a:spcAft>
                <a:spcPts val="700"/>
              </a:spcAft>
            </a:pPr>
            <a:r>
              <a:rPr sz="1300" b="0">
                <a:solidFill>
                  <a:srgbClr val="1A1A1A"/>
                </a:solidFill>
                <a:latin typeface="Trebuchet MS"/>
              </a:rPr>
              <a:t>▪  Pattern features track the survey better than volume: 0.330 against 0.128. The difference, +0.199 [+0.019, +0.380], has an interval that excludes zero.</a:t>
            </a:r>
          </a:p>
          <a:p>
            <a:pPr>
              <a:spcAft>
                <a:spcPts val="700"/>
              </a:spcAft>
            </a:pPr>
            <a:r>
              <a:rPr sz="1300" b="0">
                <a:solidFill>
                  <a:srgbClr val="1A1A1A"/>
                </a:solidFill>
                <a:latin typeface="Trebuchet MS"/>
              </a:rPr>
              <a:t>▪  With screen-time hours controlled for, the link stays 0.303 [0.110, 0.476]. Whether it beats hours alone is only suggestive: that interval touches zero.</a:t>
            </a:r>
          </a:p>
          <a:p>
            <a:pPr>
              <a:spcAft>
                <a:spcPts val="700"/>
              </a:spcAft>
            </a:pPr>
            <a:r>
              <a:rPr sz="1300" b="0">
                <a:solidFill>
                  <a:srgbClr val="1A1A1A"/>
                </a:solidFill>
                <a:latin typeface="Trebuchet MS"/>
              </a:rPr>
              <a:t>▪  All three modules and fusion run live on Render and Neon, covered by 181 backend and 110 Android tests in CI.</a:t>
            </a:r>
          </a:p>
          <a:p>
            <a:pPr>
              <a:spcAft>
                <a:spcPts val="700"/>
              </a:spcAft>
            </a:pPr>
            <a:r>
              <a:rPr sz="1300" b="0">
                <a:solidFill>
                  <a:srgbClr val="1A1A1A"/>
                </a:solidFill>
                <a:latin typeface="Trebuchet MS"/>
              </a:rPr>
              <a:t>▪  Limits remain: adults only, and one respondent in the disordered range, so no sensitivity or specificity yet.</a:t>
            </a:r>
          </a:p>
        </p:txBody>
      </p:sp>
      <p:sp>
        <p:nvSpPr>
          <p:cNvPr id="12" name="Rounded Rectangle 11"/>
          <p:cNvSpPr/>
          <p:nvPr/>
        </p:nvSpPr>
        <p:spPr>
          <a:xfrm>
            <a:off x="6217920" y="1673352"/>
            <a:ext cx="5394960" cy="4069080"/>
          </a:xfrm>
          <a:prstGeom prst="roundRect">
            <a:avLst>
              <a:gd name="adj" fmla="val 4000"/>
            </a:avLst>
          </a:prstGeom>
          <a:solidFill>
            <a:srgbClr val="FBF3EA"/>
          </a:solidFill>
          <a:ln w="22225">
            <a:solidFill>
              <a:srgbClr val="E07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83080"/>
            <a:ext cx="5029200" cy="411480"/>
          </a:xfrm>
          <a:prstGeom prst="rect">
            <a:avLst/>
          </a:prstGeom>
          <a:noFill/>
        </p:spPr>
        <p:txBody>
          <a:bodyPr wrap="square" lIns="0" rIns="0">
            <a:spAutoFit/>
          </a:bodyPr>
          <a:lstStyle/>
          <a:p>
            <a:pPr algn="l"/>
            <a:r>
              <a:rPr sz="1600" b="1" i="0">
                <a:solidFill>
                  <a:srgbClr val="E07B1A"/>
                </a:solidFill>
                <a:latin typeface="Trebuchet MS"/>
              </a:rPr>
              <a:t>Targeted changes from our own data</a:t>
            </a:r>
          </a:p>
        </p:txBody>
      </p:sp>
      <p:sp>
        <p:nvSpPr>
          <p:cNvPr id="14" name="TextBox 13"/>
          <p:cNvSpPr txBox="1"/>
          <p:nvPr/>
        </p:nvSpPr>
        <p:spPr>
          <a:xfrm>
            <a:off x="6400800" y="2240280"/>
            <a:ext cx="5029200" cy="3383280"/>
          </a:xfrm>
          <a:prstGeom prst="rect">
            <a:avLst/>
          </a:prstGeom>
          <a:noFill/>
        </p:spPr>
        <p:txBody>
          <a:bodyPr wrap="square">
            <a:spAutoFit/>
          </a:bodyPr>
          <a:lstStyle/>
          <a:p>
            <a:pPr>
              <a:spcAft>
                <a:spcPts val="700"/>
              </a:spcAft>
            </a:pPr>
            <a:r>
              <a:rPr sz="1300" b="0">
                <a:solidFill>
                  <a:srgbClr val="1A1A1A"/>
                </a:solidFill>
                <a:latin typeface="Trebuchet MS"/>
              </a:rPr>
              <a:t>▪  </a:t>
            </a:r>
            <a:r>
              <a:rPr sz="1300" b="1">
                <a:solidFill>
                  <a:srgbClr val="1A1A1A"/>
                </a:solidFill>
                <a:latin typeface="Trebuchet MS"/>
              </a:rPr>
              <a:t>DONE:</a:t>
            </a:r>
            <a:r>
              <a:rPr sz="1300" b="0">
                <a:solidFill>
                  <a:srgbClr val="1A1A1A"/>
                </a:solidFill>
                <a:latin typeface="Trebuchet MS"/>
              </a:rPr>
              <a:t> Renamed 4 of 5 parent-facing labels that did not match their namesake survey question, e.g. Loss of control became Frequent long sessions.</a:t>
            </a:r>
          </a:p>
          <a:p>
            <a:pPr>
              <a:spcAft>
                <a:spcPts val="700"/>
              </a:spcAft>
            </a:pPr>
            <a:r>
              <a:rPr sz="1300" b="0">
                <a:solidFill>
                  <a:srgbClr val="1A1A1A"/>
                </a:solidFill>
                <a:latin typeface="Trebuchet MS"/>
              </a:rPr>
              <a:t>▪  </a:t>
            </a:r>
            <a:r>
              <a:rPr sz="1300" b="1">
                <a:solidFill>
                  <a:srgbClr val="1A1A1A"/>
                </a:solidFill>
                <a:latin typeface="Trebuchet MS"/>
              </a:rPr>
              <a:t>DONE:</a:t>
            </a:r>
            <a:r>
              <a:rPr sz="1300" b="0">
                <a:solidFill>
                  <a:srgbClr val="1A1A1A"/>
                </a:solidFill>
                <a:latin typeface="Trebuchet MS"/>
              </a:rPr>
              <a:t> Kept dual Hindi plus English speech-to-text OFF. It used 51-72% CPU and 419 MB, failing our phone resource budget.</a:t>
            </a:r>
          </a:p>
          <a:p>
            <a:pPr>
              <a:spcAft>
                <a:spcPts val="700"/>
              </a:spcAft>
            </a:pPr>
            <a:r>
              <a:rPr sz="1300" b="0">
                <a:solidFill>
                  <a:srgbClr val="1A1A1A"/>
                </a:solidFill>
                <a:latin typeface="Trebuchet MS"/>
              </a:rPr>
              <a:t>▪  </a:t>
            </a:r>
            <a:r>
              <a:rPr sz="1300" b="1">
                <a:solidFill>
                  <a:srgbClr val="1A1A1A"/>
                </a:solidFill>
                <a:latin typeface="Trebuchet MS"/>
              </a:rPr>
              <a:t>PLANNED (from 19 Oct):</a:t>
            </a:r>
            <a:r>
              <a:rPr sz="1300" b="0">
                <a:solidFill>
                  <a:srgbClr val="1A1A1A"/>
                </a:solidFill>
                <a:latin typeface="Trebuchet MS"/>
              </a:rPr>
              <a:t> Remove the genre weight. Benefit: parents see exactly the score we validated, and an assumption the survey did not support is removed.</a:t>
            </a:r>
          </a:p>
          <a:p>
            <a:pPr>
              <a:spcAft>
                <a:spcPts val="700"/>
              </a:spcAft>
            </a:pPr>
            <a:r>
              <a:rPr sz="1300" b="0">
                <a:solidFill>
                  <a:srgbClr val="1A1A1A"/>
                </a:solidFill>
                <a:latin typeface="Trebuchet MS"/>
              </a:rPr>
              <a:t>▪  Drawback: 34.4% of past session bands would change, so the score needs a version number and parents must be told.</a:t>
            </a:r>
          </a:p>
          <a:p>
            <a:pPr>
              <a:spcAft>
                <a:spcPts val="700"/>
              </a:spcAft>
            </a:pPr>
            <a:r>
              <a:rPr sz="1300" b="0">
                <a:solidFill>
                  <a:srgbClr val="1A1A1A"/>
                </a:solidFill>
                <a:latin typeface="Trebuchet MS"/>
              </a:rPr>
              <a:t>▪  </a:t>
            </a:r>
            <a:r>
              <a:rPr sz="1300" b="1">
                <a:solidFill>
                  <a:srgbClr val="1A1A1A"/>
                </a:solidFill>
                <a:latin typeface="Trebuchet MS"/>
              </a:rPr>
              <a:t>PROPOSED (needs ethics approval):</a:t>
            </a:r>
            <a:r>
              <a:rPr sz="1300" b="0">
                <a:solidFill>
                  <a:srgbClr val="1A1A1A"/>
                </a:solidFill>
                <a:latin typeface="Trebuchet MS"/>
              </a:rPr>
              <a:t> Validate with guardian-answered IGDS9-SF linked to measured play data, the only route to children and to sensitivity and specificity.</a:t>
            </a:r>
          </a:p>
        </p:txBody>
      </p:sp>
      <p:sp>
        <p:nvSpPr>
          <p:cNvPr id="15" name="TextBox 14"/>
          <p:cNvSpPr txBox="1"/>
          <p:nvPr/>
        </p:nvSpPr>
        <p:spPr>
          <a:xfrm>
            <a:off x="548640" y="5852160"/>
            <a:ext cx="11064240" cy="457200"/>
          </a:xfrm>
          <a:prstGeom prst="rect">
            <a:avLst/>
          </a:prstGeom>
          <a:noFill/>
        </p:spPr>
        <p:txBody>
          <a:bodyPr wrap="square" lIns="0" rIns="0">
            <a:spAutoFit/>
          </a:bodyPr>
          <a:lstStyle/>
          <a:p>
            <a:pPr algn="ctr"/>
            <a:r>
              <a:rPr sz="1300" b="0" i="1">
                <a:solidFill>
                  <a:srgbClr val="5A2E0E"/>
                </a:solidFill>
                <a:latin typeface="Trebuchet MS"/>
              </a:rPr>
              <a:t>Our stance: evidence decides, even against our own assumptions. We changed what our data contradicted and kept what it supported.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Algorithm &amp; Pseudocode</a:t>
            </a:r>
          </a:p>
        </p:txBody>
      </p:sp>
      <p:sp>
        <p:nvSpPr>
          <p:cNvPr id="5" name="TextBox 4"/>
          <p:cNvSpPr txBox="1"/>
          <p:nvPr/>
        </p:nvSpPr>
        <p:spPr>
          <a:xfrm>
            <a:off x="502920" y="1115568"/>
            <a:ext cx="10515600" cy="365760"/>
          </a:xfrm>
          <a:prstGeom prst="rect">
            <a:avLst/>
          </a:prstGeom>
          <a:noFill/>
        </p:spPr>
        <p:txBody>
          <a:bodyPr wrap="square" lIns="0" rIns="0">
            <a:spAutoFit/>
          </a:bodyPr>
          <a:lstStyle/>
          <a:p>
            <a:pPr algn="r"/>
            <a:r>
              <a:rPr sz="1500" b="1" i="0">
                <a:solidFill>
                  <a:srgbClr val="E07B1A"/>
                </a:solidFill>
                <a:latin typeface="Trebuchet MS"/>
              </a:rPr>
              <a:t>Algorithm 1 - End-to-end workflow (the logical flow of the project)</a:t>
            </a:r>
          </a:p>
        </p:txBody>
      </p:sp>
      <p:sp>
        <p:nvSpPr>
          <p:cNvPr id="6" name="Rectangle 5"/>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sp>
        <p:nvSpPr>
          <p:cNvPr id="9" name="Rectangle 8"/>
          <p:cNvSpPr/>
          <p:nvPr/>
        </p:nvSpPr>
        <p:spPr>
          <a:xfrm>
            <a:off x="548640" y="1627632"/>
            <a:ext cx="6812280" cy="4663440"/>
          </a:xfrm>
          <a:prstGeom prst="rect">
            <a:avLst/>
          </a:prstGeom>
          <a:solidFill>
            <a:srgbClr val="F7F4EF"/>
          </a:solidFill>
          <a:ln w="19050">
            <a:solidFill>
              <a:srgbClr val="E07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00784"/>
            <a:ext cx="6583680" cy="4553712"/>
          </a:xfrm>
          <a:prstGeom prst="rect">
            <a:avLst/>
          </a:prstGeom>
          <a:noFill/>
        </p:spPr>
        <p:txBody>
          <a:bodyPr wrap="square">
            <a:spAutoFit/>
          </a:bodyPr>
          <a:lstStyle/>
          <a:p>
            <a:pPr>
              <a:spcAft>
                <a:spcPts val="500"/>
              </a:spcAft>
            </a:pPr>
            <a:r>
              <a:rPr sz="1300" b="1">
                <a:solidFill>
                  <a:srgbClr val="E07B1A"/>
                </a:solidFill>
                <a:latin typeface="Trebuchet MS"/>
              </a:rPr>
              <a:t>One gaming session, from phone to parent</a:t>
            </a:r>
          </a:p>
          <a:p>
            <a:pPr>
              <a:spcAft>
                <a:spcPts val="0"/>
              </a:spcAft>
            </a:pPr>
            <a:r>
              <a:rPr sz="1200" i="1">
                <a:solidFill>
                  <a:srgbClr val="888888"/>
                </a:solidFill>
                <a:latin typeface="Consolas"/>
              </a:rPr>
              <a:t># 1. CHILD PHONE: PassiveMonitorService checks every 5 s</a:t>
            </a:r>
          </a:p>
          <a:p>
            <a:pPr>
              <a:spcAft>
                <a:spcPts val="0"/>
              </a:spcAft>
            </a:pPr>
            <a:r>
              <a:rPr sz="1200" i="0">
                <a:solidFill>
                  <a:srgbClr val="1A1A1A"/>
                </a:solidFill>
                <a:latin typeface="Consolas"/>
              </a:rPr>
              <a:t>if phone unlocked and a game is in front: start session</a:t>
            </a:r>
          </a:p>
          <a:p>
            <a:pPr>
              <a:spcAft>
                <a:spcPts val="0"/>
              </a:spcAft>
            </a:pPr>
            <a:r>
              <a:rPr sz="1200" i="0">
                <a:solidFill>
                  <a:srgbClr val="1A1A1A"/>
                </a:solidFill>
                <a:latin typeface="Consolas"/>
              </a:rPr>
              <a:t>if child away from game &gt; 20 s: end session at the moment they left</a:t>
            </a:r>
          </a:p>
          <a:p>
            <a:pPr>
              <a:spcAft>
                <a:spcPts val="0"/>
              </a:spcAft>
            </a:pPr>
            <a:r>
              <a:rPr sz="1200" i="0">
                <a:solidFill>
                  <a:srgbClr val="1A1A1A"/>
                </a:solidFill>
                <a:latin typeface="Consolas"/>
              </a:rPr>
              <a:t>typed chat (custom keyboard / accessibility) -&gt; POST /chat</a:t>
            </a:r>
          </a:p>
          <a:p>
            <a:pPr>
              <a:spcAft>
                <a:spcPts val="0"/>
              </a:spcAft>
            </a:pPr>
            <a:r>
              <a:rPr sz="1200" i="0">
                <a:solidFill>
                  <a:srgbClr val="1A1A1A"/>
                </a:solidFill>
                <a:latin typeface="Consolas"/>
              </a:rPr>
              <a:t>mic, only while that game is in front:</a:t>
            </a:r>
          </a:p>
          <a:p>
            <a:pPr>
              <a:spcAft>
                <a:spcPts val="0"/>
              </a:spcAft>
            </a:pPr>
            <a:r>
              <a:rPr sz="1200" i="0">
                <a:solidFill>
                  <a:srgbClr val="1A1A1A"/>
                </a:solidFill>
                <a:latin typeface="Consolas"/>
              </a:rPr>
              <a:t>  Vosk speech-to-text on the phone -&gt; POST /chat as voice_stt</a:t>
            </a:r>
          </a:p>
          <a:p>
            <a:pPr>
              <a:spcAft>
                <a:spcPts val="0"/>
              </a:spcAft>
            </a:pPr>
            <a:r>
              <a:rPr sz="1200" i="0">
                <a:solidFill>
                  <a:srgbClr val="1A1A1A"/>
                </a:solidFill>
                <a:latin typeface="Consolas"/>
              </a:rPr>
              <a:t>  every 10 s: send audio segment -&gt; POST /voice</a:t>
            </a:r>
          </a:p>
          <a:p>
            <a:pPr>
              <a:spcAft>
                <a:spcPts val="0"/>
              </a:spcAft>
            </a:pPr>
            <a:r>
              <a:rPr sz="1200" i="0">
                <a:solidFill>
                  <a:srgbClr val="1A1A1A"/>
                </a:solidFill>
                <a:latin typeface="Consolas"/>
              </a:rPr>
              <a:t>every 3 min: heartbeat (app alive, permissions still granted)</a:t>
            </a:r>
          </a:p>
          <a:p>
            <a:pPr>
              <a:spcAft>
                <a:spcPts val="0"/>
              </a:spcAft>
            </a:pPr>
            <a:r>
              <a:rPr sz="1200" i="1">
                <a:solidFill>
                  <a:srgbClr val="888888"/>
                </a:solidFill>
                <a:latin typeface="Consolas"/>
              </a:rPr>
              <a:t># 2. BACKEND: score each item the moment it arrives</a:t>
            </a:r>
          </a:p>
          <a:p>
            <a:pPr>
              <a:spcAft>
                <a:spcPts val="0"/>
              </a:spcAft>
            </a:pPr>
            <a:r>
              <a:rPr sz="1200" i="0">
                <a:solidFill>
                  <a:srgbClr val="1A1A1A"/>
                </a:solidFill>
                <a:latin typeface="Consolas"/>
              </a:rPr>
              <a:t>chat line: tox = noisy_or(keyword score, ML score)</a:t>
            </a:r>
          </a:p>
          <a:p>
            <a:pPr>
              <a:spcAft>
                <a:spcPts val="0"/>
              </a:spcAft>
            </a:pPr>
            <a:r>
              <a:rPr sz="1200" i="0">
                <a:solidFill>
                  <a:srgbClr val="1A1A1A"/>
                </a:solidFill>
                <a:latin typeface="Consolas"/>
              </a:rPr>
              <a:t>  tox &gt;= 0.95 -&gt; alert now; 3 lines &gt;= 0.6 in session -&gt; streak alert</a:t>
            </a:r>
          </a:p>
          <a:p>
            <a:pPr>
              <a:spcAft>
                <a:spcPts val="0"/>
              </a:spcAft>
            </a:pPr>
            <a:r>
              <a:rPr sz="1200" i="0">
                <a:solidFill>
                  <a:srgbClr val="1A1A1A"/>
                </a:solidFill>
                <a:latin typeface="Consolas"/>
              </a:rPr>
              <a:t>voice clip: speech gate -&gt; 36 features -&gt; emotion -&gt; delete audio</a:t>
            </a:r>
          </a:p>
          <a:p>
            <a:pPr>
              <a:spcAft>
                <a:spcPts val="0"/>
              </a:spcAft>
            </a:pPr>
            <a:r>
              <a:rPr sz="1200" i="0">
                <a:solidFill>
                  <a:srgbClr val="1A1A1A"/>
                </a:solidFill>
                <a:latin typeface="Consolas"/>
              </a:rPr>
              <a:t>session end: compute 10 behaviour features from play history</a:t>
            </a:r>
          </a:p>
          <a:p>
            <a:pPr>
              <a:spcAft>
                <a:spcPts val="0"/>
              </a:spcAft>
            </a:pPr>
            <a:r>
              <a:rPr sz="1200" i="0">
                <a:solidFill>
                  <a:srgbClr val="1A1A1A"/>
                </a:solidFill>
                <a:latin typeface="Consolas"/>
              </a:rPr>
              <a:t>  b = calibrated RF, c = MAX typed-chat score, v = mean voice risk</a:t>
            </a:r>
          </a:p>
          <a:p>
            <a:pPr>
              <a:spcAft>
                <a:spcPts val="0"/>
              </a:spcAft>
            </a:pPr>
            <a:r>
              <a:rPr sz="1200" i="0">
                <a:solidFill>
                  <a:srgbClr val="1A1A1A"/>
                </a:solidFill>
                <a:latin typeface="Consolas"/>
              </a:rPr>
              <a:t>  risk = clip(weighted avg of present b/c/v (0.4/0.3/0.3) x genre)</a:t>
            </a:r>
          </a:p>
          <a:p>
            <a:pPr>
              <a:spcAft>
                <a:spcPts val="0"/>
              </a:spcAft>
            </a:pPr>
            <a:r>
              <a:rPr sz="1200" i="0">
                <a:solidFill>
                  <a:srgbClr val="1A1A1A"/>
                </a:solidFill>
                <a:latin typeface="Consolas"/>
              </a:rPr>
              <a:t>  band = Low / Some / High (High -&gt; Some if fewer than 3 sessions)</a:t>
            </a:r>
          </a:p>
          <a:p>
            <a:pPr>
              <a:spcAft>
                <a:spcPts val="0"/>
              </a:spcAft>
            </a:pPr>
            <a:r>
              <a:rPr sz="1200" i="0">
                <a:solidFill>
                  <a:srgbClr val="1A1A1A"/>
                </a:solidFill>
                <a:latin typeface="Consolas"/>
              </a:rPr>
              <a:t>  Some/High -&gt; alert (polled); High -&gt; also pushed to every guardian</a:t>
            </a:r>
          </a:p>
          <a:p>
            <a:pPr>
              <a:spcAft>
                <a:spcPts val="0"/>
              </a:spcAft>
            </a:pPr>
            <a:r>
              <a:rPr sz="1200" i="1">
                <a:solidFill>
                  <a:srgbClr val="888888"/>
                </a:solidFill>
                <a:latin typeface="Consolas"/>
              </a:rPr>
              <a:t># 3. PARENT APP: dashboard, SHAP reasons, parent rates each alert</a:t>
            </a:r>
          </a:p>
          <a:p>
            <a:pPr>
              <a:spcAft>
                <a:spcPts val="0"/>
              </a:spcAft>
            </a:pPr>
            <a:r>
              <a:rPr sz="1200" i="0">
                <a:solidFill>
                  <a:srgbClr val="1A1A1A"/>
                </a:solidFill>
                <a:latin typeface="Consolas"/>
              </a:rPr>
              <a:t>tune_from_feedback.py proposes thresholds; a human applies them</a:t>
            </a:r>
          </a:p>
        </p:txBody>
      </p:sp>
      <p:sp>
        <p:nvSpPr>
          <p:cNvPr id="11" name="TextBox 10"/>
          <p:cNvSpPr txBox="1"/>
          <p:nvPr/>
        </p:nvSpPr>
        <p:spPr>
          <a:xfrm>
            <a:off x="7589520" y="1627632"/>
            <a:ext cx="4023360" cy="365760"/>
          </a:xfrm>
          <a:prstGeom prst="rect">
            <a:avLst/>
          </a:prstGeom>
          <a:noFill/>
        </p:spPr>
        <p:txBody>
          <a:bodyPr wrap="square" lIns="0" rIns="0">
            <a:spAutoFit/>
          </a:bodyPr>
          <a:lstStyle/>
          <a:p>
            <a:pPr algn="l"/>
            <a:r>
              <a:rPr sz="1500" b="1" i="0">
                <a:solidFill>
                  <a:srgbClr val="E07B1A"/>
                </a:solidFill>
                <a:latin typeface="Trebuchet MS"/>
              </a:rPr>
              <a:t>In plain words</a:t>
            </a:r>
          </a:p>
        </p:txBody>
      </p:sp>
      <p:sp>
        <p:nvSpPr>
          <p:cNvPr id="12" name="TextBox 11"/>
          <p:cNvSpPr txBox="1"/>
          <p:nvPr/>
        </p:nvSpPr>
        <p:spPr>
          <a:xfrm>
            <a:off x="7589520" y="2039112"/>
            <a:ext cx="4023360" cy="3474720"/>
          </a:xfrm>
          <a:prstGeom prst="rect">
            <a:avLst/>
          </a:prstGeom>
          <a:noFill/>
        </p:spPr>
        <p:txBody>
          <a:bodyPr wrap="square">
            <a:spAutoFit/>
          </a:bodyPr>
          <a:lstStyle/>
          <a:p>
            <a:pPr>
              <a:spcAft>
                <a:spcPts val="700"/>
              </a:spcAft>
            </a:pPr>
            <a:r>
              <a:rPr sz="1250" b="0">
                <a:solidFill>
                  <a:srgbClr val="1A1A1A"/>
                </a:solidFill>
                <a:latin typeface="Trebuchet MS"/>
              </a:rPr>
              <a:t>▪  The phone spots a game by itself and, only while it is open, sends typed chat, spoken words as text and 10-second voice clips.</a:t>
            </a:r>
          </a:p>
          <a:p>
            <a:pPr>
              <a:spcAft>
                <a:spcPts val="700"/>
              </a:spcAft>
            </a:pPr>
            <a:r>
              <a:rPr sz="1250" b="0">
                <a:solidFill>
                  <a:srgbClr val="1A1A1A"/>
                </a:solidFill>
                <a:latin typeface="Trebuchet MS"/>
              </a:rPr>
              <a:t>▪  Each chat line is scored the moment it arrives, so a clearly abusive message alerts the parent without waiting for the session to end.</a:t>
            </a:r>
          </a:p>
          <a:p>
            <a:pPr>
              <a:spcAft>
                <a:spcPts val="700"/>
              </a:spcAft>
            </a:pPr>
            <a:r>
              <a:rPr sz="1250" b="0">
                <a:solidFill>
                  <a:srgbClr val="1A1A1A"/>
                </a:solidFill>
                <a:latin typeface="Trebuchet MS"/>
              </a:rPr>
              <a:t>▪  When play stops, the server combines habits, chat and voice into one score and a Low, Some or High concern band.</a:t>
            </a:r>
          </a:p>
          <a:p>
            <a:pPr>
              <a:spcAft>
                <a:spcPts val="700"/>
              </a:spcAft>
            </a:pPr>
            <a:r>
              <a:rPr sz="1250" b="0">
                <a:solidFill>
                  <a:srgbClr val="1A1A1A"/>
                </a:solidFill>
                <a:latin typeface="Trebuchet MS"/>
              </a:rPr>
              <a:t>▪  Parents see the reasons and rate each alert. Those ratings suggest new thresholds, but a person decides whether to apply them.</a:t>
            </a:r>
          </a:p>
        </p:txBody>
      </p:sp>
      <p:sp>
        <p:nvSpPr>
          <p:cNvPr id="13" name="TextBox 12"/>
          <p:cNvSpPr txBox="1"/>
          <p:nvPr/>
        </p:nvSpPr>
        <p:spPr>
          <a:xfrm>
            <a:off x="7589520" y="5742432"/>
            <a:ext cx="4023360" cy="548640"/>
          </a:xfrm>
          <a:prstGeom prst="rect">
            <a:avLst/>
          </a:prstGeom>
          <a:noFill/>
        </p:spPr>
        <p:txBody>
          <a:bodyPr wrap="square" lIns="0" rIns="0">
            <a:spAutoFit/>
          </a:bodyPr>
          <a:lstStyle/>
          <a:p>
            <a:pPr algn="l"/>
            <a:r>
              <a:rPr sz="1000" b="0" i="1">
                <a:solidFill>
                  <a:srgbClr val="888888"/>
                </a:solidFill>
                <a:latin typeface="Trebuchet MS"/>
              </a:rPr>
              <a:t>Code: PassiveMonitorService.kt; app.py save_chat/save_voice/run_prediction/_maybe_create_alert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Algorithm &amp; Pseudocode</a:t>
            </a:r>
          </a:p>
        </p:txBody>
      </p:sp>
      <p:sp>
        <p:nvSpPr>
          <p:cNvPr id="5" name="TextBox 4"/>
          <p:cNvSpPr txBox="1"/>
          <p:nvPr/>
        </p:nvSpPr>
        <p:spPr>
          <a:xfrm>
            <a:off x="502920" y="1115568"/>
            <a:ext cx="10515600" cy="365760"/>
          </a:xfrm>
          <a:prstGeom prst="rect">
            <a:avLst/>
          </a:prstGeom>
          <a:noFill/>
        </p:spPr>
        <p:txBody>
          <a:bodyPr wrap="square" lIns="0" rIns="0">
            <a:spAutoFit/>
          </a:bodyPr>
          <a:lstStyle/>
          <a:p>
            <a:pPr algn="r"/>
            <a:r>
              <a:rPr sz="1500" b="1" i="0">
                <a:solidFill>
                  <a:srgbClr val="E07B1A"/>
                </a:solidFill>
                <a:latin typeface="Trebuchet MS"/>
              </a:rPr>
              <a:t>Algorithm 2 - Behaviour risk score (Random Forest)</a:t>
            </a:r>
          </a:p>
        </p:txBody>
      </p:sp>
      <p:sp>
        <p:nvSpPr>
          <p:cNvPr id="6" name="Rectangle 5"/>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sp>
        <p:nvSpPr>
          <p:cNvPr id="9" name="Rectangle 8"/>
          <p:cNvSpPr/>
          <p:nvPr/>
        </p:nvSpPr>
        <p:spPr>
          <a:xfrm>
            <a:off x="548640" y="1627632"/>
            <a:ext cx="6812280" cy="4663440"/>
          </a:xfrm>
          <a:prstGeom prst="rect">
            <a:avLst/>
          </a:prstGeom>
          <a:solidFill>
            <a:srgbClr val="F7F4EF"/>
          </a:solidFill>
          <a:ln w="19050">
            <a:solidFill>
              <a:srgbClr val="E07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00784"/>
            <a:ext cx="6583680" cy="4553712"/>
          </a:xfrm>
          <a:prstGeom prst="rect">
            <a:avLst/>
          </a:prstGeom>
          <a:noFill/>
        </p:spPr>
        <p:txBody>
          <a:bodyPr wrap="square">
            <a:spAutoFit/>
          </a:bodyPr>
          <a:lstStyle/>
          <a:p>
            <a:pPr>
              <a:spcAft>
                <a:spcPts val="500"/>
              </a:spcAft>
            </a:pPr>
            <a:r>
              <a:rPr sz="1300" b="1">
                <a:solidFill>
                  <a:srgbClr val="E07B1A"/>
                </a:solidFill>
                <a:latin typeface="Trebuchet MS"/>
              </a:rPr>
              <a:t>Behaviour score from 10 measured session features</a:t>
            </a:r>
          </a:p>
          <a:p>
            <a:pPr>
              <a:spcAft>
                <a:spcPts val="0"/>
              </a:spcAft>
            </a:pPr>
            <a:r>
              <a:rPr sz="1200" i="1">
                <a:solidFill>
                  <a:srgbClr val="888888"/>
                </a:solidFill>
                <a:latin typeface="Consolas"/>
              </a:rPr>
              <a:t># Runs on each scored snapshot (live updates and session end)</a:t>
            </a:r>
          </a:p>
          <a:p>
            <a:pPr>
              <a:spcAft>
                <a:spcPts val="0"/>
              </a:spcAft>
            </a:pPr>
            <a:r>
              <a:rPr sz="1200" i="0">
                <a:solidFill>
                  <a:srgbClr val="1A1A1A"/>
                </a:solidFill>
                <a:latin typeface="Consolas"/>
              </a:rPr>
              <a:t>if session ended with duration &lt;= 0 seconds:</a:t>
            </a:r>
          </a:p>
          <a:p>
            <a:pPr>
              <a:spcAft>
                <a:spcPts val="0"/>
              </a:spcAft>
            </a:pPr>
            <a:r>
              <a:rPr sz="1200" i="0">
                <a:solidFill>
                  <a:srgbClr val="1A1A1A"/>
                </a:solidFill>
                <a:latin typeface="Consolas"/>
              </a:rPr>
              <a:t>  skip behaviour channel     # an empty session is not evidence</a:t>
            </a:r>
          </a:p>
          <a:p>
            <a:pPr>
              <a:spcAft>
                <a:spcPts val="0"/>
              </a:spcAft>
            </a:pPr>
            <a:r>
              <a:rPr sz="1200" i="0">
                <a:solidFill>
                  <a:srgbClr val="1A1A1A"/>
                </a:solidFill>
                <a:latin typeface="Consolas"/>
              </a:rPr>
              <a:t>feats = compute_behavioral_features(session)</a:t>
            </a:r>
          </a:p>
          <a:p>
            <a:pPr>
              <a:spcAft>
                <a:spcPts val="0"/>
              </a:spcAft>
            </a:pPr>
            <a:r>
              <a:rPr sz="1200" i="0">
                <a:solidFill>
                  <a:srgbClr val="1A1A1A"/>
                </a:solidFill>
                <a:latin typeface="Consolas"/>
              </a:rPr>
              <a:t>  history = this child's sessions from the 30 days before this one</a:t>
            </a:r>
          </a:p>
          <a:p>
            <a:pPr>
              <a:spcAft>
                <a:spcPts val="0"/>
              </a:spcAft>
            </a:pPr>
            <a:r>
              <a:rPr sz="1200" i="0">
                <a:solidFill>
                  <a:srgbClr val="1A1A1A"/>
                </a:solidFill>
                <a:latin typeface="Consolas"/>
              </a:rPr>
              <a:t>  week    = the part of history from the last 7 days</a:t>
            </a:r>
          </a:p>
          <a:p>
            <a:pPr>
              <a:spcAft>
                <a:spcPts val="0"/>
              </a:spcAft>
            </a:pPr>
            <a:r>
              <a:rPr sz="1200" i="0">
                <a:solidFill>
                  <a:srgbClr val="1A1A1A"/>
                </a:solidFill>
                <a:latin typeface="Consolas"/>
              </a:rPr>
              <a:t>  daily_play_time_hours   = earlier play today + this session</a:t>
            </a:r>
          </a:p>
          <a:p>
            <a:pPr>
              <a:spcAft>
                <a:spcPts val="0"/>
              </a:spcAft>
            </a:pPr>
            <a:r>
              <a:rPr sz="1200" i="0">
                <a:solidFill>
                  <a:srgbClr val="1A1A1A"/>
                </a:solidFill>
                <a:latin typeface="Consolas"/>
              </a:rPr>
              <a:t>  sessions_per_day        = (sessions this week + 1) / 7</a:t>
            </a:r>
          </a:p>
          <a:p>
            <a:pPr>
              <a:spcAft>
                <a:spcPts val="0"/>
              </a:spcAft>
            </a:pPr>
            <a:r>
              <a:rPr sz="1200" i="0">
                <a:solidFill>
                  <a:srgbClr val="1A1A1A"/>
                </a:solidFill>
                <a:latin typeface="Consolas"/>
              </a:rPr>
              <a:t>  late_night_play_ratio   = share of starts 22:00-06:00, child time</a:t>
            </a:r>
          </a:p>
          <a:p>
            <a:pPr>
              <a:spcAft>
                <a:spcPts val="0"/>
              </a:spcAft>
            </a:pPr>
            <a:r>
              <a:rPr sz="1200" i="0">
                <a:solidFill>
                  <a:srgbClr val="1A1A1A"/>
                </a:solidFill>
                <a:latin typeface="Consolas"/>
              </a:rPr>
              <a:t>  binge_sessions_per_week = sessions this week lasting 3 hours or more</a:t>
            </a:r>
          </a:p>
          <a:p>
            <a:pPr>
              <a:spcAft>
                <a:spcPts val="0"/>
              </a:spcAft>
            </a:pPr>
            <a:r>
              <a:rPr sz="1200" i="0">
                <a:solidFill>
                  <a:srgbClr val="1A1A1A"/>
                </a:solidFill>
                <a:latin typeface="Consolas"/>
              </a:rPr>
              <a:t>  rapid_relogin_ratio     = share of breaks shorter than 15 minutes</a:t>
            </a:r>
          </a:p>
          <a:p>
            <a:pPr>
              <a:spcAft>
                <a:spcPts val="0"/>
              </a:spcAft>
            </a:pPr>
            <a:r>
              <a:rPr sz="1200" i="1">
                <a:solidFill>
                  <a:srgbClr val="888888"/>
                </a:solidFill>
                <a:latin typeface="Consolas"/>
              </a:rPr>
              <a:t>  # plus weekly hours, days played, streak, avg duration, avg break</a:t>
            </a:r>
          </a:p>
          <a:p>
            <a:pPr>
              <a:spcAft>
                <a:spcPts val="0"/>
              </a:spcAft>
            </a:pPr>
            <a:r>
              <a:rPr sz="1200" i="0">
                <a:solidFill>
                  <a:srgbClr val="1A1A1A"/>
                </a:solidFill>
                <a:latin typeface="Consolas"/>
              </a:rPr>
              <a:t>x = scaler.transform(the 10 measured features)</a:t>
            </a:r>
          </a:p>
          <a:p>
            <a:pPr>
              <a:spcAft>
                <a:spcPts val="0"/>
              </a:spcAft>
            </a:pPr>
            <a:r>
              <a:rPr sz="1200" i="0">
                <a:solidFill>
                  <a:srgbClr val="1A1A1A"/>
                </a:solidFill>
                <a:latin typeface="Consolas"/>
              </a:rPr>
              <a:t>p_low, p_some, p_high = calibrated_rf.predict_proba(x)</a:t>
            </a:r>
          </a:p>
          <a:p>
            <a:pPr>
              <a:spcAft>
                <a:spcPts val="0"/>
              </a:spcAft>
            </a:pPr>
            <a:r>
              <a:rPr sz="1200" i="0">
                <a:solidFill>
                  <a:srgbClr val="1A1A1A"/>
                </a:solidFill>
                <a:latin typeface="Consolas"/>
              </a:rPr>
              <a:t>b_score = 0.5 * p_some + 1.0 * p_high       # between 0 and 1</a:t>
            </a:r>
          </a:p>
          <a:p>
            <a:pPr>
              <a:spcAft>
                <a:spcPts val="0"/>
              </a:spcAft>
            </a:pPr>
            <a:r>
              <a:rPr sz="1200" i="0">
                <a:solidFill>
                  <a:srgbClr val="1A1A1A"/>
                </a:solidFill>
                <a:latin typeface="Consolas"/>
              </a:rPr>
              <a:t>shap = TreeExplainer(raw_rf).shap_values(x)  # skipped on live updates</a:t>
            </a:r>
          </a:p>
          <a:p>
            <a:pPr>
              <a:spcAft>
                <a:spcPts val="0"/>
              </a:spcAft>
            </a:pPr>
            <a:r>
              <a:rPr sz="1200" i="0">
                <a:solidFill>
                  <a:srgbClr val="1A1A1A"/>
                </a:solidFill>
                <a:latin typeface="Consolas"/>
              </a:rPr>
              <a:t>impact = 0.5 * shap[Some] + 1.0 * shap[High]   # same weights</a:t>
            </a:r>
          </a:p>
          <a:p>
            <a:pPr>
              <a:spcAft>
                <a:spcPts val="0"/>
              </a:spcAft>
            </a:pPr>
            <a:r>
              <a:rPr sz="1200" i="0">
                <a:solidFill>
                  <a:srgbClr val="1A1A1A"/>
                </a:solidFill>
                <a:latin typeface="Consolas"/>
              </a:rPr>
              <a:t>reasons = top 4 features by abs(impact), tagged raises or lowers</a:t>
            </a:r>
          </a:p>
          <a:p>
            <a:pPr>
              <a:spcAft>
                <a:spcPts val="0"/>
              </a:spcAft>
            </a:pPr>
            <a:r>
              <a:rPr sz="1200" i="0">
                <a:solidFill>
                  <a:srgbClr val="1A1A1A"/>
                </a:solidFill>
                <a:latin typeface="Consolas"/>
              </a:rPr>
              <a:t>return b_score, reasons      # enters fusion with weight 0.40</a:t>
            </a:r>
          </a:p>
        </p:txBody>
      </p:sp>
      <p:sp>
        <p:nvSpPr>
          <p:cNvPr id="11" name="TextBox 10"/>
          <p:cNvSpPr txBox="1"/>
          <p:nvPr/>
        </p:nvSpPr>
        <p:spPr>
          <a:xfrm>
            <a:off x="7589520" y="1627632"/>
            <a:ext cx="4023360" cy="365760"/>
          </a:xfrm>
          <a:prstGeom prst="rect">
            <a:avLst/>
          </a:prstGeom>
          <a:noFill/>
        </p:spPr>
        <p:txBody>
          <a:bodyPr wrap="square" lIns="0" rIns="0">
            <a:spAutoFit/>
          </a:bodyPr>
          <a:lstStyle/>
          <a:p>
            <a:pPr algn="l"/>
            <a:r>
              <a:rPr sz="1500" b="1" i="0">
                <a:solidFill>
                  <a:srgbClr val="E07B1A"/>
                </a:solidFill>
                <a:latin typeface="Trebuchet MS"/>
              </a:rPr>
              <a:t>In plain words</a:t>
            </a:r>
          </a:p>
        </p:txBody>
      </p:sp>
      <p:sp>
        <p:nvSpPr>
          <p:cNvPr id="12" name="TextBox 11"/>
          <p:cNvSpPr txBox="1"/>
          <p:nvPr/>
        </p:nvSpPr>
        <p:spPr>
          <a:xfrm>
            <a:off x="7589520" y="2039112"/>
            <a:ext cx="4023360" cy="3474720"/>
          </a:xfrm>
          <a:prstGeom prst="rect">
            <a:avLst/>
          </a:prstGeom>
          <a:noFill/>
        </p:spPr>
        <p:txBody>
          <a:bodyPr wrap="square">
            <a:spAutoFit/>
          </a:bodyPr>
          <a:lstStyle/>
          <a:p>
            <a:pPr>
              <a:spcAft>
                <a:spcPts val="700"/>
              </a:spcAft>
            </a:pPr>
            <a:r>
              <a:rPr sz="1250" b="0">
                <a:solidFill>
                  <a:srgbClr val="1A1A1A"/>
                </a:solidFill>
                <a:latin typeface="Trebuchet MS"/>
              </a:rPr>
              <a:t>▪  The model sees only 10 behaviours measured from session times, such as late-night starts, 3-hour binges and quick restarts after a short break.</a:t>
            </a:r>
          </a:p>
          <a:p>
            <a:pPr>
              <a:spcAft>
                <a:spcPts val="700"/>
              </a:spcAft>
            </a:pPr>
            <a:r>
              <a:rPr sz="1250" b="0">
                <a:solidFill>
                  <a:srgbClr val="1A1A1A"/>
                </a:solidFill>
                <a:latin typeface="Trebuchet MS"/>
              </a:rPr>
              <a:t>▪  Calibration adjusts the probabilities so they match how often each outcome really occurs. The score counts High concern fully and Some concern at half.</a:t>
            </a:r>
          </a:p>
          <a:p>
            <a:pPr>
              <a:spcAft>
                <a:spcPts val="700"/>
              </a:spcAft>
            </a:pPr>
            <a:r>
              <a:rPr sz="1250" b="0">
                <a:solidFill>
                  <a:srgbClr val="1A1A1A"/>
                </a:solidFill>
                <a:latin typeface="Trebuchet MS"/>
              </a:rPr>
              <a:t>▪  SHAP shows how each input raised or lowered the score. Formula scores like 'Gaming cravings' are left out, since they only repackage these inputs.</a:t>
            </a:r>
          </a:p>
          <a:p>
            <a:pPr>
              <a:spcAft>
                <a:spcPts val="700"/>
              </a:spcAft>
            </a:pPr>
            <a:r>
              <a:rPr sz="1250" b="0">
                <a:solidFill>
                  <a:srgbClr val="1A1A1A"/>
                </a:solidFill>
                <a:latin typeface="Trebuchet MS"/>
              </a:rPr>
              <a:t>▪  91.6% accuracy is on synthetic labels from a simulation grounded on two real surveys. It is a screening signal, not a diagnosis.</a:t>
            </a:r>
          </a:p>
        </p:txBody>
      </p:sp>
      <p:sp>
        <p:nvSpPr>
          <p:cNvPr id="13" name="TextBox 12"/>
          <p:cNvSpPr txBox="1"/>
          <p:nvPr/>
        </p:nvSpPr>
        <p:spPr>
          <a:xfrm>
            <a:off x="7589520" y="5742432"/>
            <a:ext cx="4023360" cy="548640"/>
          </a:xfrm>
          <a:prstGeom prst="rect">
            <a:avLst/>
          </a:prstGeom>
          <a:noFill/>
        </p:spPr>
        <p:txBody>
          <a:bodyPr wrap="square" lIns="0" rIns="0">
            <a:spAutoFit/>
          </a:bodyPr>
          <a:lstStyle/>
          <a:p>
            <a:pPr algn="l"/>
            <a:r>
              <a:rPr sz="1000" b="0" i="1">
                <a:solidFill>
                  <a:srgbClr val="888888"/>
                </a:solidFill>
                <a:latin typeface="Trebuchet MS"/>
              </a:rPr>
              <a:t>Code: backend/app.py: compute_behavioral_features(), run_prediction(), _shap_explain_impl()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Algorithm &amp; Pseudocode</a:t>
            </a:r>
          </a:p>
        </p:txBody>
      </p:sp>
      <p:sp>
        <p:nvSpPr>
          <p:cNvPr id="5" name="TextBox 4"/>
          <p:cNvSpPr txBox="1"/>
          <p:nvPr/>
        </p:nvSpPr>
        <p:spPr>
          <a:xfrm>
            <a:off x="502920" y="1115568"/>
            <a:ext cx="10515600" cy="365760"/>
          </a:xfrm>
          <a:prstGeom prst="rect">
            <a:avLst/>
          </a:prstGeom>
          <a:noFill/>
        </p:spPr>
        <p:txBody>
          <a:bodyPr wrap="square" lIns="0" rIns="0">
            <a:spAutoFit/>
          </a:bodyPr>
          <a:lstStyle/>
          <a:p>
            <a:pPr algn="r"/>
            <a:r>
              <a:rPr sz="1500" b="1" i="0">
                <a:solidFill>
                  <a:srgbClr val="E07B1A"/>
                </a:solidFill>
                <a:latin typeface="Trebuchet MS"/>
              </a:rPr>
              <a:t>Algorithm 3 - Chat toxicity scoring and alerts</a:t>
            </a:r>
          </a:p>
        </p:txBody>
      </p:sp>
      <p:sp>
        <p:nvSpPr>
          <p:cNvPr id="6" name="Rectangle 5"/>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sp>
        <p:nvSpPr>
          <p:cNvPr id="9" name="Rectangle 8"/>
          <p:cNvSpPr/>
          <p:nvPr/>
        </p:nvSpPr>
        <p:spPr>
          <a:xfrm>
            <a:off x="548640" y="1627632"/>
            <a:ext cx="6812280" cy="4663440"/>
          </a:xfrm>
          <a:prstGeom prst="rect">
            <a:avLst/>
          </a:prstGeom>
          <a:solidFill>
            <a:srgbClr val="F7F4EF"/>
          </a:solidFill>
          <a:ln w="19050">
            <a:solidFill>
              <a:srgbClr val="E07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00784"/>
            <a:ext cx="6583680" cy="4553712"/>
          </a:xfrm>
          <a:prstGeom prst="rect">
            <a:avLst/>
          </a:prstGeom>
          <a:noFill/>
        </p:spPr>
        <p:txBody>
          <a:bodyPr wrap="square">
            <a:spAutoFit/>
          </a:bodyPr>
          <a:lstStyle/>
          <a:p>
            <a:pPr>
              <a:spcAft>
                <a:spcPts val="500"/>
              </a:spcAft>
            </a:pPr>
            <a:r>
              <a:rPr sz="1300" b="1">
                <a:solidFill>
                  <a:srgbClr val="E07B1A"/>
                </a:solidFill>
                <a:latin typeface="Trebuchet MS"/>
              </a:rPr>
              <a:t>Scoring one chat line, then the whole session</a:t>
            </a:r>
          </a:p>
          <a:p>
            <a:pPr>
              <a:spcAft>
                <a:spcPts val="0"/>
              </a:spcAft>
            </a:pPr>
            <a:r>
              <a:rPr sz="1200" i="1">
                <a:solidFill>
                  <a:srgbClr val="888888"/>
                </a:solidFill>
                <a:latin typeface="Consolas"/>
              </a:rPr>
              <a:t># For each chat line the phone uploads: save_chat()</a:t>
            </a:r>
          </a:p>
          <a:p>
            <a:pPr>
              <a:spcAft>
                <a:spcPts val="0"/>
              </a:spcAft>
            </a:pPr>
            <a:r>
              <a:rPr sz="1200" i="0">
                <a:solidFill>
                  <a:srgbClr val="1A1A1A"/>
                </a:solidFill>
                <a:latin typeface="Consolas"/>
              </a:rPr>
              <a:t>text = message trimmed, rejected if empty or over 2000 characters</a:t>
            </a:r>
          </a:p>
          <a:p>
            <a:pPr>
              <a:spcAft>
                <a:spcPts val="0"/>
              </a:spcAft>
            </a:pPr>
            <a:r>
              <a:rPr sz="1200" i="1">
                <a:solidFill>
                  <a:srgbClr val="888888"/>
                </a:solidFill>
                <a:latin typeface="Consolas"/>
              </a:rPr>
              <a:t># kw: count abusive words, phrases (English + Hindi, both scripts)</a:t>
            </a:r>
          </a:p>
          <a:p>
            <a:pPr>
              <a:spcAft>
                <a:spcPts val="0"/>
              </a:spcAft>
            </a:pPr>
            <a:r>
              <a:rPr sz="1200" i="0">
                <a:solidFill>
                  <a:srgbClr val="1A1A1A"/>
                </a:solidFill>
                <a:latin typeface="Consolas"/>
              </a:rPr>
              <a:t>kw = min(0.2*strong_words + 0.1*mild_words + 0.3*phrases, 0.9)</a:t>
            </a:r>
          </a:p>
          <a:p>
            <a:pPr>
              <a:spcAft>
                <a:spcPts val="0"/>
              </a:spcAft>
            </a:pPr>
            <a:r>
              <a:rPr sz="1200" i="1">
                <a:solidFill>
                  <a:srgbClr val="888888"/>
                </a:solidFill>
                <a:latin typeface="Consolas"/>
              </a:rPr>
              <a:t># ml: model probability, calibrated so scores match real rates</a:t>
            </a:r>
          </a:p>
          <a:p>
            <a:pPr>
              <a:spcAft>
                <a:spcPts val="0"/>
              </a:spcAft>
            </a:pPr>
            <a:r>
              <a:rPr sz="1200" i="0">
                <a:solidFill>
                  <a:srgbClr val="1A1A1A"/>
                </a:solidFill>
                <a:latin typeface="Consolas"/>
              </a:rPr>
              <a:t>ml = calibrated_logreg(tfidf(clean_text(text)))</a:t>
            </a:r>
          </a:p>
          <a:p>
            <a:pPr>
              <a:spcAft>
                <a:spcPts val="0"/>
              </a:spcAft>
            </a:pPr>
            <a:r>
              <a:rPr sz="1200" i="0">
                <a:solidFill>
                  <a:srgbClr val="1A1A1A"/>
                </a:solidFill>
                <a:latin typeface="Consolas"/>
              </a:rPr>
              <a:t>fused = 1 - (1 - kw) * (1 - ml)              # noisy-OR</a:t>
            </a:r>
          </a:p>
          <a:p>
            <a:pPr>
              <a:spcAft>
                <a:spcPts val="0"/>
              </a:spcAft>
            </a:pPr>
            <a:r>
              <a:rPr sz="1200" i="0">
                <a:solidFill>
                  <a:srgbClr val="1A1A1A"/>
                </a:solidFill>
                <a:latin typeface="Consolas"/>
              </a:rPr>
              <a:t>if same text in this session in last 8 s: skip as duplicate</a:t>
            </a:r>
          </a:p>
          <a:p>
            <a:pPr>
              <a:spcAft>
                <a:spcPts val="0"/>
              </a:spcAft>
            </a:pPr>
            <a:r>
              <a:rPr sz="1200" i="0">
                <a:solidFill>
                  <a:srgbClr val="1A1A1A"/>
                </a:solidFill>
                <a:latin typeface="Consolas"/>
              </a:rPr>
              <a:t>save (text, source, fused) in chat_messages</a:t>
            </a:r>
          </a:p>
          <a:p>
            <a:pPr>
              <a:spcAft>
                <a:spcPts val="0"/>
              </a:spcAft>
            </a:pPr>
            <a:r>
              <a:rPr sz="1200" i="0">
                <a:solidFill>
                  <a:srgbClr val="1A1A1A"/>
                </a:solidFill>
                <a:latin typeface="Consolas"/>
              </a:rPr>
              <a:t>if fused &gt;= 0.95:                            # CHAT_ALERT_T</a:t>
            </a:r>
          </a:p>
          <a:p>
            <a:pPr>
              <a:spcAft>
                <a:spcPts val="0"/>
              </a:spcAft>
            </a:pPr>
            <a:r>
              <a:rPr sz="1200" i="0">
                <a:solidFill>
                  <a:srgbClr val="1A1A1A"/>
                </a:solidFill>
                <a:latin typeface="Consolas"/>
              </a:rPr>
              <a:t>  severity = high if fused &gt;= 0.97 else medium</a:t>
            </a:r>
          </a:p>
          <a:p>
            <a:pPr>
              <a:spcAft>
                <a:spcPts val="0"/>
              </a:spcAft>
            </a:pPr>
            <a:r>
              <a:rPr sz="1200" i="0">
                <a:solidFill>
                  <a:srgbClr val="1A1A1A"/>
                </a:solidFill>
                <a:latin typeface="Consolas"/>
              </a:rPr>
              <a:t>  alert parents, nudge child (at most one nudge pending)</a:t>
            </a:r>
          </a:p>
          <a:p>
            <a:pPr>
              <a:spcAft>
                <a:spcPts val="0"/>
              </a:spcAft>
            </a:pPr>
            <a:r>
              <a:rPr sz="1200" i="0">
                <a:solidFill>
                  <a:srgbClr val="1A1A1A"/>
                </a:solidFill>
                <a:latin typeface="Consolas"/>
              </a:rPr>
              <a:t>if fused &gt;= 0.6:                             # CHAT_STREAK_BAR</a:t>
            </a:r>
          </a:p>
          <a:p>
            <a:pPr>
              <a:spcAft>
                <a:spcPts val="0"/>
              </a:spcAft>
            </a:pPr>
            <a:r>
              <a:rPr sz="1200" i="0">
                <a:solidFill>
                  <a:srgbClr val="1A1A1A"/>
                </a:solidFill>
                <a:latin typeface="Consolas"/>
              </a:rPr>
              <a:t>  n = lines in this session scoring &gt;= 0.6</a:t>
            </a:r>
          </a:p>
          <a:p>
            <a:pPr>
              <a:spcAft>
                <a:spcPts val="0"/>
              </a:spcAft>
            </a:pPr>
            <a:r>
              <a:rPr sz="1200" i="0">
                <a:solidFill>
                  <a:srgbClr val="1A1A1A"/>
                </a:solidFill>
                <a:latin typeface="Consolas"/>
              </a:rPr>
              <a:t>  if n &gt;= 3: raise ONE high streak alert per session</a:t>
            </a:r>
          </a:p>
          <a:p>
            <a:pPr>
              <a:spcAft>
                <a:spcPts val="0"/>
              </a:spcAft>
            </a:pPr>
            <a:r>
              <a:rPr sz="1200" i="1">
                <a:solidFill>
                  <a:srgbClr val="888888"/>
                </a:solidFill>
                <a:latin typeface="Consolas"/>
              </a:rPr>
              <a:t># Later, run_prediction() builds the session chat score</a:t>
            </a:r>
          </a:p>
          <a:p>
            <a:pPr>
              <a:spcAft>
                <a:spcPts val="0"/>
              </a:spcAft>
            </a:pPr>
            <a:r>
              <a:rPr sz="1200" i="0">
                <a:solidFill>
                  <a:srgbClr val="1A1A1A"/>
                </a:solidFill>
                <a:latin typeface="Consolas"/>
              </a:rPr>
              <a:t>typed = saved scores whose source is not voice_stt</a:t>
            </a:r>
          </a:p>
          <a:p>
            <a:pPr>
              <a:spcAft>
                <a:spcPts val="0"/>
              </a:spcAft>
            </a:pPr>
            <a:r>
              <a:rPr sz="1200" i="0">
                <a:solidFill>
                  <a:srgbClr val="1A1A1A"/>
                </a:solidFill>
                <a:latin typeface="Consolas"/>
              </a:rPr>
              <a:t>chat_score = max(typed)        # enters fusion with weight 0.30</a:t>
            </a:r>
          </a:p>
        </p:txBody>
      </p:sp>
      <p:sp>
        <p:nvSpPr>
          <p:cNvPr id="11" name="TextBox 10"/>
          <p:cNvSpPr txBox="1"/>
          <p:nvPr/>
        </p:nvSpPr>
        <p:spPr>
          <a:xfrm>
            <a:off x="7589520" y="1627632"/>
            <a:ext cx="4023360" cy="365760"/>
          </a:xfrm>
          <a:prstGeom prst="rect">
            <a:avLst/>
          </a:prstGeom>
          <a:noFill/>
        </p:spPr>
        <p:txBody>
          <a:bodyPr wrap="square" lIns="0" rIns="0">
            <a:spAutoFit/>
          </a:bodyPr>
          <a:lstStyle/>
          <a:p>
            <a:pPr algn="l"/>
            <a:r>
              <a:rPr sz="1500" b="1" i="0">
                <a:solidFill>
                  <a:srgbClr val="E07B1A"/>
                </a:solidFill>
                <a:latin typeface="Trebuchet MS"/>
              </a:rPr>
              <a:t>In plain words</a:t>
            </a:r>
          </a:p>
        </p:txBody>
      </p:sp>
      <p:sp>
        <p:nvSpPr>
          <p:cNvPr id="12" name="TextBox 11"/>
          <p:cNvSpPr txBox="1"/>
          <p:nvPr/>
        </p:nvSpPr>
        <p:spPr>
          <a:xfrm>
            <a:off x="7589520" y="2039112"/>
            <a:ext cx="4023360" cy="3474720"/>
          </a:xfrm>
          <a:prstGeom prst="rect">
            <a:avLst/>
          </a:prstGeom>
          <a:noFill/>
        </p:spPr>
        <p:txBody>
          <a:bodyPr wrap="square">
            <a:spAutoFit/>
          </a:bodyPr>
          <a:lstStyle/>
          <a:p>
            <a:pPr>
              <a:spcAft>
                <a:spcPts val="700"/>
              </a:spcAft>
            </a:pPr>
            <a:r>
              <a:rPr sz="1250" b="0">
                <a:solidFill>
                  <a:srgbClr val="1A1A1A"/>
                </a:solidFill>
                <a:latin typeface="Trebuchet MS"/>
              </a:rPr>
              <a:t>▪  Toxic lines are rare, about 3.5% of chat. At a 0.5 cutoff only 0.235 of alerts are right: three false alarms per real one.</a:t>
            </a:r>
          </a:p>
          <a:p>
            <a:pPr>
              <a:spcAft>
                <a:spcPts val="700"/>
              </a:spcAft>
            </a:pPr>
            <a:r>
              <a:rPr sz="1250" b="0">
                <a:solidFill>
                  <a:srgbClr val="1A1A1A"/>
                </a:solidFill>
                <a:latin typeface="Trebuchet MS"/>
              </a:rPr>
              <a:t>▪  So a single line alerts only at 0.95. On real game chat, precision is 0.956 (alerts right) and recall 0.428 (toxic lines caught).</a:t>
            </a:r>
          </a:p>
          <a:p>
            <a:pPr>
              <a:spcAft>
                <a:spcPts val="700"/>
              </a:spcAft>
            </a:pPr>
            <a:r>
              <a:rPr sz="1250" b="0">
                <a:solidFill>
                  <a:srgbClr val="1A1A1A"/>
                </a:solidFill>
                <a:latin typeface="Trebuchet MS"/>
              </a:rPr>
              <a:t>▪  The streak rule wins back missed abuse: three lines scoring 0.6 or more in one session raise one high alert.</a:t>
            </a:r>
          </a:p>
          <a:p>
            <a:pPr>
              <a:spcAft>
                <a:spcPts val="700"/>
              </a:spcAft>
            </a:pPr>
            <a:r>
              <a:rPr sz="1250" b="0">
                <a:solidFill>
                  <a:srgbClr val="1A1A1A"/>
                </a:solidFill>
                <a:latin typeface="Trebuchet MS"/>
              </a:rPr>
              <a:t>▪  Noisy-OR: the line counts as clean only if both detectors say clean, so the fused score is never below the stronger one.</a:t>
            </a:r>
          </a:p>
        </p:txBody>
      </p:sp>
      <p:sp>
        <p:nvSpPr>
          <p:cNvPr id="13" name="TextBox 12"/>
          <p:cNvSpPr txBox="1"/>
          <p:nvPr/>
        </p:nvSpPr>
        <p:spPr>
          <a:xfrm>
            <a:off x="7589520" y="5742432"/>
            <a:ext cx="4023360" cy="548640"/>
          </a:xfrm>
          <a:prstGeom prst="rect">
            <a:avLst/>
          </a:prstGeom>
          <a:noFill/>
        </p:spPr>
        <p:txBody>
          <a:bodyPr wrap="square" lIns="0" rIns="0">
            <a:spAutoFit/>
          </a:bodyPr>
          <a:lstStyle/>
          <a:p>
            <a:pPr algn="l"/>
            <a:r>
              <a:rPr sz="1000" b="0" i="1">
                <a:solidFill>
                  <a:srgbClr val="888888"/>
                </a:solidFill>
                <a:latin typeface="Trebuchet MS"/>
              </a:rPr>
              <a:t>Code: backend/app.py: save_chat(), fuse_toxicity(), run_prediction(); backend/text_utils.py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Algorithm &amp; Pseudocode</a:t>
            </a:r>
          </a:p>
        </p:txBody>
      </p:sp>
      <p:sp>
        <p:nvSpPr>
          <p:cNvPr id="5" name="TextBox 4"/>
          <p:cNvSpPr txBox="1"/>
          <p:nvPr/>
        </p:nvSpPr>
        <p:spPr>
          <a:xfrm>
            <a:off x="502920" y="1115568"/>
            <a:ext cx="10515600" cy="365760"/>
          </a:xfrm>
          <a:prstGeom prst="rect">
            <a:avLst/>
          </a:prstGeom>
          <a:noFill/>
        </p:spPr>
        <p:txBody>
          <a:bodyPr wrap="square" lIns="0" rIns="0">
            <a:spAutoFit/>
          </a:bodyPr>
          <a:lstStyle/>
          <a:p>
            <a:pPr algn="r"/>
            <a:r>
              <a:rPr sz="1500" b="1" i="0">
                <a:solidFill>
                  <a:srgbClr val="E07B1A"/>
                </a:solidFill>
                <a:latin typeface="Trebuchet MS"/>
              </a:rPr>
              <a:t>Algorithm 4 - Voice channel (on-device speech-to-text + emotion)</a:t>
            </a:r>
          </a:p>
        </p:txBody>
      </p:sp>
      <p:sp>
        <p:nvSpPr>
          <p:cNvPr id="6" name="Rectangle 5"/>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sp>
        <p:nvSpPr>
          <p:cNvPr id="9" name="Rectangle 8"/>
          <p:cNvSpPr/>
          <p:nvPr/>
        </p:nvSpPr>
        <p:spPr>
          <a:xfrm>
            <a:off x="548640" y="1627632"/>
            <a:ext cx="6812280" cy="4663440"/>
          </a:xfrm>
          <a:prstGeom prst="rect">
            <a:avLst/>
          </a:prstGeom>
          <a:solidFill>
            <a:srgbClr val="F7F4EF"/>
          </a:solidFill>
          <a:ln w="19050">
            <a:solidFill>
              <a:srgbClr val="E07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00784"/>
            <a:ext cx="6583680" cy="4553712"/>
          </a:xfrm>
          <a:prstGeom prst="rect">
            <a:avLst/>
          </a:prstGeom>
          <a:noFill/>
        </p:spPr>
        <p:txBody>
          <a:bodyPr wrap="square">
            <a:spAutoFit/>
          </a:bodyPr>
          <a:lstStyle/>
          <a:p>
            <a:pPr>
              <a:spcAft>
                <a:spcPts val="500"/>
              </a:spcAft>
            </a:pPr>
            <a:r>
              <a:rPr sz="1300" b="1">
                <a:solidFill>
                  <a:srgbClr val="E07B1A"/>
                </a:solidFill>
                <a:latin typeface="Trebuchet MS"/>
              </a:rPr>
              <a:t>Voice: from 10-second clip to session voice score</a:t>
            </a:r>
          </a:p>
          <a:p>
            <a:pPr>
              <a:spcAft>
                <a:spcPts val="0"/>
              </a:spcAft>
            </a:pPr>
            <a:r>
              <a:rPr sz="1200" i="1">
                <a:solidFill>
                  <a:srgbClr val="888888"/>
                </a:solidFill>
                <a:latin typeface="Consolas"/>
              </a:rPr>
              <a:t># Phone: only while the tracked game is in the foreground (16 kHz mic)</a:t>
            </a:r>
          </a:p>
          <a:p>
            <a:pPr>
              <a:spcAft>
                <a:spcPts val="0"/>
              </a:spcAft>
            </a:pPr>
            <a:r>
              <a:rPr sz="1200" i="0">
                <a:solidFill>
                  <a:srgbClr val="1A1A1A"/>
                </a:solidFill>
                <a:latin typeface="Consolas"/>
              </a:rPr>
              <a:t>for each phrase Vosk transcribes on the phone:</a:t>
            </a:r>
          </a:p>
          <a:p>
            <a:pPr>
              <a:spcAft>
                <a:spcPts val="0"/>
              </a:spcAft>
            </a:pPr>
            <a:r>
              <a:rPr sz="1200" i="0">
                <a:solidFill>
                  <a:srgbClr val="1A1A1A"/>
                </a:solidFill>
                <a:latin typeface="Consolas"/>
              </a:rPr>
              <a:t>  send text to /chat as voice_stt   # alert check, not the chat score</a:t>
            </a:r>
          </a:p>
          <a:p>
            <a:pPr>
              <a:spcAft>
                <a:spcPts val="0"/>
              </a:spcAft>
            </a:pPr>
            <a:r>
              <a:rPr sz="1200" i="0">
                <a:solidFill>
                  <a:srgbClr val="1A1A1A"/>
                </a:solidFill>
                <a:latin typeface="Consolas"/>
              </a:rPr>
              <a:t>every 10 s: send that audio as a WAV to /voice   # at most 2 MB</a:t>
            </a:r>
          </a:p>
          <a:p>
            <a:pPr>
              <a:spcAft>
                <a:spcPts val="0"/>
              </a:spcAft>
            </a:pPr>
            <a:r>
              <a:rPr sz="1200" i="1">
                <a:solidFill>
                  <a:srgbClr val="888888"/>
                </a:solidFill>
                <a:latin typeface="Consolas"/>
              </a:rPr>
              <a:t># Server: save_voice() -&gt; analyse_audio()</a:t>
            </a:r>
          </a:p>
          <a:p>
            <a:pPr>
              <a:spcAft>
                <a:spcPts val="0"/>
              </a:spcAft>
            </a:pPr>
            <a:r>
              <a:rPr sz="1200" i="0">
                <a:solidFill>
                  <a:srgbClr val="1A1A1A"/>
                </a:solidFill>
                <a:latin typeface="Consolas"/>
              </a:rPr>
              <a:t>if clip is silent or speech_ratio &lt; 0.1:  # VAD gate (webrtcvad)</a:t>
            </a:r>
          </a:p>
          <a:p>
            <a:pPr>
              <a:spcAft>
                <a:spcPts val="0"/>
              </a:spcAft>
            </a:pPr>
            <a:r>
              <a:rPr sz="1200" i="0">
                <a:solidFill>
                  <a:srgbClr val="1A1A1A"/>
                </a:solidFill>
                <a:latin typeface="Consolas"/>
              </a:rPr>
              <a:t>  store "no voice captured" and stop      # missing, not neutral</a:t>
            </a:r>
          </a:p>
          <a:p>
            <a:pPr>
              <a:spcAft>
                <a:spcPts val="0"/>
              </a:spcAft>
            </a:pPr>
            <a:r>
              <a:rPr sz="1200" i="0">
                <a:solidFill>
                  <a:srgbClr val="1A1A1A"/>
                </a:solidFill>
                <a:latin typeface="Consolas"/>
              </a:rPr>
              <a:t>f = 36 acoustic features (MFCC, pitch, energy, spectrum)</a:t>
            </a:r>
          </a:p>
          <a:p>
            <a:pPr>
              <a:spcAft>
                <a:spcPts val="0"/>
              </a:spcAft>
            </a:pPr>
            <a:r>
              <a:rPr sz="1200" i="0">
                <a:solidFill>
                  <a:srgbClr val="1A1A1A"/>
                </a:solidFill>
                <a:latin typeface="Consolas"/>
              </a:rPr>
              <a:t>p = HistGradientBoosting.predict_proba(f)  # 4 emotion probabilities</a:t>
            </a:r>
          </a:p>
          <a:p>
            <a:pPr>
              <a:spcAft>
                <a:spcPts val="0"/>
              </a:spcAft>
            </a:pPr>
            <a:r>
              <a:rPr sz="1200" i="0">
                <a:solidFill>
                  <a:srgbClr val="1A1A1A"/>
                </a:solidFill>
                <a:latin typeface="Consolas"/>
              </a:rPr>
              <a:t>words = voice_stt lines from the last 20 s</a:t>
            </a:r>
          </a:p>
          <a:p>
            <a:pPr>
              <a:spcAft>
                <a:spcPts val="0"/>
              </a:spcAft>
            </a:pPr>
            <a:r>
              <a:rPr sz="1200" i="1">
                <a:solidFill>
                  <a:srgbClr val="888888"/>
                </a:solidFill>
                <a:latin typeface="Consolas"/>
              </a:rPr>
              <a:t># fuse_emotion(): tone gives arousal, words give valence</a:t>
            </a:r>
          </a:p>
          <a:p>
            <a:pPr>
              <a:spcAft>
                <a:spcPts val="0"/>
              </a:spcAft>
            </a:pPr>
            <a:r>
              <a:rPr sz="1200" i="0">
                <a:solidFill>
                  <a:srgbClr val="1A1A1A"/>
                </a:solidFill>
                <a:latin typeface="Consolas"/>
              </a:rPr>
              <a:t>arousal = probability-weighted arousal of p   # calm vs animated</a:t>
            </a:r>
          </a:p>
          <a:p>
            <a:pPr>
              <a:spcAft>
                <a:spcPts val="0"/>
              </a:spcAft>
            </a:pPr>
            <a:r>
              <a:rPr sz="1200" i="0">
                <a:solidFill>
                  <a:srgbClr val="1A1A1A"/>
                </a:solidFill>
                <a:latin typeface="Consolas"/>
              </a:rPr>
              <a:t>valence = weighted blend(tone prior, word valence, word toxicity)</a:t>
            </a:r>
          </a:p>
          <a:p>
            <a:pPr>
              <a:spcAft>
                <a:spcPts val="0"/>
              </a:spcAft>
            </a:pPr>
            <a:r>
              <a:rPr sz="1200" i="0">
                <a:solidFill>
                  <a:srgbClr val="1A1A1A"/>
                </a:solidFill>
                <a:latin typeface="Consolas"/>
              </a:rPr>
              <a:t>emotion = nearest of 4 emotion points on the (valence, arousal) map</a:t>
            </a:r>
          </a:p>
          <a:p>
            <a:pPr>
              <a:spcAft>
                <a:spcPts val="0"/>
              </a:spcAft>
            </a:pPr>
            <a:r>
              <a:rPr sz="1200" i="0">
                <a:solidFill>
                  <a:srgbClr val="1A1A1A"/>
                </a:solidFill>
                <a:latin typeface="Consolas"/>
              </a:rPr>
              <a:t>intensity = max(p)</a:t>
            </a:r>
          </a:p>
          <a:p>
            <a:pPr>
              <a:spcAft>
                <a:spcPts val="0"/>
              </a:spcAft>
            </a:pPr>
            <a:r>
              <a:rPr sz="1200" i="0">
                <a:solidFill>
                  <a:srgbClr val="1A1A1A"/>
                </a:solidFill>
                <a:latin typeface="Consolas"/>
              </a:rPr>
              <a:t>delete the WAV, keep only (emotion, intensity, p)</a:t>
            </a:r>
          </a:p>
          <a:p>
            <a:pPr>
              <a:spcAft>
                <a:spcPts val="0"/>
              </a:spcAft>
            </a:pPr>
            <a:r>
              <a:rPr sz="1200" i="1">
                <a:solidFill>
                  <a:srgbClr val="888888"/>
                </a:solidFill>
                <a:latin typeface="Consolas"/>
              </a:rPr>
              <a:t># Session voice score in run_prediction()</a:t>
            </a:r>
          </a:p>
          <a:p>
            <a:pPr>
              <a:spcAft>
                <a:spcPts val="0"/>
              </a:spcAft>
            </a:pPr>
            <a:r>
              <a:rPr sz="1200" i="0">
                <a:solidFill>
                  <a:srgbClr val="1A1A1A"/>
                </a:solidFill>
                <a:latin typeface="Consolas"/>
              </a:rPr>
              <a:t>VOICE_RISK: angry 0.9, frustrated 0.7, excited 0.4, neutral 0.1</a:t>
            </a:r>
          </a:p>
          <a:p>
            <a:pPr>
              <a:spcAft>
                <a:spcPts val="0"/>
              </a:spcAft>
            </a:pPr>
            <a:r>
              <a:rPr sz="1200" i="0">
                <a:solidFill>
                  <a:srgbClr val="1A1A1A"/>
                </a:solidFill>
                <a:latin typeface="Consolas"/>
              </a:rPr>
              <a:t>v = mean over segments of VOICE_RISK[emotion] * intensity</a:t>
            </a:r>
          </a:p>
          <a:p>
            <a:pPr>
              <a:spcAft>
                <a:spcPts val="0"/>
              </a:spcAft>
            </a:pPr>
            <a:r>
              <a:rPr sz="1200" i="1">
                <a:solidFill>
                  <a:srgbClr val="888888"/>
                </a:solidFill>
                <a:latin typeface="Consolas"/>
              </a:rPr>
              <a:t># (if a WAV is still on disk: probability-weighted VOICE_RISK)</a:t>
            </a:r>
          </a:p>
        </p:txBody>
      </p:sp>
      <p:sp>
        <p:nvSpPr>
          <p:cNvPr id="11" name="TextBox 10"/>
          <p:cNvSpPr txBox="1"/>
          <p:nvPr/>
        </p:nvSpPr>
        <p:spPr>
          <a:xfrm>
            <a:off x="7589520" y="1627632"/>
            <a:ext cx="4023360" cy="365760"/>
          </a:xfrm>
          <a:prstGeom prst="rect">
            <a:avLst/>
          </a:prstGeom>
          <a:noFill/>
        </p:spPr>
        <p:txBody>
          <a:bodyPr wrap="square" lIns="0" rIns="0">
            <a:spAutoFit/>
          </a:bodyPr>
          <a:lstStyle/>
          <a:p>
            <a:pPr algn="l"/>
            <a:r>
              <a:rPr sz="1500" b="1" i="0">
                <a:solidFill>
                  <a:srgbClr val="E07B1A"/>
                </a:solidFill>
                <a:latin typeface="Trebuchet MS"/>
              </a:rPr>
              <a:t>In plain words</a:t>
            </a:r>
          </a:p>
        </p:txBody>
      </p:sp>
      <p:sp>
        <p:nvSpPr>
          <p:cNvPr id="12" name="TextBox 11"/>
          <p:cNvSpPr txBox="1"/>
          <p:nvPr/>
        </p:nvSpPr>
        <p:spPr>
          <a:xfrm>
            <a:off x="7589520" y="2039112"/>
            <a:ext cx="4023360" cy="3474720"/>
          </a:xfrm>
          <a:prstGeom prst="rect">
            <a:avLst/>
          </a:prstGeom>
          <a:noFill/>
        </p:spPr>
        <p:txBody>
          <a:bodyPr wrap="square">
            <a:spAutoFit/>
          </a:bodyPr>
          <a:lstStyle/>
          <a:p>
            <a:pPr>
              <a:spcAft>
                <a:spcPts val="700"/>
              </a:spcAft>
            </a:pPr>
            <a:r>
              <a:rPr sz="1250" b="0">
                <a:solidFill>
                  <a:srgbClr val="1A1A1A"/>
                </a:solidFill>
                <a:latin typeface="Trebuchet MS"/>
              </a:rPr>
              <a:t>▪  While the game is on screen, the phone sends two things: words transcribed on the phone itself, and 10-second audio clips, deleted after analysis.</a:t>
            </a:r>
          </a:p>
          <a:p>
            <a:pPr>
              <a:spcAft>
                <a:spcPts val="700"/>
              </a:spcAft>
            </a:pPr>
            <a:r>
              <a:rPr sz="1250" b="0">
                <a:solidFill>
                  <a:srgbClr val="1A1A1A"/>
                </a:solidFill>
                <a:latin typeface="Trebuchet MS"/>
              </a:rPr>
              <a:t>▪  Tone tells calm from animated. Words tell positive from negative. Combining them stops loud but happy speech from being read as angry.</a:t>
            </a:r>
          </a:p>
          <a:p>
            <a:pPr>
              <a:spcAft>
                <a:spcPts val="700"/>
              </a:spcAft>
            </a:pPr>
            <a:r>
              <a:rPr sz="1250" b="0">
                <a:solidFill>
                  <a:srgbClr val="1A1A1A"/>
                </a:solidFill>
                <a:latin typeface="Trebuchet MS"/>
              </a:rPr>
              <a:t>▪  Honest accuracy is 0.574 on four emotions, tested on speakers never seen in training. A random split showed 0.657 because the model memorised voices.</a:t>
            </a:r>
          </a:p>
          <a:p>
            <a:pPr>
              <a:spcAft>
                <a:spcPts val="700"/>
              </a:spcAft>
            </a:pPr>
            <a:r>
              <a:rPr sz="1250" b="0">
                <a:solidFill>
                  <a:srgbClr val="1A1A1A"/>
                </a:solidFill>
                <a:latin typeface="Trebuchet MS"/>
              </a:rPr>
              <a:t>▪  Training speech is acted adult emotion recorded in studios, not children gaming. So voice is only supporting evidence, weighted 0.30 in fusion.</a:t>
            </a:r>
          </a:p>
        </p:txBody>
      </p:sp>
      <p:sp>
        <p:nvSpPr>
          <p:cNvPr id="13" name="TextBox 12"/>
          <p:cNvSpPr txBox="1"/>
          <p:nvPr/>
        </p:nvSpPr>
        <p:spPr>
          <a:xfrm>
            <a:off x="7589520" y="5742432"/>
            <a:ext cx="4023360" cy="548640"/>
          </a:xfrm>
          <a:prstGeom prst="rect">
            <a:avLst/>
          </a:prstGeom>
          <a:noFill/>
        </p:spPr>
        <p:txBody>
          <a:bodyPr wrap="square" lIns="0" rIns="0">
            <a:spAutoFit/>
          </a:bodyPr>
          <a:lstStyle/>
          <a:p>
            <a:pPr algn="l"/>
            <a:r>
              <a:rPr sz="1000" b="0" i="1">
                <a:solidFill>
                  <a:srgbClr val="888888"/>
                </a:solidFill>
                <a:latin typeface="Trebuchet MS"/>
              </a:rPr>
              <a:t>Code: backend/app.py: save_voice(), analyse_audio(), fuse_emotion(), run_prediction()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Algorithm &amp; Pseudocode</a:t>
            </a:r>
          </a:p>
        </p:txBody>
      </p:sp>
      <p:sp>
        <p:nvSpPr>
          <p:cNvPr id="5" name="TextBox 4"/>
          <p:cNvSpPr txBox="1"/>
          <p:nvPr/>
        </p:nvSpPr>
        <p:spPr>
          <a:xfrm>
            <a:off x="502920" y="1115568"/>
            <a:ext cx="10515600" cy="365760"/>
          </a:xfrm>
          <a:prstGeom prst="rect">
            <a:avLst/>
          </a:prstGeom>
          <a:noFill/>
        </p:spPr>
        <p:txBody>
          <a:bodyPr wrap="square" lIns="0" rIns="0">
            <a:spAutoFit/>
          </a:bodyPr>
          <a:lstStyle/>
          <a:p>
            <a:pPr algn="r"/>
            <a:r>
              <a:rPr sz="1500" b="1" i="0">
                <a:solidFill>
                  <a:srgbClr val="E07B1A"/>
                </a:solidFill>
                <a:latin typeface="Trebuchet MS"/>
              </a:rPr>
              <a:t>Algorithm 5 - Fusion, risk band and parent alert</a:t>
            </a:r>
          </a:p>
        </p:txBody>
      </p:sp>
      <p:sp>
        <p:nvSpPr>
          <p:cNvPr id="6" name="Rectangle 5"/>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sp>
        <p:nvSpPr>
          <p:cNvPr id="9" name="Rectangle 8"/>
          <p:cNvSpPr/>
          <p:nvPr/>
        </p:nvSpPr>
        <p:spPr>
          <a:xfrm>
            <a:off x="548640" y="1627632"/>
            <a:ext cx="6812280" cy="4663440"/>
          </a:xfrm>
          <a:prstGeom prst="rect">
            <a:avLst/>
          </a:prstGeom>
          <a:solidFill>
            <a:srgbClr val="F7F4EF"/>
          </a:solidFill>
          <a:ln w="19050">
            <a:solidFill>
              <a:srgbClr val="E07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00784"/>
            <a:ext cx="6583680" cy="4553712"/>
          </a:xfrm>
          <a:prstGeom prst="rect">
            <a:avLst/>
          </a:prstGeom>
          <a:noFill/>
        </p:spPr>
        <p:txBody>
          <a:bodyPr wrap="square">
            <a:spAutoFit/>
          </a:bodyPr>
          <a:lstStyle/>
          <a:p>
            <a:pPr>
              <a:spcAft>
                <a:spcPts val="500"/>
              </a:spcAft>
            </a:pPr>
            <a:r>
              <a:rPr sz="1300" b="1">
                <a:solidFill>
                  <a:srgbClr val="E07B1A"/>
                </a:solidFill>
                <a:latin typeface="Trebuchet MS"/>
              </a:rPr>
              <a:t>Fuse the channels, pick a band, alert the parents</a:t>
            </a:r>
          </a:p>
          <a:p>
            <a:pPr>
              <a:spcAft>
                <a:spcPts val="0"/>
              </a:spcAft>
            </a:pPr>
            <a:r>
              <a:rPr sz="1200" i="1">
                <a:solidFill>
                  <a:srgbClr val="888888"/>
                </a:solidFill>
                <a:latin typeface="Consolas"/>
              </a:rPr>
              <a:t># 1. Fuse only the channels captured in this session</a:t>
            </a:r>
          </a:p>
          <a:p>
            <a:pPr>
              <a:spcAft>
                <a:spcPts val="0"/>
              </a:spcAft>
            </a:pPr>
            <a:r>
              <a:rPr sz="1200" i="0">
                <a:solidFill>
                  <a:srgbClr val="1A1A1A"/>
                </a:solidFill>
                <a:latin typeface="Consolas"/>
              </a:rPr>
              <a:t>parts = []</a:t>
            </a:r>
          </a:p>
          <a:p>
            <a:pPr>
              <a:spcAft>
                <a:spcPts val="0"/>
              </a:spcAft>
            </a:pPr>
            <a:r>
              <a:rPr sz="1200" i="0">
                <a:solidFill>
                  <a:srgbClr val="1A1A1A"/>
                </a:solidFill>
                <a:latin typeface="Consolas"/>
              </a:rPr>
              <a:t>if behaviour present: parts.append((0.40, b_score))</a:t>
            </a:r>
          </a:p>
          <a:p>
            <a:pPr>
              <a:spcAft>
                <a:spcPts val="0"/>
              </a:spcAft>
            </a:pPr>
            <a:r>
              <a:rPr sz="1200" i="0">
                <a:solidFill>
                  <a:srgbClr val="1A1A1A"/>
                </a:solidFill>
                <a:latin typeface="Consolas"/>
              </a:rPr>
              <a:t>if chat present:      parts.append((0.30, c_score))</a:t>
            </a:r>
          </a:p>
          <a:p>
            <a:pPr>
              <a:spcAft>
                <a:spcPts val="0"/>
              </a:spcAft>
            </a:pPr>
            <a:r>
              <a:rPr sz="1200" i="0">
                <a:solidFill>
                  <a:srgbClr val="1A1A1A"/>
                </a:solidFill>
                <a:latin typeface="Consolas"/>
              </a:rPr>
              <a:t>if voice present:     parts.append((0.30, v_score))</a:t>
            </a:r>
          </a:p>
          <a:p>
            <a:pPr>
              <a:spcAft>
                <a:spcPts val="0"/>
              </a:spcAft>
            </a:pPr>
            <a:r>
              <a:rPr sz="1200" i="0">
                <a:solidFill>
                  <a:srgbClr val="1A1A1A"/>
                </a:solidFill>
                <a:latin typeface="Consolas"/>
              </a:rPr>
              <a:t>if parts is empty: band = unknown          # no evidence, no score</a:t>
            </a:r>
          </a:p>
          <a:p>
            <a:pPr>
              <a:spcAft>
                <a:spcPts val="0"/>
              </a:spcAft>
            </a:pPr>
            <a:r>
              <a:rPr sz="1200" i="0">
                <a:solidFill>
                  <a:srgbClr val="1A1A1A"/>
                </a:solidFill>
                <a:latin typeface="Consolas"/>
              </a:rPr>
              <a:t>else:</a:t>
            </a:r>
          </a:p>
          <a:p>
            <a:pPr>
              <a:spcAft>
                <a:spcPts val="0"/>
              </a:spcAft>
            </a:pPr>
            <a:r>
              <a:rPr sz="1200" i="0">
                <a:solidFill>
                  <a:srgbClr val="1A1A1A"/>
                </a:solidFill>
                <a:latin typeface="Consolas"/>
              </a:rPr>
              <a:t>  score = sum(w * s) / sum(w) over parts   # renormalise</a:t>
            </a:r>
          </a:p>
          <a:p>
            <a:pPr>
              <a:spcAft>
                <a:spcPts val="0"/>
              </a:spcAft>
            </a:pPr>
            <a:r>
              <a:rPr sz="1200" i="0">
                <a:solidFill>
                  <a:srgbClr val="1A1A1A"/>
                </a:solidFill>
                <a:latin typeface="Consolas"/>
              </a:rPr>
              <a:t>  score = clip(score * genre_weight(game), 0, 1)  # 0.70 to 1.25</a:t>
            </a:r>
          </a:p>
          <a:p>
            <a:pPr>
              <a:spcAft>
                <a:spcPts val="0"/>
              </a:spcAft>
            </a:pPr>
            <a:r>
              <a:rPr sz="1200" i="0">
                <a:solidFill>
                  <a:srgbClr val="1A1A1A"/>
                </a:solidFill>
                <a:latin typeface="Consolas"/>
              </a:rPr>
              <a:t>  band = Low if score &lt; 0.33 else Some if score &lt; 0.67 else High</a:t>
            </a:r>
          </a:p>
          <a:p>
            <a:pPr>
              <a:spcAft>
                <a:spcPts val="0"/>
              </a:spcAft>
            </a:pPr>
            <a:r>
              <a:rPr sz="1200" i="0">
                <a:solidFill>
                  <a:srgbClr val="1A1A1A"/>
                </a:solidFill>
                <a:latin typeface="Consolas"/>
              </a:rPr>
              <a:t>if band == High and scored_sessions &lt; 3: band = Some  # observe</a:t>
            </a:r>
          </a:p>
          <a:p>
            <a:pPr>
              <a:spcAft>
                <a:spcPts val="0"/>
              </a:spcAft>
            </a:pPr>
            <a:r>
              <a:rPr sz="1200" i="0">
                <a:solidFill>
                  <a:srgbClr val="1A1A1A"/>
                </a:solidFill>
                <a:latin typeface="Consolas"/>
              </a:rPr>
              <a:t>save prediction(scores, band, which channels were present)</a:t>
            </a:r>
          </a:p>
          <a:p>
            <a:pPr>
              <a:spcAft>
                <a:spcPts val="0"/>
              </a:spcAft>
            </a:pPr>
            <a:r>
              <a:rPr sz="1200" i="1">
                <a:solidFill>
                  <a:srgbClr val="888888"/>
                </a:solidFill>
                <a:latin typeface="Consolas"/>
              </a:rPr>
              <a:t># 2. Alert the guardians (session end, or a late re-score)</a:t>
            </a:r>
          </a:p>
          <a:p>
            <a:pPr>
              <a:spcAft>
                <a:spcPts val="0"/>
              </a:spcAft>
            </a:pPr>
            <a:r>
              <a:rPr sz="1200" i="0">
                <a:solidFill>
                  <a:srgbClr val="1A1A1A"/>
                </a:solidFill>
                <a:latin typeface="Consolas"/>
              </a:rPr>
              <a:t>if band in (Some, High): severity = medium if Some else high</a:t>
            </a:r>
          </a:p>
          <a:p>
            <a:pPr>
              <a:spcAft>
                <a:spcPts val="0"/>
              </a:spcAft>
            </a:pPr>
            <a:r>
              <a:rPr sz="1200" i="0">
                <a:solidFill>
                  <a:srgbClr val="1A1A1A"/>
                </a:solidFill>
                <a:latin typeface="Consolas"/>
              </a:rPr>
              <a:t>elif revising and old_alert: edit old_alert as info and return</a:t>
            </a:r>
          </a:p>
          <a:p>
            <a:pPr>
              <a:spcAft>
                <a:spcPts val="0"/>
              </a:spcAft>
            </a:pPr>
            <a:r>
              <a:rPr sz="1200" i="0">
                <a:solidFill>
                  <a:srgbClr val="1A1A1A"/>
                </a:solidFill>
                <a:latin typeface="Consolas"/>
              </a:rPr>
              <a:t>else: return                                # Low or no data</a:t>
            </a:r>
          </a:p>
          <a:p>
            <a:pPr>
              <a:spcAft>
                <a:spcPts val="0"/>
              </a:spcAft>
            </a:pPr>
            <a:r>
              <a:rPr sz="1200" i="0">
                <a:solidFill>
                  <a:srgbClr val="1A1A1A"/>
                </a:solidFill>
                <a:latin typeface="Consolas"/>
              </a:rPr>
              <a:t>if old_alert and revising and severity rose: retire old, add new</a:t>
            </a:r>
          </a:p>
          <a:p>
            <a:pPr>
              <a:spcAft>
                <a:spcPts val="0"/>
              </a:spcAft>
            </a:pPr>
            <a:r>
              <a:rPr sz="1200" i="0">
                <a:solidFill>
                  <a:srgbClr val="1A1A1A"/>
                </a:solidFill>
                <a:latin typeface="Consolas"/>
              </a:rPr>
              <a:t>elif old_alert: edit old_alert in place     # no re-alarm</a:t>
            </a:r>
          </a:p>
          <a:p>
            <a:pPr>
              <a:spcAft>
                <a:spcPts val="0"/>
              </a:spcAft>
            </a:pPr>
            <a:r>
              <a:rPr sz="1200" i="0">
                <a:solidFill>
                  <a:srgbClr val="1A1A1A"/>
                </a:solidFill>
                <a:latin typeface="Consolas"/>
              </a:rPr>
              <a:t>else: insert new alert</a:t>
            </a:r>
          </a:p>
          <a:p>
            <a:pPr>
              <a:spcAft>
                <a:spcPts val="0"/>
              </a:spcAft>
            </a:pPr>
            <a:r>
              <a:rPr sz="1200" i="0">
                <a:solidFill>
                  <a:srgbClr val="1A1A1A"/>
                </a:solidFill>
                <a:latin typeface="Consolas"/>
              </a:rPr>
              <a:t>deliver to every guardian by polling, High also by FCM push</a:t>
            </a:r>
          </a:p>
        </p:txBody>
      </p:sp>
      <p:sp>
        <p:nvSpPr>
          <p:cNvPr id="11" name="TextBox 10"/>
          <p:cNvSpPr txBox="1"/>
          <p:nvPr/>
        </p:nvSpPr>
        <p:spPr>
          <a:xfrm>
            <a:off x="7589520" y="1627632"/>
            <a:ext cx="4023360" cy="365760"/>
          </a:xfrm>
          <a:prstGeom prst="rect">
            <a:avLst/>
          </a:prstGeom>
          <a:noFill/>
        </p:spPr>
        <p:txBody>
          <a:bodyPr wrap="square" lIns="0" rIns="0">
            <a:spAutoFit/>
          </a:bodyPr>
          <a:lstStyle/>
          <a:p>
            <a:pPr algn="l"/>
            <a:r>
              <a:rPr sz="1500" b="1" i="0">
                <a:solidFill>
                  <a:srgbClr val="E07B1A"/>
                </a:solidFill>
                <a:latin typeface="Trebuchet MS"/>
              </a:rPr>
              <a:t>In plain words</a:t>
            </a:r>
          </a:p>
        </p:txBody>
      </p:sp>
      <p:sp>
        <p:nvSpPr>
          <p:cNvPr id="12" name="TextBox 11"/>
          <p:cNvSpPr txBox="1"/>
          <p:nvPr/>
        </p:nvSpPr>
        <p:spPr>
          <a:xfrm>
            <a:off x="7589520" y="2039112"/>
            <a:ext cx="4023360" cy="3474720"/>
          </a:xfrm>
          <a:prstGeom prst="rect">
            <a:avLst/>
          </a:prstGeom>
          <a:noFill/>
        </p:spPr>
        <p:txBody>
          <a:bodyPr wrap="square">
            <a:spAutoFit/>
          </a:bodyPr>
          <a:lstStyle/>
          <a:p>
            <a:pPr>
              <a:spcAft>
                <a:spcPts val="700"/>
              </a:spcAft>
            </a:pPr>
            <a:r>
              <a:rPr sz="1250" b="0">
                <a:solidFill>
                  <a:srgbClr val="1A1A1A"/>
                </a:solidFill>
                <a:latin typeface="Trebuchet MS"/>
              </a:rPr>
              <a:t>▪  Renormalising means we average only the channels we have. A placeholder for a missing channel would add fake risk to silent or chat-less games.</a:t>
            </a:r>
          </a:p>
          <a:p>
            <a:pPr>
              <a:spcAft>
                <a:spcPts val="700"/>
              </a:spcAft>
            </a:pPr>
            <a:r>
              <a:rPr sz="1250" b="0">
                <a:solidFill>
                  <a:srgbClr val="1A1A1A"/>
                </a:solidFill>
                <a:latin typeface="Trebuchet MS"/>
              </a:rPr>
              <a:t>▪  Observation mode: with fewer than 3 scored sessions, High concern is capped to Some concern. One session is too little evidence.</a:t>
            </a:r>
          </a:p>
          <a:p>
            <a:pPr>
              <a:spcAft>
                <a:spcPts val="700"/>
              </a:spcAft>
            </a:pPr>
            <a:r>
              <a:rPr sz="1250" b="0">
                <a:solidFill>
                  <a:srgbClr val="1A1A1A"/>
                </a:solidFill>
                <a:latin typeface="Trebuchet MS"/>
              </a:rPr>
              <a:t>▪  Weights 0.40, 0.30, 0.30 are hand-set from clinical definitions, which centre on behaviour. They are not learned, only stress-tested by shifting each by 0.15.</a:t>
            </a:r>
          </a:p>
          <a:p>
            <a:pPr>
              <a:spcAft>
                <a:spcPts val="700"/>
              </a:spcAft>
            </a:pPr>
            <a:r>
              <a:rPr sz="1250" b="0">
                <a:solidFill>
                  <a:srgbClr val="1A1A1A"/>
                </a:solidFill>
                <a:latin typeface="Trebuchet MS"/>
              </a:rPr>
              <a:t>▪  The genre multiplier is our weakest part. The survey found no genre effect (p 0.598), but it was too small to rule one out.</a:t>
            </a:r>
          </a:p>
        </p:txBody>
      </p:sp>
      <p:sp>
        <p:nvSpPr>
          <p:cNvPr id="13" name="TextBox 12"/>
          <p:cNvSpPr txBox="1"/>
          <p:nvPr/>
        </p:nvSpPr>
        <p:spPr>
          <a:xfrm>
            <a:off x="7589520" y="5742432"/>
            <a:ext cx="4023360" cy="548640"/>
          </a:xfrm>
          <a:prstGeom prst="rect">
            <a:avLst/>
          </a:prstGeom>
          <a:noFill/>
        </p:spPr>
        <p:txBody>
          <a:bodyPr wrap="square" lIns="0" rIns="0">
            <a:spAutoFit/>
          </a:bodyPr>
          <a:lstStyle/>
          <a:p>
            <a:pPr algn="l"/>
            <a:r>
              <a:rPr sz="1000" b="0" i="1">
                <a:solidFill>
                  <a:srgbClr val="888888"/>
                </a:solidFill>
                <a:latin typeface="Trebuchet MS"/>
              </a:rPr>
              <a:t>Code: backend/app.py: run_prediction(), _maybe_create_alert(), _push_high_risk()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Design Approach</a:t>
            </a:r>
          </a:p>
        </p:txBody>
      </p:sp>
      <p:sp>
        <p:nvSpPr>
          <p:cNvPr id="5" name="TextBox 4"/>
          <p:cNvSpPr txBox="1"/>
          <p:nvPr/>
        </p:nvSpPr>
        <p:spPr>
          <a:xfrm>
            <a:off x="502920" y="1115568"/>
            <a:ext cx="10515600" cy="365760"/>
          </a:xfrm>
          <a:prstGeom prst="rect">
            <a:avLst/>
          </a:prstGeom>
          <a:noFill/>
        </p:spPr>
        <p:txBody>
          <a:bodyPr wrap="square" lIns="0" rIns="0">
            <a:spAutoFit/>
          </a:bodyPr>
          <a:lstStyle/>
          <a:p>
            <a:pPr algn="r"/>
            <a:r>
              <a:rPr sz="1500" b="1" i="0">
                <a:solidFill>
                  <a:srgbClr val="E07B1A"/>
                </a:solidFill>
                <a:latin typeface="Trebuchet MS"/>
              </a:rPr>
              <a:t>What we followed and why</a:t>
            </a:r>
          </a:p>
        </p:txBody>
      </p:sp>
      <p:sp>
        <p:nvSpPr>
          <p:cNvPr id="6" name="Rectangle 5"/>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sp>
        <p:nvSpPr>
          <p:cNvPr id="9" name="Rounded Rectangle 8"/>
          <p:cNvSpPr/>
          <p:nvPr/>
        </p:nvSpPr>
        <p:spPr>
          <a:xfrm>
            <a:off x="548640" y="1673352"/>
            <a:ext cx="5394960" cy="4069080"/>
          </a:xfrm>
          <a:prstGeom prst="roundRect">
            <a:avLst>
              <a:gd name="adj" fmla="val 4000"/>
            </a:avLst>
          </a:prstGeom>
          <a:solidFill>
            <a:srgbClr val="FBF3EA"/>
          </a:solidFill>
          <a:ln w="22225">
            <a:solidFill>
              <a:srgbClr val="E07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783080"/>
            <a:ext cx="5029200" cy="411480"/>
          </a:xfrm>
          <a:prstGeom prst="rect">
            <a:avLst/>
          </a:prstGeom>
          <a:noFill/>
        </p:spPr>
        <p:txBody>
          <a:bodyPr wrap="square" lIns="0" rIns="0">
            <a:spAutoFit/>
          </a:bodyPr>
          <a:lstStyle/>
          <a:p>
            <a:pPr algn="l"/>
            <a:r>
              <a:rPr sz="1600" b="1" i="0">
                <a:solidFill>
                  <a:srgbClr val="E07B1A"/>
                </a:solidFill>
                <a:latin typeface="Trebuchet MS"/>
              </a:rPr>
              <a:t>Approach followed</a:t>
            </a:r>
          </a:p>
        </p:txBody>
      </p:sp>
      <p:sp>
        <p:nvSpPr>
          <p:cNvPr id="11" name="TextBox 10"/>
          <p:cNvSpPr txBox="1"/>
          <p:nvPr/>
        </p:nvSpPr>
        <p:spPr>
          <a:xfrm>
            <a:off x="731520" y="2240280"/>
            <a:ext cx="5029200" cy="3383280"/>
          </a:xfrm>
          <a:prstGeom prst="rect">
            <a:avLst/>
          </a:prstGeom>
          <a:noFill/>
        </p:spPr>
        <p:txBody>
          <a:bodyPr wrap="square">
            <a:spAutoFit/>
          </a:bodyPr>
          <a:lstStyle/>
          <a:p>
            <a:pPr>
              <a:spcAft>
                <a:spcPts val="700"/>
              </a:spcAft>
            </a:pPr>
            <a:r>
              <a:rPr sz="1300" b="0">
                <a:solidFill>
                  <a:srgbClr val="1A1A1A"/>
                </a:solidFill>
                <a:latin typeface="Trebuchet MS"/>
              </a:rPr>
              <a:t>▪  </a:t>
            </a:r>
            <a:r>
              <a:rPr sz="1300" b="1">
                <a:solidFill>
                  <a:srgbClr val="1A1A1A"/>
                </a:solidFill>
                <a:latin typeface="Trebuchet MS"/>
              </a:rPr>
              <a:t>Modular three-tier design:</a:t>
            </a:r>
            <a:r>
              <a:rPr sz="1300" b="0">
                <a:solidFill>
                  <a:srgbClr val="1A1A1A"/>
                </a:solidFill>
                <a:latin typeface="Trebuchet MS"/>
              </a:rPr>
              <a:t> a ChildApp captures, a Flask server on Render scores, and a ParentApp explains. Each tier can change on its own.</a:t>
            </a:r>
          </a:p>
          <a:p>
            <a:pPr>
              <a:spcAft>
                <a:spcPts val="700"/>
              </a:spcAft>
            </a:pPr>
            <a:r>
              <a:rPr sz="1300" b="0">
                <a:solidFill>
                  <a:srgbClr val="1A1A1A"/>
                </a:solidFill>
                <a:latin typeface="Trebuchet MS"/>
              </a:rPr>
              <a:t>▪  </a:t>
            </a:r>
            <a:r>
              <a:rPr sz="1300" b="1">
                <a:solidFill>
                  <a:srgbClr val="1A1A1A"/>
                </a:solidFill>
                <a:latin typeface="Trebuchet MS"/>
              </a:rPr>
              <a:t>Late fusion:</a:t>
            </a:r>
            <a:r>
              <a:rPr sz="1300" b="0">
                <a:solidFill>
                  <a:srgbClr val="1A1A1A"/>
                </a:solidFill>
                <a:latin typeface="Trebuchet MS"/>
              </a:rPr>
              <a:t> three separate models (behaviour, chat, voice) each produce a score, and only those scores are combined into one band.</a:t>
            </a:r>
          </a:p>
          <a:p>
            <a:pPr>
              <a:spcAft>
                <a:spcPts val="700"/>
              </a:spcAft>
            </a:pPr>
            <a:r>
              <a:rPr sz="1300" b="0">
                <a:solidFill>
                  <a:srgbClr val="1A1A1A"/>
                </a:solidFill>
                <a:latin typeface="Trebuchet MS"/>
              </a:rPr>
              <a:t>▪  </a:t>
            </a:r>
            <a:r>
              <a:rPr sz="1300" b="1">
                <a:solidFill>
                  <a:srgbClr val="1A1A1A"/>
                </a:solidFill>
                <a:latin typeface="Trebuchet MS"/>
              </a:rPr>
              <a:t>Measured inputs only:</a:t>
            </a:r>
            <a:r>
              <a:rPr sz="1300" b="0">
                <a:solidFill>
                  <a:srgbClr val="1A1A1A"/>
                </a:solidFill>
                <a:latin typeface="Trebuchet MS"/>
              </a:rPr>
              <a:t> the behaviour model uses 10 features computed from play-session timing, and training and live scoring share one feature function.</a:t>
            </a:r>
          </a:p>
          <a:p>
            <a:pPr>
              <a:spcAft>
                <a:spcPts val="700"/>
              </a:spcAft>
            </a:pPr>
            <a:r>
              <a:rPr sz="1300" b="0">
                <a:solidFill>
                  <a:srgbClr val="1A1A1A"/>
                </a:solidFill>
                <a:latin typeface="Trebuchet MS"/>
              </a:rPr>
              <a:t>▪  </a:t>
            </a:r>
            <a:r>
              <a:rPr sz="1300" b="1">
                <a:solidFill>
                  <a:srgbClr val="1A1A1A"/>
                </a:solidFill>
                <a:latin typeface="Trebuchet MS"/>
              </a:rPr>
              <a:t>Privacy by design:</a:t>
            </a:r>
            <a:r>
              <a:rPr sz="1300" b="0">
                <a:solidFill>
                  <a:srgbClr val="1A1A1A"/>
                </a:solidFill>
                <a:latin typeface="Trebuchet MS"/>
              </a:rPr>
              <a:t> on-phone speech-to-text, raw audio deleted after feature extraction, no data accepted without parent consent, no screen recording.</a:t>
            </a:r>
          </a:p>
          <a:p>
            <a:pPr>
              <a:spcAft>
                <a:spcPts val="700"/>
              </a:spcAft>
            </a:pPr>
            <a:r>
              <a:rPr sz="1300" b="0">
                <a:solidFill>
                  <a:srgbClr val="1A1A1A"/>
                </a:solidFill>
                <a:latin typeface="Trebuchet MS"/>
              </a:rPr>
              <a:t>▪  </a:t>
            </a:r>
            <a:r>
              <a:rPr sz="1300" b="1">
                <a:solidFill>
                  <a:srgbClr val="1A1A1A"/>
                </a:solidFill>
                <a:latin typeface="Trebuchet MS"/>
              </a:rPr>
              <a:t>Evaluation-driven:</a:t>
            </a:r>
            <a:r>
              <a:rPr sz="1300" b="0">
                <a:solidFill>
                  <a:srgbClr val="1A1A1A"/>
                </a:solidFill>
                <a:latin typeface="Trebuchet MS"/>
              </a:rPr>
              <a:t> each major choice was tested against a measured alternative, such as a removed feature, a removed dataset or a different model.</a:t>
            </a:r>
          </a:p>
        </p:txBody>
      </p:sp>
      <p:sp>
        <p:nvSpPr>
          <p:cNvPr id="12" name="Rounded Rectangle 11"/>
          <p:cNvSpPr/>
          <p:nvPr/>
        </p:nvSpPr>
        <p:spPr>
          <a:xfrm>
            <a:off x="6217920" y="1673352"/>
            <a:ext cx="5394960" cy="4069080"/>
          </a:xfrm>
          <a:prstGeom prst="roundRect">
            <a:avLst>
              <a:gd name="adj" fmla="val 4000"/>
            </a:avLst>
          </a:prstGeom>
          <a:solidFill>
            <a:srgbClr val="FBF3EA"/>
          </a:solidFill>
          <a:ln w="22225">
            <a:solidFill>
              <a:srgbClr val="E07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83080"/>
            <a:ext cx="5029200" cy="411480"/>
          </a:xfrm>
          <a:prstGeom prst="rect">
            <a:avLst/>
          </a:prstGeom>
          <a:noFill/>
        </p:spPr>
        <p:txBody>
          <a:bodyPr wrap="square" lIns="0" rIns="0">
            <a:spAutoFit/>
          </a:bodyPr>
          <a:lstStyle/>
          <a:p>
            <a:pPr algn="l"/>
            <a:r>
              <a:rPr sz="1600" b="1" i="0">
                <a:solidFill>
                  <a:srgbClr val="E07B1A"/>
                </a:solidFill>
                <a:latin typeface="Trebuchet MS"/>
              </a:rPr>
              <a:t>Why</a:t>
            </a:r>
          </a:p>
        </p:txBody>
      </p:sp>
      <p:sp>
        <p:nvSpPr>
          <p:cNvPr id="14" name="TextBox 13"/>
          <p:cNvSpPr txBox="1"/>
          <p:nvPr/>
        </p:nvSpPr>
        <p:spPr>
          <a:xfrm>
            <a:off x="6400800" y="2240280"/>
            <a:ext cx="5029200" cy="3383280"/>
          </a:xfrm>
          <a:prstGeom prst="rect">
            <a:avLst/>
          </a:prstGeom>
          <a:noFill/>
        </p:spPr>
        <p:txBody>
          <a:bodyPr wrap="square">
            <a:spAutoFit/>
          </a:bodyPr>
          <a:lstStyle/>
          <a:p>
            <a:pPr>
              <a:spcAft>
                <a:spcPts val="700"/>
              </a:spcAft>
            </a:pPr>
            <a:r>
              <a:rPr sz="1300" b="0">
                <a:solidFill>
                  <a:srgbClr val="1A1A1A"/>
                </a:solidFill>
                <a:latin typeface="Trebuchet MS"/>
              </a:rPr>
              <a:t>▪  Channels fail on their own and arrive at different times. A missing channel is left out, not filled with a fake value.</a:t>
            </a:r>
          </a:p>
          <a:p>
            <a:pPr>
              <a:spcAft>
                <a:spcPts val="700"/>
              </a:spcAft>
            </a:pPr>
            <a:r>
              <a:rPr sz="1300" b="0">
                <a:solidFill>
                  <a:srgbClr val="1A1A1A"/>
                </a:solidFill>
                <a:latin typeface="Trebuchet MS"/>
              </a:rPr>
              <a:t>▪  Parents need reasons, not just a number. SHAP (it splits one prediction into per-feature shares) names the top behaviour reasons.</a:t>
            </a:r>
          </a:p>
          <a:p>
            <a:pPr>
              <a:spcAft>
                <a:spcPts val="700"/>
              </a:spcAft>
            </a:pPr>
            <a:r>
              <a:rPr sz="1300" b="0">
                <a:solidFill>
                  <a:srgbClr val="1A1A1A"/>
                </a:solidFill>
                <a:latin typeface="Trebuchet MS"/>
              </a:rPr>
              <a:t>▪  It must run on mid-range phones and a free 512 MB server, so every scoring model is a small classical model, not deep learning.</a:t>
            </a:r>
          </a:p>
          <a:p>
            <a:pPr>
              <a:spcAft>
                <a:spcPts val="700"/>
              </a:spcAft>
            </a:pPr>
            <a:r>
              <a:rPr sz="1300" b="0">
                <a:solidFill>
                  <a:srgbClr val="1A1A1A"/>
                </a:solidFill>
                <a:latin typeface="Trebuchet MS"/>
              </a:rPr>
              <a:t>▪  Users are minors, so the system keeps as little as it can. Voice is kept as features and a label, never as a recording.</a:t>
            </a:r>
          </a:p>
          <a:p>
            <a:pPr>
              <a:spcAft>
                <a:spcPts val="700"/>
              </a:spcAft>
            </a:pPr>
            <a:r>
              <a:rPr sz="1300" b="0">
                <a:solidFill>
                  <a:srgbClr val="1A1A1A"/>
                </a:solidFill>
                <a:latin typeface="Trebuchet MS"/>
              </a:rPr>
              <a:t>▪  Claims must be checkable. Each comparison can be rerun, and automated tests check that numbers quoted in the paper match the data.</a:t>
            </a:r>
          </a:p>
        </p:txBody>
      </p:sp>
      <p:sp>
        <p:nvSpPr>
          <p:cNvPr id="15" name="TextBox 14"/>
          <p:cNvSpPr txBox="1"/>
          <p:nvPr/>
        </p:nvSpPr>
        <p:spPr>
          <a:xfrm>
            <a:off x="548640" y="5852160"/>
            <a:ext cx="11064240" cy="457200"/>
          </a:xfrm>
          <a:prstGeom prst="rect">
            <a:avLst/>
          </a:prstGeom>
          <a:noFill/>
        </p:spPr>
        <p:txBody>
          <a:bodyPr wrap="square" lIns="0" rIns="0">
            <a:spAutoFit/>
          </a:bodyPr>
          <a:lstStyle/>
          <a:p>
            <a:pPr algn="ctr"/>
            <a:r>
              <a:rPr sz="1300" b="0" i="1">
                <a:solidFill>
                  <a:srgbClr val="5A2E0E"/>
                </a:solidFill>
                <a:latin typeface="Trebuchet MS"/>
              </a:rPr>
              <a:t>Benefit: each channel can be tested, explained and replaced alone. Drawback: channel interactions are never learned, and fusion weights are set by hand, then checked by shifting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Design Approach</a:t>
            </a:r>
          </a:p>
        </p:txBody>
      </p:sp>
      <p:sp>
        <p:nvSpPr>
          <p:cNvPr id="5" name="TextBox 4"/>
          <p:cNvSpPr txBox="1"/>
          <p:nvPr/>
        </p:nvSpPr>
        <p:spPr>
          <a:xfrm>
            <a:off x="502920" y="1115568"/>
            <a:ext cx="10515600" cy="365760"/>
          </a:xfrm>
          <a:prstGeom prst="rect">
            <a:avLst/>
          </a:prstGeom>
          <a:noFill/>
        </p:spPr>
        <p:txBody>
          <a:bodyPr wrap="square" lIns="0" rIns="0">
            <a:spAutoFit/>
          </a:bodyPr>
          <a:lstStyle/>
          <a:p>
            <a:pPr algn="r"/>
            <a:r>
              <a:rPr sz="1500" b="1" i="0">
                <a:solidFill>
                  <a:srgbClr val="E07B1A"/>
                </a:solidFill>
                <a:latin typeface="Trebuchet MS"/>
              </a:rPr>
              <a:t>Benefits, drawbacks and alternatives considered</a:t>
            </a:r>
          </a:p>
        </p:txBody>
      </p:sp>
      <p:sp>
        <p:nvSpPr>
          <p:cNvPr id="6" name="Rectangle 5"/>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graphicFrame>
        <p:nvGraphicFramePr>
          <p:cNvPr id="9" name="Table 8"/>
          <p:cNvGraphicFramePr>
            <a:graphicFrameLocks noGrp="1"/>
          </p:cNvGraphicFramePr>
          <p:nvPr/>
        </p:nvGraphicFramePr>
        <p:xfrm>
          <a:off x="548640" y="1627632"/>
          <a:ext cx="11064240" cy="2432304"/>
        </p:xfrm>
        <a:graphic>
          <a:graphicData uri="http://schemas.openxmlformats.org/drawingml/2006/table">
            <a:tbl>
              <a:tblPr firstRow="1" bandRow="1">
                <a:tableStyleId>{5C22544A-7EE6-4342-B048-85BDC9FD1C3A}</a:tableStyleId>
              </a:tblPr>
              <a:tblGrid>
                <a:gridCol w="2743200"/>
                <a:gridCol w="4754880"/>
                <a:gridCol w="3566160"/>
              </a:tblGrid>
              <a:tr h="347472">
                <a:tc>
                  <a:txBody>
                    <a:bodyPr wrap="square"/>
                    <a:lstStyle/>
                    <a:p>
                      <a:r>
                        <a:rPr sz="1100" b="0">
                          <a:solidFill>
                            <a:srgbClr val="FFFFFF"/>
                          </a:solidFill>
                          <a:latin typeface="Trebuchet MS"/>
                        </a:rPr>
                        <a:t>Alternative considered</a:t>
                      </a:r>
                    </a:p>
                  </a:txBody>
                  <a:tcPr marL="64008" marR="64008" marT="36576" marB="36576">
                    <a:solidFill>
                      <a:srgbClr val="E07B1A"/>
                    </a:solidFill>
                  </a:tcPr>
                </a:tc>
                <a:tc>
                  <a:txBody>
                    <a:bodyPr wrap="square"/>
                    <a:lstStyle/>
                    <a:p>
                      <a:r>
                        <a:rPr sz="1100" b="0">
                          <a:solidFill>
                            <a:srgbClr val="FFFFFF"/>
                          </a:solidFill>
                          <a:latin typeface="Trebuchet MS"/>
                        </a:rPr>
                        <a:t>Why we did not choose it</a:t>
                      </a:r>
                    </a:p>
                  </a:txBody>
                  <a:tcPr marL="64008" marR="64008" marT="36576" marB="36576">
                    <a:solidFill>
                      <a:srgbClr val="E07B1A"/>
                    </a:solidFill>
                  </a:tcPr>
                </a:tc>
                <a:tc>
                  <a:txBody>
                    <a:bodyPr wrap="square"/>
                    <a:lstStyle/>
                    <a:p>
                      <a:r>
                        <a:rPr sz="1100" b="0">
                          <a:solidFill>
                            <a:srgbClr val="FFFFFF"/>
                          </a:solidFill>
                          <a:latin typeface="Trebuchet MS"/>
                        </a:rPr>
                        <a:t>What we gave up</a:t>
                      </a:r>
                    </a:p>
                  </a:txBody>
                  <a:tcPr marL="64008" marR="64008" marT="36576" marB="36576">
                    <a:solidFill>
                      <a:srgbClr val="E07B1A"/>
                    </a:solidFill>
                  </a:tcPr>
                </a:tc>
              </a:tr>
              <a:tr h="347472">
                <a:tc>
                  <a:txBody>
                    <a:bodyPr wrap="square"/>
                    <a:lstStyle/>
                    <a:p>
                      <a:r>
                        <a:rPr sz="1100" b="0">
                          <a:solidFill>
                            <a:srgbClr val="1A1A1A"/>
                          </a:solidFill>
                          <a:latin typeface="Trebuchet MS"/>
                        </a:rPr>
                        <a:t>One deep model over all signals</a:t>
                      </a:r>
                    </a:p>
                  </a:txBody>
                  <a:tcPr marL="64008" marR="64008" marT="36576" marB="36576">
                    <a:solidFill>
                      <a:srgbClr val="FBF3EA"/>
                    </a:solidFill>
                  </a:tcPr>
                </a:tc>
                <a:tc>
                  <a:txBody>
                    <a:bodyPr wrap="square"/>
                    <a:lstStyle/>
                    <a:p>
                      <a:r>
                        <a:rPr sz="1100" b="0">
                          <a:solidFill>
                            <a:srgbClr val="1A1A1A"/>
                          </a:solidFill>
                          <a:latin typeface="Trebuchet MS"/>
                        </a:rPr>
                        <a:t>No public dataset pairs phone play data with gaming-disorder labels. Small separate models are easier to measure, explain and serve.</a:t>
                      </a:r>
                    </a:p>
                  </a:txBody>
                  <a:tcPr marL="64008" marR="64008" marT="36576" marB="36576">
                    <a:solidFill>
                      <a:srgbClr val="FBF3EA"/>
                    </a:solidFill>
                  </a:tcPr>
                </a:tc>
                <a:tc>
                  <a:txBody>
                    <a:bodyPr wrap="square"/>
                    <a:lstStyle/>
                    <a:p>
                      <a:r>
                        <a:rPr sz="1100" b="0">
                          <a:solidFill>
                            <a:srgbClr val="1A1A1A"/>
                          </a:solidFill>
                          <a:latin typeface="Trebuchet MS"/>
                        </a:rPr>
                        <a:t>Patterns visible only when signals are learned together.</a:t>
                      </a:r>
                    </a:p>
                  </a:txBody>
                  <a:tcPr marL="64008" marR="64008" marT="36576" marB="36576">
                    <a:solidFill>
                      <a:srgbClr val="FBF3EA"/>
                    </a:solidFill>
                  </a:tcPr>
                </a:tc>
              </a:tr>
              <a:tr h="347472">
                <a:tc>
                  <a:txBody>
                    <a:bodyPr wrap="square"/>
                    <a:lstStyle/>
                    <a:p>
                      <a:r>
                        <a:rPr sz="1100" b="0">
                          <a:solidFill>
                            <a:srgbClr val="1A1A1A"/>
                          </a:solidFill>
                          <a:latin typeface="Trebuchet MS"/>
                        </a:rPr>
                        <a:t>Transformer chat model (toxic-BERT)</a:t>
                      </a:r>
                    </a:p>
                  </a:txBody>
                  <a:tcPr marL="64008" marR="64008" marT="36576" marB="36576">
                    <a:solidFill>
                      <a:srgbClr val="FFFFFF"/>
                    </a:solidFill>
                  </a:tcPr>
                </a:tc>
                <a:tc>
                  <a:txBody>
                    <a:bodyPr wrap="square"/>
                    <a:lstStyle/>
                    <a:p>
                      <a:r>
                        <a:rPr sz="1100" b="0">
                          <a:solidFill>
                            <a:srgbClr val="1A1A1A"/>
                          </a:solidFill>
                          <a:latin typeface="Trebuchet MS"/>
                        </a:rPr>
                        <a:t>On real in-game chat it scored 0.709 PR-AUC (toxic-ranking quality, 1.0 is perfect) against our 0.825. It would also be slow on our GPU-free 512 MB server.</a:t>
                      </a:r>
                    </a:p>
                  </a:txBody>
                  <a:tcPr marL="64008" marR="64008" marT="36576" marB="36576">
                    <a:solidFill>
                      <a:srgbClr val="FFFFFF"/>
                    </a:solidFill>
                  </a:tcPr>
                </a:tc>
                <a:tc>
                  <a:txBody>
                    <a:bodyPr wrap="square"/>
                    <a:lstStyle/>
                    <a:p>
                      <a:r>
                        <a:rPr sz="1100" b="0">
                          <a:solidFill>
                            <a:srgbClr val="1A1A1A"/>
                          </a:solidFill>
                          <a:latin typeface="Trebuchet MS"/>
                        </a:rPr>
                        <a:t>Deeper language understanding than word patterns.</a:t>
                      </a:r>
                    </a:p>
                  </a:txBody>
                  <a:tcPr marL="64008" marR="64008" marT="36576" marB="36576">
                    <a:solidFill>
                      <a:srgbClr val="FFFFFF"/>
                    </a:solidFill>
                  </a:tcPr>
                </a:tc>
              </a:tr>
              <a:tr h="347472">
                <a:tc>
                  <a:txBody>
                    <a:bodyPr wrap="square"/>
                    <a:lstStyle/>
                    <a:p>
                      <a:r>
                        <a:rPr sz="1100" b="0">
                          <a:solidFill>
                            <a:srgbClr val="1A1A1A"/>
                          </a:solidFill>
                          <a:latin typeface="Trebuchet MS"/>
                        </a:rPr>
                        <a:t>Cross-platform app (Flutter or React Native)</a:t>
                      </a:r>
                    </a:p>
                  </a:txBody>
                  <a:tcPr marL="64008" marR="64008" marT="36576" marB="36576">
                    <a:solidFill>
                      <a:srgbClr val="FBF3EA"/>
                    </a:solidFill>
                  </a:tcPr>
                </a:tc>
                <a:tc>
                  <a:txBody>
                    <a:bodyPr wrap="square"/>
                    <a:lstStyle/>
                    <a:p>
                      <a:r>
                        <a:rPr sz="1100" b="0">
                          <a:solidFill>
                            <a:srgbClr val="1A1A1A"/>
                          </a:solidFill>
                          <a:latin typeface="Trebuchet MS"/>
                        </a:rPr>
                        <a:t>Capture relies on Android-only services: app-usage stats, a custom keyboard, an accessibility service and Device Administrator. Both apps are native Kotlin.</a:t>
                      </a:r>
                    </a:p>
                  </a:txBody>
                  <a:tcPr marL="64008" marR="64008" marT="36576" marB="36576">
                    <a:solidFill>
                      <a:srgbClr val="FBF3EA"/>
                    </a:solidFill>
                  </a:tcPr>
                </a:tc>
                <a:tc>
                  <a:txBody>
                    <a:bodyPr wrap="square"/>
                    <a:lstStyle/>
                    <a:p>
                      <a:r>
                        <a:rPr sz="1100" b="0">
                          <a:solidFill>
                            <a:srgbClr val="1A1A1A"/>
                          </a:solidFill>
                          <a:latin typeface="Trebuchet MS"/>
                        </a:rPr>
                        <a:t>iOS support. Both apps are Android-only APKs.</a:t>
                      </a:r>
                    </a:p>
                  </a:txBody>
                  <a:tcPr marL="64008" marR="64008" marT="36576" marB="36576">
                    <a:solidFill>
                      <a:srgbClr val="FBF3EA"/>
                    </a:solidFill>
                  </a:tcPr>
                </a:tc>
              </a:tr>
              <a:tr h="347472">
                <a:tc>
                  <a:txBody>
                    <a:bodyPr wrap="square"/>
                    <a:lstStyle/>
                    <a:p>
                      <a:r>
                        <a:rPr sz="1100" b="0">
                          <a:solidFill>
                            <a:srgbClr val="1A1A1A"/>
                          </a:solidFill>
                          <a:latin typeface="Trebuchet MS"/>
                        </a:rPr>
                        <a:t>Cloud speech-to-text</a:t>
                      </a:r>
                    </a:p>
                  </a:txBody>
                  <a:tcPr marL="64008" marR="64008" marT="36576" marB="36576">
                    <a:solidFill>
                      <a:srgbClr val="FFFFFF"/>
                    </a:solidFill>
                  </a:tcPr>
                </a:tc>
                <a:tc>
                  <a:txBody>
                    <a:bodyPr wrap="square"/>
                    <a:lstStyle/>
                    <a:p>
                      <a:r>
                        <a:rPr sz="1100" b="0">
                          <a:solidFill>
                            <a:srgbClr val="1A1A1A"/>
                          </a:solidFill>
                          <a:latin typeface="Trebuchet MS"/>
                        </a:rPr>
                        <a:t>It would send the child's voice to an outside company. Vosk transcribes on the phone, and our server deletes each clip after feature extraction.</a:t>
                      </a:r>
                    </a:p>
                  </a:txBody>
                  <a:tcPr marL="64008" marR="64008" marT="36576" marB="36576">
                    <a:solidFill>
                      <a:srgbClr val="FFFFFF"/>
                    </a:solidFill>
                  </a:tcPr>
                </a:tc>
                <a:tc>
                  <a:txBody>
                    <a:bodyPr wrap="square"/>
                    <a:lstStyle/>
                    <a:p>
                      <a:r>
                        <a:rPr sz="1100" b="0">
                          <a:solidFill>
                            <a:srgbClr val="1A1A1A"/>
                          </a:solidFill>
                          <a:latin typeface="Trebuchet MS"/>
                        </a:rPr>
                        <a:t>Spoken Hindi is not transcribed by default. Dual Hindi and English recognition needs 51-72% CPU and 419 MB, so it is off.</a:t>
                      </a:r>
                    </a:p>
                  </a:txBody>
                  <a:tcPr marL="64008" marR="64008" marT="36576" marB="36576">
                    <a:solidFill>
                      <a:srgbClr val="FFFFFF"/>
                    </a:solidFill>
                  </a:tcPr>
                </a:tc>
              </a:tr>
              <a:tr h="347472">
                <a:tc>
                  <a:txBody>
                    <a:bodyPr wrap="square"/>
                    <a:lstStyle/>
                    <a:p>
                      <a:r>
                        <a:rPr sz="1100" b="0">
                          <a:solidFill>
                            <a:srgbClr val="1A1A1A"/>
                          </a:solidFill>
                          <a:latin typeface="Trebuchet MS"/>
                        </a:rPr>
                        <a:t>Screen capture with OCR (text read from screenshots)</a:t>
                      </a:r>
                    </a:p>
                  </a:txBody>
                  <a:tcPr marL="64008" marR="64008" marT="36576" marB="36576">
                    <a:solidFill>
                      <a:srgbClr val="FBF3EA"/>
                    </a:solidFill>
                  </a:tcPr>
                </a:tc>
                <a:tc>
                  <a:txBody>
                    <a:bodyPr wrap="square"/>
                    <a:lstStyle/>
                    <a:p>
                      <a:r>
                        <a:rPr sz="1100" b="0">
                          <a:solidFill>
                            <a:srgbClr val="1A1A1A"/>
                          </a:solidFill>
                          <a:latin typeface="Trebuchet MS"/>
                        </a:rPr>
                        <a:t>Recording the screen costs more privacy than the gap it closes. Our custom keyboard reads typed chat instead.</a:t>
                      </a:r>
                    </a:p>
                  </a:txBody>
                  <a:tcPr marL="64008" marR="64008" marT="36576" marB="36576">
                    <a:solidFill>
                      <a:srgbClr val="FBF3EA"/>
                    </a:solidFill>
                  </a:tcPr>
                </a:tc>
                <a:tc>
                  <a:txBody>
                    <a:bodyPr wrap="square"/>
                    <a:lstStyle/>
                    <a:p>
                      <a:r>
                        <a:rPr sz="1100" b="0">
                          <a:solidFill>
                            <a:srgbClr val="1A1A1A"/>
                          </a:solidFill>
                          <a:latin typeface="Trebuchet MS"/>
                        </a:rPr>
                        <a:t>Browser-tab, cloud-streaming and messenger web-view games stay invisible. We disclose this.</a:t>
                      </a:r>
                    </a:p>
                  </a:txBody>
                  <a:tcPr marL="64008" marR="64008" marT="36576" marB="36576">
                    <a:solidFill>
                      <a:srgbClr val="FBF3EA"/>
                    </a:solidFill>
                  </a:tcPr>
                </a:tc>
              </a:tr>
              <a:tr h="347472">
                <a:tc>
                  <a:txBody>
                    <a:bodyPr wrap="square"/>
                    <a:lstStyle/>
                    <a:p>
                      <a:r>
                        <a:rPr sz="1100" b="0">
                          <a:solidFill>
                            <a:srgbClr val="1A1A1A"/>
                          </a:solidFill>
                          <a:latin typeface="Trebuchet MS"/>
                        </a:rPr>
                        <a:t>Early fusion: one model on all features</a:t>
                      </a:r>
                    </a:p>
                  </a:txBody>
                  <a:tcPr marL="64008" marR="64008" marT="36576" marB="36576">
                    <a:solidFill>
                      <a:srgbClr val="FFFFFF"/>
                    </a:solidFill>
                  </a:tcPr>
                </a:tc>
                <a:tc>
                  <a:txBody>
                    <a:bodyPr wrap="square"/>
                    <a:lstStyle/>
                    <a:p>
                      <a:r>
                        <a:rPr sz="1100" b="0">
                          <a:solidFill>
                            <a:srgbClr val="1A1A1A"/>
                          </a:solidFill>
                          <a:latin typeface="Trebuchet MS"/>
                        </a:rPr>
                        <a:t>Channels arrive at different times and often go missing: in the pilot, voice was in 99.9% of live predictions, chat in 0.4%.</a:t>
                      </a:r>
                    </a:p>
                  </a:txBody>
                  <a:tcPr marL="64008" marR="64008" marT="36576" marB="36576">
                    <a:solidFill>
                      <a:srgbClr val="FFFFFF"/>
                    </a:solidFill>
                  </a:tcPr>
                </a:tc>
                <a:tc>
                  <a:txBody>
                    <a:bodyPr wrap="square"/>
                    <a:lstStyle/>
                    <a:p>
                      <a:r>
                        <a:rPr sz="1100" b="0">
                          <a:solidFill>
                            <a:srgbClr val="1A1A1A"/>
                          </a:solidFill>
                          <a:latin typeface="Trebuchet MS"/>
                        </a:rPr>
                        <a:t>Cross-channel effects. Weights are rescaled over the channels present.</a:t>
                      </a:r>
                    </a:p>
                  </a:txBody>
                  <a:tcPr marL="64008" marR="64008" marT="36576" marB="36576">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Demonstration and Testing of the Modules Completed</a:t>
            </a:r>
          </a:p>
        </p:txBody>
      </p:sp>
      <p:sp>
        <p:nvSpPr>
          <p:cNvPr id="5" name="TextBox 4"/>
          <p:cNvSpPr txBox="1"/>
          <p:nvPr/>
        </p:nvSpPr>
        <p:spPr>
          <a:xfrm>
            <a:off x="502920" y="1115568"/>
            <a:ext cx="10515600" cy="365760"/>
          </a:xfrm>
          <a:prstGeom prst="rect">
            <a:avLst/>
          </a:prstGeom>
          <a:noFill/>
        </p:spPr>
        <p:txBody>
          <a:bodyPr wrap="square" lIns="0" rIns="0">
            <a:spAutoFit/>
          </a:bodyPr>
          <a:lstStyle/>
          <a:p>
            <a:pPr algn="r"/>
            <a:r>
              <a:rPr sz="1500" b="1" i="0">
                <a:solidFill>
                  <a:srgbClr val="E07B1A"/>
                </a:solidFill>
                <a:latin typeface="Trebuchet MS"/>
              </a:rPr>
              <a:t>Module completion and what we demonstrate</a:t>
            </a:r>
          </a:p>
        </p:txBody>
      </p:sp>
      <p:sp>
        <p:nvSpPr>
          <p:cNvPr id="6" name="Rectangle 5"/>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sp>
        <p:nvSpPr>
          <p:cNvPr id="9" name="TextBox 8"/>
          <p:cNvSpPr txBox="1"/>
          <p:nvPr/>
        </p:nvSpPr>
        <p:spPr>
          <a:xfrm>
            <a:off x="548640" y="1627632"/>
            <a:ext cx="11064240" cy="411480"/>
          </a:xfrm>
          <a:prstGeom prst="rect">
            <a:avLst/>
          </a:prstGeom>
          <a:noFill/>
        </p:spPr>
        <p:txBody>
          <a:bodyPr wrap="square" lIns="0" rIns="0">
            <a:spAutoFit/>
          </a:bodyPr>
          <a:lstStyle/>
          <a:p>
            <a:pPr algn="l"/>
            <a:r>
              <a:rPr sz="1400" b="0" i="0">
                <a:solidFill>
                  <a:srgbClr val="1A1A1A"/>
                </a:solidFill>
                <a:latin typeface="Trebuchet MS"/>
              </a:rPr>
              <a:t>All six modules are complete and deployed in release v2.4.0. The live demo runs the full flow, from a game session to the parent's alert.</a:t>
            </a:r>
          </a:p>
        </p:txBody>
      </p:sp>
      <p:graphicFrame>
        <p:nvGraphicFramePr>
          <p:cNvPr id="10" name="Table 9"/>
          <p:cNvGraphicFramePr>
            <a:graphicFrameLocks noGrp="1"/>
          </p:cNvGraphicFramePr>
          <p:nvPr/>
        </p:nvGraphicFramePr>
        <p:xfrm>
          <a:off x="548640" y="2084832"/>
          <a:ext cx="11064240" cy="2432304"/>
        </p:xfrm>
        <a:graphic>
          <a:graphicData uri="http://schemas.openxmlformats.org/drawingml/2006/table">
            <a:tbl>
              <a:tblPr firstRow="1" bandRow="1">
                <a:tableStyleId>{5C22544A-7EE6-4342-B048-85BDC9FD1C3A}</a:tableStyleId>
              </a:tblPr>
              <a:tblGrid>
                <a:gridCol w="2011680"/>
                <a:gridCol w="1737360"/>
                <a:gridCol w="3657600"/>
                <a:gridCol w="3657600"/>
              </a:tblGrid>
              <a:tr h="347472">
                <a:tc>
                  <a:txBody>
                    <a:bodyPr wrap="square"/>
                    <a:lstStyle/>
                    <a:p>
                      <a:r>
                        <a:rPr sz="1100" b="0">
                          <a:solidFill>
                            <a:srgbClr val="FFFFFF"/>
                          </a:solidFill>
                          <a:latin typeface="Trebuchet MS"/>
                        </a:rPr>
                        <a:t>Module</a:t>
                      </a:r>
                    </a:p>
                  </a:txBody>
                  <a:tcPr marL="64008" marR="64008" marT="36576" marB="36576">
                    <a:solidFill>
                      <a:srgbClr val="E07B1A"/>
                    </a:solidFill>
                  </a:tcPr>
                </a:tc>
                <a:tc>
                  <a:txBody>
                    <a:bodyPr wrap="square"/>
                    <a:lstStyle/>
                    <a:p>
                      <a:r>
                        <a:rPr sz="1100" b="0">
                          <a:solidFill>
                            <a:srgbClr val="FFFFFF"/>
                          </a:solidFill>
                          <a:latin typeface="Trebuchet MS"/>
                        </a:rPr>
                        <a:t>Status</a:t>
                      </a:r>
                    </a:p>
                  </a:txBody>
                  <a:tcPr marL="64008" marR="64008" marT="36576" marB="36576">
                    <a:solidFill>
                      <a:srgbClr val="E07B1A"/>
                    </a:solidFill>
                  </a:tcPr>
                </a:tc>
                <a:tc>
                  <a:txBody>
                    <a:bodyPr wrap="square"/>
                    <a:lstStyle/>
                    <a:p>
                      <a:r>
                        <a:rPr sz="1100" b="0">
                          <a:solidFill>
                            <a:srgbClr val="FFFFFF"/>
                          </a:solidFill>
                          <a:latin typeface="Trebuchet MS"/>
                        </a:rPr>
                        <a:t>Shown in the live demo</a:t>
                      </a:r>
                    </a:p>
                  </a:txBody>
                  <a:tcPr marL="64008" marR="64008" marT="36576" marB="36576">
                    <a:solidFill>
                      <a:srgbClr val="E07B1A"/>
                    </a:solidFill>
                  </a:tcPr>
                </a:tc>
                <a:tc>
                  <a:txBody>
                    <a:bodyPr wrap="square"/>
                    <a:lstStyle/>
                    <a:p>
                      <a:r>
                        <a:rPr sz="1100" b="0">
                          <a:solidFill>
                            <a:srgbClr val="FFFFFF"/>
                          </a:solidFill>
                          <a:latin typeface="Trebuchet MS"/>
                        </a:rPr>
                        <a:t>How it is tested</a:t>
                      </a:r>
                    </a:p>
                  </a:txBody>
                  <a:tcPr marL="64008" marR="64008" marT="36576" marB="36576">
                    <a:solidFill>
                      <a:srgbClr val="E07B1A"/>
                    </a:solidFill>
                  </a:tcPr>
                </a:tc>
              </a:tr>
              <a:tr h="347472">
                <a:tc>
                  <a:txBody>
                    <a:bodyPr wrap="square"/>
                    <a:lstStyle/>
                    <a:p>
                      <a:r>
                        <a:rPr sz="1100" b="0">
                          <a:solidFill>
                            <a:srgbClr val="1A1A1A"/>
                          </a:solidFill>
                          <a:latin typeface="Trebuchet MS"/>
                        </a:rPr>
                        <a:t>ChildApp capture</a:t>
                      </a:r>
                    </a:p>
                  </a:txBody>
                  <a:tcPr marL="64008" marR="64008" marT="36576" marB="36576">
                    <a:solidFill>
                      <a:srgbClr val="FBF3EA"/>
                    </a:solidFill>
                  </a:tcPr>
                </a:tc>
                <a:tc>
                  <a:txBody>
                    <a:bodyPr wrap="square"/>
                    <a:lstStyle/>
                    <a:p>
                      <a:r>
                        <a:rPr sz="1100" b="0">
                          <a:solidFill>
                            <a:srgbClr val="1A1A1A"/>
                          </a:solidFill>
                          <a:latin typeface="Trebuchet MS"/>
                        </a:rPr>
                        <a:t>Complete, including Hindi (Devanagari) typing.</a:t>
                      </a:r>
                    </a:p>
                  </a:txBody>
                  <a:tcPr marL="64008" marR="64008" marT="36576" marB="36576">
                    <a:solidFill>
                      <a:srgbClr val="FBF3EA"/>
                    </a:solidFill>
                  </a:tcPr>
                </a:tc>
                <a:tc>
                  <a:txBody>
                    <a:bodyPr wrap="square"/>
                    <a:lstStyle/>
                    <a:p>
                      <a:r>
                        <a:rPr sz="1100" b="0">
                          <a:solidFill>
                            <a:srgbClr val="1A1A1A"/>
                          </a:solidFill>
                          <a:latin typeface="Trebuchet MS"/>
                        </a:rPr>
                        <a:t>Opening Roblox starts a session in about 10 seconds. Typed and spoken chat reach the parent. Turning off the capture permission alerts parents.</a:t>
                      </a:r>
                    </a:p>
                  </a:txBody>
                  <a:tcPr marL="64008" marR="64008" marT="36576" marB="36576">
                    <a:solidFill>
                      <a:srgbClr val="FBF3EA"/>
                    </a:solidFill>
                  </a:tcPr>
                </a:tc>
                <a:tc>
                  <a:txBody>
                    <a:bodyPr wrap="square"/>
                    <a:lstStyle/>
                    <a:p>
                      <a:r>
                        <a:rPr sz="1100" b="0">
                          <a:solidFill>
                            <a:srgbClr val="1A1A1A"/>
                          </a:solidFill>
                          <a:latin typeface="Trebuchet MS"/>
                        </a:rPr>
                        <a:t>79 Android unit tests, including Hindi typing. Manual checklist on a real phone.</a:t>
                      </a:r>
                    </a:p>
                  </a:txBody>
                  <a:tcPr marL="64008" marR="64008" marT="36576" marB="36576">
                    <a:solidFill>
                      <a:srgbClr val="FBF3EA"/>
                    </a:solidFill>
                  </a:tcPr>
                </a:tc>
              </a:tr>
              <a:tr h="347472">
                <a:tc>
                  <a:txBody>
                    <a:bodyPr wrap="square"/>
                    <a:lstStyle/>
                    <a:p>
                      <a:r>
                        <a:rPr sz="1100" b="0">
                          <a:solidFill>
                            <a:srgbClr val="1A1A1A"/>
                          </a:solidFill>
                          <a:latin typeface="Trebuchet MS"/>
                        </a:rPr>
                        <a:t>Backend scoring and fusion</a:t>
                      </a:r>
                    </a:p>
                  </a:txBody>
                  <a:tcPr marL="64008" marR="64008" marT="36576" marB="36576">
                    <a:solidFill>
                      <a:srgbClr val="FFFFFF"/>
                    </a:solidFill>
                  </a:tcPr>
                </a:tc>
                <a:tc>
                  <a:txBody>
                    <a:bodyPr wrap="square"/>
                    <a:lstStyle/>
                    <a:p>
                      <a:r>
                        <a:rPr sz="1100" b="0">
                          <a:solidFill>
                            <a:srgbClr val="1A1A1A"/>
                          </a:solidFill>
                          <a:latin typeface="Trebuchet MS"/>
                        </a:rPr>
                        <a:t>Complete, live</a:t>
                      </a:r>
                    </a:p>
                  </a:txBody>
                  <a:tcPr marL="64008" marR="64008" marT="36576" marB="36576">
                    <a:solidFill>
                      <a:srgbClr val="FFFFFF"/>
                    </a:solidFill>
                  </a:tcPr>
                </a:tc>
                <a:tc>
                  <a:txBody>
                    <a:bodyPr wrap="square"/>
                    <a:lstStyle/>
                    <a:p>
                      <a:r>
                        <a:rPr sz="1100" b="0">
                          <a:solidFill>
                            <a:srgbClr val="1A1A1A"/>
                          </a:solidFill>
                          <a:latin typeface="Trebuchet MS"/>
                        </a:rPr>
                        <a:t>When the game closes, the session is scored and appears on the parent dashboard.</a:t>
                      </a:r>
                    </a:p>
                  </a:txBody>
                  <a:tcPr marL="64008" marR="64008" marT="36576" marB="36576">
                    <a:solidFill>
                      <a:srgbClr val="FFFFFF"/>
                    </a:solidFill>
                  </a:tcPr>
                </a:tc>
                <a:tc>
                  <a:txBody>
                    <a:bodyPr wrap="square"/>
                    <a:lstStyle/>
                    <a:p>
                      <a:r>
                        <a:rPr sz="1100" b="0">
                          <a:solidFill>
                            <a:srgbClr val="1A1A1A"/>
                          </a:solidFill>
                          <a:latin typeface="Trebuchet MS"/>
                        </a:rPr>
                        <a:t>181 tests on SQLite and Postgres. 288 simultaneous requests, 0 errors.</a:t>
                      </a:r>
                    </a:p>
                  </a:txBody>
                  <a:tcPr marL="64008" marR="64008" marT="36576" marB="36576">
                    <a:solidFill>
                      <a:srgbClr val="FFFFFF"/>
                    </a:solidFill>
                  </a:tcPr>
                </a:tc>
              </a:tr>
              <a:tr h="347472">
                <a:tc>
                  <a:txBody>
                    <a:bodyPr wrap="square"/>
                    <a:lstStyle/>
                    <a:p>
                      <a:r>
                        <a:rPr sz="1100" b="0">
                          <a:solidFill>
                            <a:srgbClr val="1A1A1A"/>
                          </a:solidFill>
                          <a:latin typeface="Trebuchet MS"/>
                        </a:rPr>
                        <a:t>ParentApp</a:t>
                      </a:r>
                    </a:p>
                  </a:txBody>
                  <a:tcPr marL="64008" marR="64008" marT="36576" marB="36576">
                    <a:solidFill>
                      <a:srgbClr val="FBF3EA"/>
                    </a:solidFill>
                  </a:tcPr>
                </a:tc>
                <a:tc>
                  <a:txBody>
                    <a:bodyPr wrap="square"/>
                    <a:lstStyle/>
                    <a:p>
                      <a:r>
                        <a:rPr sz="1100" b="0">
                          <a:solidFill>
                            <a:srgbClr val="1A1A1A"/>
                          </a:solidFill>
                          <a:latin typeface="Trebuchet MS"/>
                        </a:rPr>
                        <a:t>Complete, signed APK</a:t>
                      </a:r>
                    </a:p>
                  </a:txBody>
                  <a:tcPr marL="64008" marR="64008" marT="36576" marB="36576">
                    <a:solidFill>
                      <a:srgbClr val="FBF3EA"/>
                    </a:solidFill>
                  </a:tcPr>
                </a:tc>
                <a:tc>
                  <a:txBody>
                    <a:bodyPr wrap="square"/>
                    <a:lstStyle/>
                    <a:p>
                      <a:r>
                        <a:rPr sz="1100" b="0">
                          <a:solidFill>
                            <a:srgbClr val="1A1A1A"/>
                          </a:solidFill>
                          <a:latin typeface="Trebuchet MS"/>
                        </a:rPr>
                        <a:t>Concern level with plain-language reasons, rating an alert Accurate or False alarm, a nudge, the weekly PDF.</a:t>
                      </a:r>
                    </a:p>
                  </a:txBody>
                  <a:tcPr marL="64008" marR="64008" marT="36576" marB="36576">
                    <a:solidFill>
                      <a:srgbClr val="FBF3EA"/>
                    </a:solidFill>
                  </a:tcPr>
                </a:tc>
                <a:tc>
                  <a:txBody>
                    <a:bodyPr wrap="square"/>
                    <a:lstStyle/>
                    <a:p>
                      <a:r>
                        <a:rPr sz="1100" b="0">
                          <a:solidFill>
                            <a:srgbClr val="1A1A1A"/>
                          </a:solidFill>
                          <a:latin typeface="Trebuchet MS"/>
                        </a:rPr>
                        <a:t>31 Android unit tests. 25 live-server checks cover every parent screen.</a:t>
                      </a:r>
                    </a:p>
                  </a:txBody>
                  <a:tcPr marL="64008" marR="64008" marT="36576" marB="36576">
                    <a:solidFill>
                      <a:srgbClr val="FBF3EA"/>
                    </a:solidFill>
                  </a:tcPr>
                </a:tc>
              </a:tr>
              <a:tr h="347472">
                <a:tc>
                  <a:txBody>
                    <a:bodyPr wrap="square"/>
                    <a:lstStyle/>
                    <a:p>
                      <a:r>
                        <a:rPr sz="1100" b="0">
                          <a:solidFill>
                            <a:srgbClr val="1A1A1A"/>
                          </a:solidFill>
                          <a:latin typeface="Trebuchet MS"/>
                        </a:rPr>
                        <a:t>ML models: behaviour, chat, voice</a:t>
                      </a:r>
                    </a:p>
                  </a:txBody>
                  <a:tcPr marL="64008" marR="64008" marT="36576" marB="36576">
                    <a:solidFill>
                      <a:srgbClr val="FFFFFF"/>
                    </a:solidFill>
                  </a:tcPr>
                </a:tc>
                <a:tc>
                  <a:txBody>
                    <a:bodyPr wrap="square"/>
                    <a:lstStyle/>
                    <a:p>
                      <a:r>
                        <a:rPr sz="1100" b="0">
                          <a:solidFill>
                            <a:srgbClr val="1A1A1A"/>
                          </a:solidFill>
                          <a:latin typeface="Trebuchet MS"/>
                        </a:rPr>
                        <a:t>Complete, all three served</a:t>
                      </a:r>
                    </a:p>
                  </a:txBody>
                  <a:tcPr marL="64008" marR="64008" marT="36576" marB="36576">
                    <a:solidFill>
                      <a:srgbClr val="FFFFFF"/>
                    </a:solidFill>
                  </a:tcPr>
                </a:tc>
                <a:tc>
                  <a:txBody>
                    <a:bodyPr wrap="square"/>
                    <a:lstStyle/>
                    <a:p>
                      <a:r>
                        <a:rPr sz="1100" b="0">
                          <a:solidFill>
                            <a:srgbClr val="1A1A1A"/>
                          </a:solidFill>
                          <a:latin typeface="Trebuchet MS"/>
                        </a:rPr>
                        <a:t>Chat Analysis lists flagged messages. Emotion Insights shows emotions heard in voice.</a:t>
                      </a:r>
                    </a:p>
                  </a:txBody>
                  <a:tcPr marL="64008" marR="64008" marT="36576" marB="36576">
                    <a:solidFill>
                      <a:srgbClr val="FFFFFF"/>
                    </a:solidFill>
                  </a:tcPr>
                </a:tc>
                <a:tc>
                  <a:txBody>
                    <a:bodyPr wrap="square"/>
                    <a:lstStyle/>
                    <a:p>
                      <a:r>
                        <a:rPr sz="1100" b="0">
                          <a:solidFill>
                            <a:srgbClr val="1A1A1A"/>
                          </a:solidFill>
                          <a:latin typeface="Trebuchet MS"/>
                        </a:rPr>
                        <a:t>Chat PR-AUC 0.825 on unseen gaming chat (precision-recall area, fair for rare toxic text). Behaviour 91.6%, synthetic labels only. Voice 0.574 on unseen speakers.</a:t>
                      </a:r>
                    </a:p>
                  </a:txBody>
                  <a:tcPr marL="64008" marR="64008" marT="36576" marB="36576">
                    <a:solidFill>
                      <a:srgbClr val="FFFFFF"/>
                    </a:solidFill>
                  </a:tcPr>
                </a:tc>
              </a:tr>
              <a:tr h="347472">
                <a:tc>
                  <a:txBody>
                    <a:bodyPr wrap="square"/>
                    <a:lstStyle/>
                    <a:p>
                      <a:r>
                        <a:rPr sz="1100" b="0">
                          <a:solidFill>
                            <a:srgbClr val="1A1A1A"/>
                          </a:solidFill>
                          <a:latin typeface="Trebuchet MS"/>
                        </a:rPr>
                        <a:t>External validation and fairness</a:t>
                      </a:r>
                    </a:p>
                  </a:txBody>
                  <a:tcPr marL="64008" marR="64008" marT="36576" marB="36576">
                    <a:solidFill>
                      <a:srgbClr val="FBF3EA"/>
                    </a:solidFill>
                  </a:tcPr>
                </a:tc>
                <a:tc>
                  <a:txBody>
                    <a:bodyPr wrap="square"/>
                    <a:lstStyle/>
                    <a:p>
                      <a:r>
                        <a:rPr sz="1100" b="0">
                          <a:solidFill>
                            <a:srgbClr val="1A1A1A"/>
                          </a:solidFill>
                          <a:latin typeface="Trebuchet MS"/>
                        </a:rPr>
                        <a:t>Complete, reported</a:t>
                      </a:r>
                    </a:p>
                  </a:txBody>
                  <a:tcPr marL="64008" marR="64008" marT="36576" marB="36576">
                    <a:solidFill>
                      <a:srgbClr val="FBF3EA"/>
                    </a:solidFill>
                  </a:tcPr>
                </a:tc>
                <a:tc>
                  <a:txBody>
                    <a:bodyPr wrap="square"/>
                    <a:lstStyle/>
                    <a:p>
                      <a:r>
                        <a:rPr sz="1100" b="0">
                          <a:solidFill>
                            <a:srgbClr val="1A1A1A"/>
                          </a:solidFill>
                          <a:latin typeface="Trebuchet MS"/>
                        </a:rPr>
                        <a:t>Results slide, not live: behaviour score compared with IGDS9-SF, a standard gaming-disorder questionnaire, 103 adults. Moderate rank correlation 0.317.</a:t>
                      </a:r>
                    </a:p>
                  </a:txBody>
                  <a:tcPr marL="64008" marR="64008" marT="36576" marB="36576">
                    <a:solidFill>
                      <a:srgbClr val="FBF3EA"/>
                    </a:solidFill>
                  </a:tcPr>
                </a:tc>
                <a:tc>
                  <a:txBody>
                    <a:bodyPr wrap="square"/>
                    <a:lstStyle/>
                    <a:p>
                      <a:r>
                        <a:rPr sz="1100" b="0">
                          <a:solidFill>
                            <a:srgbClr val="1A1A1A"/>
                          </a:solidFill>
                          <a:latin typeface="Trebuchet MS"/>
                        </a:rPr>
                        <a:t>0 false toxicity alerts on 6,656 Indian-English speech clips. 7 CI guards check the paper's numbers against the data.</a:t>
                      </a:r>
                    </a:p>
                  </a:txBody>
                  <a:tcPr marL="64008" marR="64008" marT="36576" marB="36576">
                    <a:solidFill>
                      <a:srgbClr val="FBF3EA"/>
                    </a:solidFill>
                  </a:tcPr>
                </a:tc>
              </a:tr>
              <a:tr h="347472">
                <a:tc>
                  <a:txBody>
                    <a:bodyPr wrap="square"/>
                    <a:lstStyle/>
                    <a:p>
                      <a:r>
                        <a:rPr sz="1100" b="0">
                          <a:solidFill>
                            <a:srgbClr val="1A1A1A"/>
                          </a:solidFill>
                          <a:latin typeface="Trebuchet MS"/>
                        </a:rPr>
                        <a:t>Deployment and CI</a:t>
                      </a:r>
                    </a:p>
                  </a:txBody>
                  <a:tcPr marL="64008" marR="64008" marT="36576" marB="36576">
                    <a:solidFill>
                      <a:srgbClr val="FFFFFF"/>
                    </a:solidFill>
                  </a:tcPr>
                </a:tc>
                <a:tc>
                  <a:txBody>
                    <a:bodyPr wrap="square"/>
                    <a:lstStyle/>
                    <a:p>
                      <a:r>
                        <a:rPr sz="1100" b="0">
                          <a:solidFill>
                            <a:srgbClr val="1A1A1A"/>
                          </a:solidFill>
                          <a:latin typeface="Trebuchet MS"/>
                        </a:rPr>
                        <a:t>Complete, live on Render</a:t>
                      </a:r>
                    </a:p>
                  </a:txBody>
                  <a:tcPr marL="64008" marR="64008" marT="36576" marB="36576">
                    <a:solidFill>
                      <a:srgbClr val="FFFFFF"/>
                    </a:solidFill>
                  </a:tcPr>
                </a:tc>
                <a:tc>
                  <a:txBody>
                    <a:bodyPr wrap="square"/>
                    <a:lstStyle/>
                    <a:p>
                      <a:r>
                        <a:rPr sz="1100" b="0">
                          <a:solidFill>
                            <a:srgbClr val="1A1A1A"/>
                          </a:solidFill>
                          <a:latin typeface="Trebuchet MS"/>
                        </a:rPr>
                        <a:t>Health page opened first to wake the free server. Both apps use the live cloud, no laptop.</a:t>
                      </a:r>
                    </a:p>
                  </a:txBody>
                  <a:tcPr marL="64008" marR="64008" marT="36576" marB="36576">
                    <a:solidFill>
                      <a:srgbClr val="FFFFFF"/>
                    </a:solidFill>
                  </a:tcPr>
                </a:tc>
                <a:tc>
                  <a:txBody>
                    <a:bodyPr wrap="square"/>
                    <a:lstStyle/>
                    <a:p>
                      <a:r>
                        <a:rPr sz="1100" b="0">
                          <a:solidFill>
                            <a:srgbClr val="1A1A1A"/>
                          </a:solidFill>
                          <a:latin typeface="Trebuchet MS"/>
                        </a:rPr>
                        <a:t>CI reruns all tests on every push. 23-day consented family pilot.</a:t>
                      </a:r>
                    </a:p>
                  </a:txBody>
                  <a:tcPr marL="64008" marR="64008" marT="36576" marB="36576">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Demonstration and Testing of the Modules Completed</a:t>
            </a:r>
          </a:p>
        </p:txBody>
      </p:sp>
      <p:sp>
        <p:nvSpPr>
          <p:cNvPr id="5" name="TextBox 4"/>
          <p:cNvSpPr txBox="1"/>
          <p:nvPr/>
        </p:nvSpPr>
        <p:spPr>
          <a:xfrm>
            <a:off x="502920" y="1115568"/>
            <a:ext cx="10515600" cy="365760"/>
          </a:xfrm>
          <a:prstGeom prst="rect">
            <a:avLst/>
          </a:prstGeom>
          <a:noFill/>
        </p:spPr>
        <p:txBody>
          <a:bodyPr wrap="square" lIns="0" rIns="0">
            <a:spAutoFit/>
          </a:bodyPr>
          <a:lstStyle/>
          <a:p>
            <a:pPr algn="r"/>
            <a:r>
              <a:rPr sz="1500" b="1" i="0">
                <a:solidFill>
                  <a:srgbClr val="E07B1A"/>
                </a:solidFill>
                <a:latin typeface="Trebuchet MS"/>
              </a:rPr>
              <a:t>Results and testing of the completed modules</a:t>
            </a:r>
          </a:p>
        </p:txBody>
      </p:sp>
      <p:sp>
        <p:nvSpPr>
          <p:cNvPr id="6" name="Rectangle 5"/>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graphicFrame>
        <p:nvGraphicFramePr>
          <p:cNvPr id="9" name="Table 8"/>
          <p:cNvGraphicFramePr>
            <a:graphicFrameLocks noGrp="1"/>
          </p:cNvGraphicFramePr>
          <p:nvPr/>
        </p:nvGraphicFramePr>
        <p:xfrm>
          <a:off x="548640" y="1627632"/>
          <a:ext cx="11064240" cy="2432304"/>
        </p:xfrm>
        <a:graphic>
          <a:graphicData uri="http://schemas.openxmlformats.org/drawingml/2006/table">
            <a:tbl>
              <a:tblPr firstRow="1" bandRow="1">
                <a:tableStyleId>{5C22544A-7EE6-4342-B048-85BDC9FD1C3A}</a:tableStyleId>
              </a:tblPr>
              <a:tblGrid>
                <a:gridCol w="1463040"/>
                <a:gridCol w="6217920"/>
                <a:gridCol w="3383280"/>
              </a:tblGrid>
              <a:tr h="347472">
                <a:tc>
                  <a:txBody>
                    <a:bodyPr wrap="square"/>
                    <a:lstStyle/>
                    <a:p>
                      <a:r>
                        <a:rPr sz="1000" b="0">
                          <a:solidFill>
                            <a:srgbClr val="FFFFFF"/>
                          </a:solidFill>
                          <a:latin typeface="Trebuchet MS"/>
                        </a:rPr>
                        <a:t>Module</a:t>
                      </a:r>
                    </a:p>
                  </a:txBody>
                  <a:tcPr marL="64008" marR="64008" marT="36576" marB="36576">
                    <a:solidFill>
                      <a:srgbClr val="E07B1A"/>
                    </a:solidFill>
                  </a:tcPr>
                </a:tc>
                <a:tc>
                  <a:txBody>
                    <a:bodyPr wrap="square"/>
                    <a:lstStyle/>
                    <a:p>
                      <a:r>
                        <a:rPr sz="1000" b="0">
                          <a:solidFill>
                            <a:srgbClr val="FFFFFF"/>
                          </a:solidFill>
                          <a:latin typeface="Trebuchet MS"/>
                        </a:rPr>
                        <a:t>Result (held-out, real data unless stated)</a:t>
                      </a:r>
                    </a:p>
                  </a:txBody>
                  <a:tcPr marL="64008" marR="64008" marT="36576" marB="36576">
                    <a:solidFill>
                      <a:srgbClr val="E07B1A"/>
                    </a:solidFill>
                  </a:tcPr>
                </a:tc>
                <a:tc>
                  <a:txBody>
                    <a:bodyPr wrap="square"/>
                    <a:lstStyle/>
                    <a:p>
                      <a:r>
                        <a:rPr sz="1000" b="0">
                          <a:solidFill>
                            <a:srgbClr val="FFFFFF"/>
                          </a:solidFill>
                          <a:latin typeface="Trebuchet MS"/>
                        </a:rPr>
                        <a:t>Testing</a:t>
                      </a:r>
                    </a:p>
                  </a:txBody>
                  <a:tcPr marL="64008" marR="64008" marT="36576" marB="36576">
                    <a:solidFill>
                      <a:srgbClr val="E07B1A"/>
                    </a:solidFill>
                  </a:tcPr>
                </a:tc>
              </a:tr>
              <a:tr h="347472">
                <a:tc>
                  <a:txBody>
                    <a:bodyPr wrap="square"/>
                    <a:lstStyle/>
                    <a:p>
                      <a:r>
                        <a:rPr sz="1000" b="0">
                          <a:solidFill>
                            <a:srgbClr val="1A1A1A"/>
                          </a:solidFill>
                          <a:latin typeface="Trebuchet MS"/>
                        </a:rPr>
                        <a:t>Behaviour model</a:t>
                      </a:r>
                    </a:p>
                  </a:txBody>
                  <a:tcPr marL="64008" marR="64008" marT="36576" marB="36576">
                    <a:solidFill>
                      <a:srgbClr val="FBF3EA"/>
                    </a:solidFill>
                  </a:tcPr>
                </a:tc>
                <a:tc>
                  <a:txBody>
                    <a:bodyPr wrap="square"/>
                    <a:lstStyle/>
                    <a:p>
                      <a:r>
                        <a:rPr sz="1000" b="1">
                          <a:solidFill>
                            <a:srgbClr val="1A1A1A"/>
                          </a:solidFill>
                          <a:latin typeface="Trebuchet MS"/>
                        </a:rPr>
                        <a:t>91.6% accuracy</a:t>
                      </a:r>
                      <a:r>
                        <a:rPr sz="1000" b="0">
                          <a:solidFill>
                            <a:srgbClr val="1A1A1A"/>
                          </a:solidFill>
                          <a:latin typeface="Trebuchet MS"/>
                        </a:rPr>
                        <a:t> on held-out data. Caveat: the labels are </a:t>
                      </a:r>
                      <a:r>
                        <a:rPr sz="1000" b="1">
                          <a:solidFill>
                            <a:srgbClr val="1A1A1A"/>
                          </a:solidFill>
                          <a:latin typeface="Trebuchet MS"/>
                        </a:rPr>
                        <a:t>synthetic</a:t>
                      </a:r>
                      <a:r>
                        <a:rPr sz="1000" b="0">
                          <a:solidFill>
                            <a:srgbClr val="1A1A1A"/>
                          </a:solidFill>
                          <a:latin typeface="Trebuchet MS"/>
                        </a:rPr>
                        <a:t> — they came from a simulation grounded on two real surveys, not from clinicians. Calibration brought the score much closer to a true probability.</a:t>
                      </a:r>
                    </a:p>
                  </a:txBody>
                  <a:tcPr marL="64008" marR="64008" marT="36576" marB="36576">
                    <a:solidFill>
                      <a:srgbClr val="FBF3EA"/>
                    </a:solidFill>
                  </a:tcPr>
                </a:tc>
                <a:tc>
                  <a:txBody>
                    <a:bodyPr wrap="square"/>
                    <a:lstStyle/>
                    <a:p>
                      <a:r>
                        <a:rPr sz="1000" b="0">
                          <a:solidFill>
                            <a:srgbClr val="1A1A1A"/>
                          </a:solidFill>
                          <a:latin typeface="Trebuchet MS"/>
                        </a:rPr>
                        <a:t>Ablations (retraining with parts removed) with confidence intervals. Screen time alone scores far lower. Pattern (how-you-play) features edge out screen-time features.</a:t>
                      </a:r>
                    </a:p>
                  </a:txBody>
                  <a:tcPr marL="64008" marR="64008" marT="36576" marB="36576">
                    <a:solidFill>
                      <a:srgbClr val="FBF3EA"/>
                    </a:solidFill>
                  </a:tcPr>
                </a:tc>
              </a:tr>
              <a:tr h="347472">
                <a:tc>
                  <a:txBody>
                    <a:bodyPr wrap="square"/>
                    <a:lstStyle/>
                    <a:p>
                      <a:r>
                        <a:rPr sz="1000" b="0">
                          <a:solidFill>
                            <a:srgbClr val="1A1A1A"/>
                          </a:solidFill>
                          <a:latin typeface="Trebuchet MS"/>
                        </a:rPr>
                        <a:t>Chat model</a:t>
                      </a:r>
                    </a:p>
                  </a:txBody>
                  <a:tcPr marL="64008" marR="64008" marT="36576" marB="36576">
                    <a:solidFill>
                      <a:srgbClr val="FFFFFF"/>
                    </a:solidFill>
                  </a:tcPr>
                </a:tc>
                <a:tc>
                  <a:txBody>
                    <a:bodyPr wrap="square"/>
                    <a:lstStyle/>
                    <a:p>
                      <a:r>
                        <a:rPr sz="1000" b="0">
                          <a:solidFill>
                            <a:srgbClr val="1A1A1A"/>
                          </a:solidFill>
                          <a:latin typeface="Trebuchet MS"/>
                        </a:rPr>
                        <a:t>On real in-game chat, PR-AUC is </a:t>
                      </a:r>
                      <a:r>
                        <a:rPr sz="1000" b="1">
                          <a:solidFill>
                            <a:srgbClr val="1A1A1A"/>
                          </a:solidFill>
                          <a:latin typeface="Trebuchet MS"/>
                        </a:rPr>
                        <a:t>0.825</a:t>
                      </a:r>
                      <a:r>
                        <a:rPr sz="1000" b="0">
                          <a:solidFill>
                            <a:srgbClr val="1A1A1A"/>
                          </a:solidFill>
                          <a:latin typeface="Trebuchet MS"/>
                        </a:rPr>
                        <a:t>. At our alert threshold (0.95), 95.6% of flagged messages are truly toxic and we catch 42.8% of toxic messages. Hindi precision: 0.968 in Devanagari, 0.958 romanised.</a:t>
                      </a:r>
                    </a:p>
                  </a:txBody>
                  <a:tcPr marL="64008" marR="64008" marT="36576" marB="36576">
                    <a:solidFill>
                      <a:srgbClr val="FFFFFF"/>
                    </a:solidFill>
                  </a:tcPr>
                </a:tc>
                <a:tc>
                  <a:txBody>
                    <a:bodyPr wrap="square"/>
                    <a:lstStyle/>
                    <a:p>
                      <a:r>
                        <a:rPr sz="1000" b="0">
                          <a:solidFill>
                            <a:srgbClr val="1A1A1A"/>
                          </a:solidFill>
                          <a:latin typeface="Trebuchet MS"/>
                        </a:rPr>
                        <a:t>Dropping the in-game chat corpus (CONDA) from training cuts PR-AUC sharply. Pretrained toxic-BERT reaches only 0.709, below our simpler model. Hindi test rows were never trained on.</a:t>
                      </a:r>
                    </a:p>
                  </a:txBody>
                  <a:tcPr marL="64008" marR="64008" marT="36576" marB="36576">
                    <a:solidFill>
                      <a:srgbClr val="FFFFFF"/>
                    </a:solidFill>
                  </a:tcPr>
                </a:tc>
              </a:tr>
              <a:tr h="347472">
                <a:tc>
                  <a:txBody>
                    <a:bodyPr wrap="square"/>
                    <a:lstStyle/>
                    <a:p>
                      <a:r>
                        <a:rPr sz="1000" b="0">
                          <a:solidFill>
                            <a:srgbClr val="1A1A1A"/>
                          </a:solidFill>
                          <a:latin typeface="Trebuchet MS"/>
                        </a:rPr>
                        <a:t>Voice model</a:t>
                      </a:r>
                    </a:p>
                  </a:txBody>
                  <a:tcPr marL="64008" marR="64008" marT="36576" marB="36576">
                    <a:solidFill>
                      <a:srgbClr val="FBF3EA"/>
                    </a:solidFill>
                  </a:tcPr>
                </a:tc>
                <a:tc>
                  <a:txBody>
                    <a:bodyPr wrap="square"/>
                    <a:lstStyle/>
                    <a:p>
                      <a:r>
                        <a:rPr sz="1000" b="1">
                          <a:solidFill>
                            <a:srgbClr val="1A1A1A"/>
                          </a:solidFill>
                          <a:latin typeface="Trebuchet MS"/>
                        </a:rPr>
                        <a:t>0.574 accuracy</a:t>
                      </a:r>
                      <a:r>
                        <a:rPr sz="1000" b="0">
                          <a:solidFill>
                            <a:srgbClr val="1A1A1A"/>
                          </a:solidFill>
                          <a:latin typeface="Trebuchet MS"/>
                        </a:rPr>
                        <a:t> when no speaker appears in both training and test (a speaker-independent split), well above guessing. A random split gave 0.657 — an 8.3-point gap, because the model had memorised voices. We report the honest number.</a:t>
                      </a:r>
                    </a:p>
                  </a:txBody>
                  <a:tcPr marL="64008" marR="64008" marT="36576" marB="36576">
                    <a:solidFill>
                      <a:srgbClr val="FBF3EA"/>
                    </a:solidFill>
                  </a:tcPr>
                </a:tc>
                <a:tc>
                  <a:txBody>
                    <a:bodyPr wrap="square"/>
                    <a:lstStyle/>
                    <a:p>
                      <a:r>
                        <a:rPr sz="1000" b="0">
                          <a:solidFill>
                            <a:srgbClr val="1A1A1A"/>
                          </a:solidFill>
                          <a:latin typeface="Trebuchet MS"/>
                        </a:rPr>
                        <a:t>Each speaker stays on one side of every split. A larger model (wav2vec2) scores higher, so headroom exists. Audio augmentation made no difference.</a:t>
                      </a:r>
                    </a:p>
                  </a:txBody>
                  <a:tcPr marL="64008" marR="64008" marT="36576" marB="36576">
                    <a:solidFill>
                      <a:srgbClr val="FBF3EA"/>
                    </a:solidFill>
                  </a:tcPr>
                </a:tc>
              </a:tr>
              <a:tr h="347472">
                <a:tc>
                  <a:txBody>
                    <a:bodyPr wrap="square"/>
                    <a:lstStyle/>
                    <a:p>
                      <a:r>
                        <a:rPr sz="1000" b="1">
                          <a:solidFill>
                            <a:srgbClr val="1A1A1A"/>
                          </a:solidFill>
                          <a:latin typeface="Trebuchet MS"/>
                        </a:rPr>
                        <a:t>External validation</a:t>
                      </a:r>
                    </a:p>
                  </a:txBody>
                  <a:tcPr marL="64008" marR="64008" marT="36576" marB="36576">
                    <a:solidFill>
                      <a:srgbClr val="FBF3EA"/>
                    </a:solidFill>
                  </a:tcPr>
                </a:tc>
                <a:tc>
                  <a:txBody>
                    <a:bodyPr wrap="square"/>
                    <a:lstStyle/>
                    <a:p>
                      <a:r>
                        <a:rPr sz="1000" b="0">
                          <a:solidFill>
                            <a:srgbClr val="1A1A1A"/>
                          </a:solidFill>
                          <a:latin typeface="Trebuchet MS"/>
                        </a:rPr>
                        <a:t>Our score tracks IGDS9-SF (standard clinical questionnaire): rank correlation ρ </a:t>
                      </a:r>
                      <a:r>
                        <a:rPr sz="1000" b="1">
                          <a:solidFill>
                            <a:srgbClr val="1A1A1A"/>
                          </a:solidFill>
                          <a:latin typeface="Trebuchet MS"/>
                        </a:rPr>
                        <a:t>0.317</a:t>
                      </a:r>
                      <a:r>
                        <a:rPr sz="1000" b="0">
                          <a:solidFill>
                            <a:srgbClr val="1A1A1A"/>
                          </a:solidFill>
                          <a:latin typeface="Trebuchet MS"/>
                        </a:rPr>
                        <a:t>, a </a:t>
                      </a:r>
                      <a:r>
                        <a:rPr sz="1000" b="1">
                          <a:solidFill>
                            <a:srgbClr val="1A1A1A"/>
                          </a:solidFill>
                          <a:latin typeface="Trebuchet MS"/>
                        </a:rPr>
                        <a:t>moderate</a:t>
                      </a:r>
                      <a:r>
                        <a:rPr sz="1000" b="0">
                          <a:solidFill>
                            <a:srgbClr val="1A1A1A"/>
                          </a:solidFill>
                          <a:latin typeface="Trebuchet MS"/>
                        </a:rPr>
                        <a:t> link. Screen-time hours alone: 0.147. How a child plays beats how long: pattern features correlate </a:t>
                      </a:r>
                      <a:r>
                        <a:rPr sz="1000" b="1">
                          <a:solidFill>
                            <a:srgbClr val="1A1A1A"/>
                          </a:solidFill>
                          <a:latin typeface="Trebuchet MS"/>
                        </a:rPr>
                        <a:t>+0.199</a:t>
                      </a:r>
                      <a:r>
                        <a:rPr sz="1000" b="0">
                          <a:solidFill>
                            <a:srgbClr val="1A1A1A"/>
                          </a:solidFill>
                          <a:latin typeface="Trebuchet MS"/>
                        </a:rPr>
                        <a:t> higher than screen-time features, a gap distinguishable from zero.</a:t>
                      </a:r>
                    </a:p>
                  </a:txBody>
                  <a:tcPr marL="64008" marR="64008" marT="36576" marB="36576">
                    <a:solidFill>
                      <a:srgbClr val="FBF3EA"/>
                    </a:solidFill>
                  </a:tcPr>
                </a:tc>
                <a:tc>
                  <a:txBody>
                    <a:bodyPr wrap="square"/>
                    <a:lstStyle/>
                    <a:p>
                      <a:r>
                        <a:rPr sz="1000" b="0">
                          <a:solidFill>
                            <a:srgbClr val="1A1A1A"/>
                          </a:solidFill>
                          <a:latin typeface="Trebuchet MS"/>
                        </a:rPr>
                        <a:t>Exclusions fixed in advance. Confidence intervals from resampling the same people. Late responses lowered the headline but stay in, by a rule set beforehand. Game genre: no effect. Sensitivity/specificity not computed: only one respondent in the disordered range.</a:t>
                      </a:r>
                    </a:p>
                  </a:txBody>
                  <a:tcPr marL="64008" marR="64008" marT="36576" marB="36576">
                    <a:solidFill>
                      <a:srgbClr val="FBF3EA"/>
                    </a:solidFill>
                  </a:tcPr>
                </a:tc>
              </a:tr>
              <a:tr h="347472">
                <a:tc>
                  <a:txBody>
                    <a:bodyPr wrap="square"/>
                    <a:lstStyle/>
                    <a:p>
                      <a:r>
                        <a:rPr sz="1000" b="0">
                          <a:solidFill>
                            <a:srgbClr val="1A1A1A"/>
                          </a:solidFill>
                          <a:latin typeface="Trebuchet MS"/>
                        </a:rPr>
                        <a:t>Fairness (speech-to-text → toxicity)</a:t>
                      </a:r>
                    </a:p>
                  </a:txBody>
                  <a:tcPr marL="64008" marR="64008" marT="36576" marB="36576">
                    <a:solidFill>
                      <a:srgbClr val="FBF3EA"/>
                    </a:solidFill>
                  </a:tcPr>
                </a:tc>
                <a:tc>
                  <a:txBody>
                    <a:bodyPr wrap="square"/>
                    <a:lstStyle/>
                    <a:p>
                      <a:r>
                        <a:rPr sz="1000" b="1">
                          <a:solidFill>
                            <a:srgbClr val="1A1A1A"/>
                          </a:solidFill>
                          <a:latin typeface="Trebuchet MS"/>
                        </a:rPr>
                        <a:t>0 false alerts</a:t>
                      </a:r>
                      <a:r>
                        <a:rPr sz="1000" b="0">
                          <a:solidFill>
                            <a:srgbClr val="1A1A1A"/>
                          </a:solidFill>
                          <a:latin typeface="Trebuchet MS"/>
                        </a:rPr>
                        <a:t> across 6,656 clips of Indian-English speech, in every accent group. But speech-to-text error (WER, word error rate) varies by first-language family: 34.6% for Dravidian speakers up to 60.8% for Tibeto-Burman speakers.</a:t>
                      </a:r>
                    </a:p>
                  </a:txBody>
                  <a:tcPr marL="64008" marR="64008" marT="36576" marB="36576">
                    <a:solidFill>
                      <a:srgbClr val="FBF3EA"/>
                    </a:solidFill>
                  </a:tcPr>
                </a:tc>
                <a:tc>
                  <a:txBody>
                    <a:bodyPr wrap="square"/>
                    <a:lstStyle/>
                    <a:p>
                      <a:r>
                        <a:rPr sz="1000" b="0">
                          <a:solidFill>
                            <a:srgbClr val="1A1A1A"/>
                          </a:solidFill>
                          <a:latin typeface="Trebuchet MS"/>
                        </a:rPr>
                        <a:t>Svarah, an Indian-English speech corpus, run through the deployed speech-to-text and toxicity scorer.</a:t>
                      </a:r>
                    </a:p>
                  </a:txBody>
                  <a:tcPr marL="64008" marR="64008" marT="36576" marB="36576">
                    <a:solidFill>
                      <a:srgbClr val="FBF3EA"/>
                    </a:solidFill>
                  </a:tcPr>
                </a:tc>
              </a:tr>
              <a:tr h="347472">
                <a:tc>
                  <a:txBody>
                    <a:bodyPr wrap="square"/>
                    <a:lstStyle/>
                    <a:p>
                      <a:r>
                        <a:rPr sz="1000" b="0">
                          <a:solidFill>
                            <a:srgbClr val="1A1A1A"/>
                          </a:solidFill>
                          <a:latin typeface="Trebuchet MS"/>
                        </a:rPr>
                        <a:t>System / apps</a:t>
                      </a:r>
                    </a:p>
                  </a:txBody>
                  <a:tcPr marL="64008" marR="64008" marT="36576" marB="36576">
                    <a:solidFill>
                      <a:srgbClr val="FFFFFF"/>
                    </a:solidFill>
                  </a:tcPr>
                </a:tc>
                <a:tc>
                  <a:txBody>
                    <a:bodyPr wrap="square"/>
                    <a:lstStyle/>
                    <a:p>
                      <a:r>
                        <a:rPr sz="1000" b="0">
                          <a:solidFill>
                            <a:srgbClr val="1A1A1A"/>
                          </a:solidFill>
                          <a:latin typeface="Trebuchet MS"/>
                        </a:rPr>
                        <a:t>Backend live on Render and Neon. Signed APKs tested on a phone. Consented family pilot completed. Default path measured on-device: </a:t>
                      </a:r>
                      <a:r>
                        <a:rPr sz="1000" b="1">
                          <a:solidFill>
                            <a:srgbClr val="1A1A1A"/>
                          </a:solidFill>
                          <a:latin typeface="Trebuchet MS"/>
                        </a:rPr>
                        <a:t>14% CPU / 288 MB</a:t>
                      </a:r>
                      <a:r>
                        <a:rPr sz="1000" b="0">
                          <a:solidFill>
                            <a:srgbClr val="1A1A1A"/>
                          </a:solidFill>
                          <a:latin typeface="Trebuchet MS"/>
                        </a:rPr>
                        <a:t>. Two speech-to-text engines together (dual-STT) </a:t>
                      </a:r>
                      <a:r>
                        <a:rPr sz="1000" b="1">
                          <a:solidFill>
                            <a:srgbClr val="1A1A1A"/>
                          </a:solidFill>
                          <a:latin typeface="Trebuchet MS"/>
                        </a:rPr>
                        <a:t>fail our resource gate: default OFF</a:t>
                      </a:r>
                      <a:r>
                        <a:rPr sz="1000" b="0">
                          <a:solidFill>
                            <a:srgbClr val="1A1A1A"/>
                          </a:solidFill>
                          <a:latin typeface="Trebuchet MS"/>
                        </a:rPr>
                        <a:t>.</a:t>
                      </a:r>
                    </a:p>
                  </a:txBody>
                  <a:tcPr marL="64008" marR="64008" marT="36576" marB="36576">
                    <a:solidFill>
                      <a:srgbClr val="FFFFFF"/>
                    </a:solidFill>
                  </a:tcPr>
                </a:tc>
                <a:tc>
                  <a:txBody>
                    <a:bodyPr wrap="square"/>
                    <a:lstStyle/>
                    <a:p>
                      <a:r>
                        <a:rPr sz="1000" b="0">
                          <a:solidFill>
                            <a:srgbClr val="1A1A1A"/>
                          </a:solidFill>
                          <a:latin typeface="Trebuchet MS"/>
                        </a:rPr>
                        <a:t>181 backend tests (SQLite and Postgres), 110 Android tests and 7 paper-versus-data guards run in CI. 288-request load test: 0 errors. Plus fuzzing, CVE and MobSF scans.</a:t>
                      </a:r>
                    </a:p>
                  </a:txBody>
                  <a:tcPr marL="64008" marR="64008" marT="36576" marB="36576">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Applicability of Proposed Methodology in Other Domain</a:t>
            </a:r>
          </a:p>
        </p:txBody>
      </p:sp>
      <p:sp>
        <p:nvSpPr>
          <p:cNvPr id="5" name="TextBox 4"/>
          <p:cNvSpPr txBox="1"/>
          <p:nvPr/>
        </p:nvSpPr>
        <p:spPr>
          <a:xfrm>
            <a:off x="502920" y="1115568"/>
            <a:ext cx="10515600" cy="365760"/>
          </a:xfrm>
          <a:prstGeom prst="rect">
            <a:avLst/>
          </a:prstGeom>
          <a:noFill/>
        </p:spPr>
        <p:txBody>
          <a:bodyPr wrap="square" lIns="0" rIns="0">
            <a:spAutoFit/>
          </a:bodyPr>
          <a:lstStyle/>
          <a:p>
            <a:pPr algn="r"/>
            <a:r>
              <a:rPr sz="1500" b="1" i="0">
                <a:solidFill>
                  <a:srgbClr val="E07B1A"/>
                </a:solidFill>
                <a:latin typeface="Trebuchet MS"/>
              </a:rPr>
              <a:t>Where the methodology transfers</a:t>
            </a:r>
          </a:p>
        </p:txBody>
      </p:sp>
      <p:sp>
        <p:nvSpPr>
          <p:cNvPr id="6" name="Rectangle 5"/>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graphicFrame>
        <p:nvGraphicFramePr>
          <p:cNvPr id="9" name="Table 8"/>
          <p:cNvGraphicFramePr>
            <a:graphicFrameLocks noGrp="1"/>
          </p:cNvGraphicFramePr>
          <p:nvPr/>
        </p:nvGraphicFramePr>
        <p:xfrm>
          <a:off x="548640" y="1627632"/>
          <a:ext cx="11064240" cy="1737360"/>
        </p:xfrm>
        <a:graphic>
          <a:graphicData uri="http://schemas.openxmlformats.org/drawingml/2006/table">
            <a:tbl>
              <a:tblPr firstRow="1" bandRow="1">
                <a:tableStyleId>{5C22544A-7EE6-4342-B048-85BDC9FD1C3A}</a:tableStyleId>
              </a:tblPr>
              <a:tblGrid>
                <a:gridCol w="2834640"/>
                <a:gridCol w="2743200"/>
                <a:gridCol w="2651760"/>
                <a:gridCol w="2834640"/>
              </a:tblGrid>
              <a:tr h="347472">
                <a:tc>
                  <a:txBody>
                    <a:bodyPr wrap="square"/>
                    <a:lstStyle/>
                    <a:p>
                      <a:r>
                        <a:rPr sz="1100" b="0">
                          <a:solidFill>
                            <a:srgbClr val="FFFFFF"/>
                          </a:solidFill>
                          <a:latin typeface="Trebuchet MS"/>
                        </a:rPr>
                        <a:t>Domain and the common problem</a:t>
                      </a:r>
                    </a:p>
                  </a:txBody>
                  <a:tcPr marL="64008" marR="64008" marT="36576" marB="36576">
                    <a:solidFill>
                      <a:srgbClr val="E07B1A"/>
                    </a:solidFill>
                  </a:tcPr>
                </a:tc>
                <a:tc>
                  <a:txBody>
                    <a:bodyPr wrap="square"/>
                    <a:lstStyle/>
                    <a:p>
                      <a:r>
                        <a:rPr sz="1100" b="0">
                          <a:solidFill>
                            <a:srgbClr val="FFFFFF"/>
                          </a:solidFill>
                          <a:latin typeface="Trebuchet MS"/>
                        </a:rPr>
                        <a:t>Components that transfer</a:t>
                      </a:r>
                    </a:p>
                  </a:txBody>
                  <a:tcPr marL="64008" marR="64008" marT="36576" marB="36576">
                    <a:solidFill>
                      <a:srgbClr val="E07B1A"/>
                    </a:solidFill>
                  </a:tcPr>
                </a:tc>
                <a:tc>
                  <a:txBody>
                    <a:bodyPr wrap="square"/>
                    <a:lstStyle/>
                    <a:p>
                      <a:r>
                        <a:rPr sz="1100" b="0">
                          <a:solidFill>
                            <a:srgbClr val="FFFFFF"/>
                          </a:solidFill>
                          <a:latin typeface="Trebuchet MS"/>
                        </a:rPr>
                        <a:t>Modifications required</a:t>
                      </a:r>
                    </a:p>
                  </a:txBody>
                  <a:tcPr marL="64008" marR="64008" marT="36576" marB="36576">
                    <a:solidFill>
                      <a:srgbClr val="E07B1A"/>
                    </a:solidFill>
                  </a:tcPr>
                </a:tc>
                <a:tc>
                  <a:txBody>
                    <a:bodyPr wrap="square"/>
                    <a:lstStyle/>
                    <a:p>
                      <a:r>
                        <a:rPr sz="1100" b="0">
                          <a:solidFill>
                            <a:srgbClr val="FFFFFF"/>
                          </a:solidFill>
                          <a:latin typeface="Trebuchet MS"/>
                        </a:rPr>
                        <a:t>Datasets / data sources</a:t>
                      </a:r>
                    </a:p>
                  </a:txBody>
                  <a:tcPr marL="64008" marR="64008" marT="36576" marB="36576">
                    <a:solidFill>
                      <a:srgbClr val="E07B1A"/>
                    </a:solidFill>
                  </a:tcPr>
                </a:tc>
              </a:tr>
              <a:tr h="347472">
                <a:tc>
                  <a:txBody>
                    <a:bodyPr wrap="square"/>
                    <a:lstStyle/>
                    <a:p>
                      <a:r>
                        <a:rPr sz="1100" b="0">
                          <a:solidFill>
                            <a:srgbClr val="1A1A1A"/>
                          </a:solidFill>
                          <a:latin typeface="Trebuchet MS"/>
                        </a:rPr>
                        <a:t>Phone and social-media overuse. Hour counters miss compulsive patterns like late-night checking.</a:t>
                      </a:r>
                    </a:p>
                  </a:txBody>
                  <a:tcPr marL="64008" marR="64008" marT="36576" marB="36576">
                    <a:solidFill>
                      <a:srgbClr val="FBF3EA"/>
                    </a:solidFill>
                  </a:tcPr>
                </a:tc>
                <a:tc>
                  <a:txBody>
                    <a:bodyPr wrap="square"/>
                    <a:lstStyle/>
                    <a:p>
                      <a:r>
                        <a:rPr sz="1100" b="0">
                          <a:solidFill>
                            <a:srgbClr val="1A1A1A"/>
                          </a:solidFill>
                          <a:latin typeface="Trebuchet MS"/>
                        </a:rPr>
                        <a:t>Volume and pattern features, calibrated Random Forest, SHAP reasons (which features raised the score), three concern bands.</a:t>
                      </a:r>
                    </a:p>
                  </a:txBody>
                  <a:tcPr marL="64008" marR="64008" marT="36576" marB="36576">
                    <a:solidFill>
                      <a:srgbClr val="FBF3EA"/>
                    </a:solidFill>
                  </a:tcPr>
                </a:tc>
                <a:tc>
                  <a:txBody>
                    <a:bodyPr wrap="square"/>
                    <a:lstStyle/>
                    <a:p>
                      <a:r>
                        <a:rPr sz="1100" b="0">
                          <a:solidFill>
                            <a:srgbClr val="1A1A1A"/>
                          </a:solidFill>
                          <a:latin typeface="Trebuchet MS"/>
                        </a:rPr>
                        <a:t>Swap game sessions for app sessions. Retrain on real labels.</a:t>
                      </a:r>
                    </a:p>
                  </a:txBody>
                  <a:tcPr marL="64008" marR="64008" marT="36576" marB="36576">
                    <a:solidFill>
                      <a:srgbClr val="FBF3EA"/>
                    </a:solidFill>
                  </a:tcPr>
                </a:tc>
                <a:tc>
                  <a:txBody>
                    <a:bodyPr wrap="square"/>
                    <a:lstStyle/>
                    <a:p>
                      <a:r>
                        <a:rPr sz="1100" b="0">
                          <a:solidFill>
                            <a:srgbClr val="1A1A1A"/>
                          </a:solidFill>
                          <a:latin typeface="Trebuchet MS"/>
                        </a:rPr>
                        <a:t>StudentLife phone data. Validate against the Smartphone Addiction Scale short version or Bergen Social Media Addiction Scale.</a:t>
                      </a:r>
                    </a:p>
                  </a:txBody>
                  <a:tcPr marL="64008" marR="64008" marT="36576" marB="36576">
                    <a:solidFill>
                      <a:srgbClr val="FBF3EA"/>
                    </a:solidFill>
                  </a:tcPr>
                </a:tc>
              </a:tr>
              <a:tr h="347472">
                <a:tc>
                  <a:txBody>
                    <a:bodyPr wrap="square"/>
                    <a:lstStyle/>
                    <a:p>
                      <a:r>
                        <a:rPr sz="1100" b="0">
                          <a:solidFill>
                            <a:srgbClr val="1A1A1A"/>
                          </a:solidFill>
                          <a:latin typeface="Trebuchet MS"/>
                        </a:rPr>
                        <a:t>Gambling harm. It shows in night play and chasing losses, not only money spent.</a:t>
                      </a:r>
                    </a:p>
                  </a:txBody>
                  <a:tcPr marL="64008" marR="64008" marT="36576" marB="36576">
                    <a:solidFill>
                      <a:srgbClr val="FFFFFF"/>
                    </a:solidFill>
                  </a:tcPr>
                </a:tc>
                <a:tc>
                  <a:txBody>
                    <a:bodyPr wrap="square"/>
                    <a:lstStyle/>
                    <a:p>
                      <a:r>
                        <a:rPr sz="1100" b="0">
                          <a:solidFill>
                            <a:srgbClr val="1A1A1A"/>
                          </a:solidFill>
                          <a:latin typeface="Trebuchet MS"/>
                        </a:rPr>
                        <a:t>Pattern features (night share, binges, rapid re-entry), calibrated scores, and alerts only when very sure.</a:t>
                      </a:r>
                    </a:p>
                  </a:txBody>
                  <a:tcPr marL="64008" marR="64008" marT="36576" marB="36576">
                    <a:solidFill>
                      <a:srgbClr val="FFFFFF"/>
                    </a:solidFill>
                  </a:tcPr>
                </a:tc>
                <a:tc>
                  <a:txBody>
                    <a:bodyPr wrap="square"/>
                    <a:lstStyle/>
                    <a:p>
                      <a:r>
                        <a:rPr sz="1100" b="0">
                          <a:solidFill>
                            <a:srgbClr val="1A1A1A"/>
                          </a:solidFill>
                          <a:latin typeface="Trebuchet MS"/>
                        </a:rPr>
                        <a:t>Add stake and loss-chasing features. Alert the player or support staff, not a parent.</a:t>
                      </a:r>
                    </a:p>
                  </a:txBody>
                  <a:tcPr marL="64008" marR="64008" marT="36576" marB="36576">
                    <a:solidFill>
                      <a:srgbClr val="FFFFFF"/>
                    </a:solidFill>
                  </a:tcPr>
                </a:tc>
                <a:tc>
                  <a:txBody>
                    <a:bodyPr wrap="square"/>
                    <a:lstStyle/>
                    <a:p>
                      <a:r>
                        <a:rPr sz="1100" b="0">
                          <a:solidFill>
                            <a:srgbClr val="1A1A1A"/>
                          </a:solidFill>
                          <a:latin typeface="Trebuchet MS"/>
                        </a:rPr>
                        <a:t>Public bwin records (Transparency Project, Division on Addiction). Validate with the Problem Gambling Severity Index.</a:t>
                      </a:r>
                    </a:p>
                  </a:txBody>
                  <a:tcPr marL="64008" marR="64008" marT="36576" marB="36576">
                    <a:solidFill>
                      <a:srgbClr val="FFFFFF"/>
                    </a:solidFill>
                  </a:tcPr>
                </a:tc>
              </a:tr>
              <a:tr h="347472">
                <a:tc>
                  <a:txBody>
                    <a:bodyPr wrap="square"/>
                    <a:lstStyle/>
                    <a:p>
                      <a:r>
                        <a:rPr sz="1100" b="0">
                          <a:solidFill>
                            <a:srgbClr val="1A1A1A"/>
                          </a:solidFill>
                          <a:latin typeface="Trebuchet MS"/>
                        </a:rPr>
                        <a:t>Abuse on Indian platforms and school chat. English-only filters miss Hinglish and Devanagari Hindi.</a:t>
                      </a:r>
                    </a:p>
                  </a:txBody>
                  <a:tcPr marL="64008" marR="64008" marT="36576" marB="36576">
                    <a:solidFill>
                      <a:srgbClr val="FBF3EA"/>
                    </a:solidFill>
                  </a:tcPr>
                </a:tc>
                <a:tc>
                  <a:txBody>
                    <a:bodyPr wrap="square"/>
                    <a:lstStyle/>
                    <a:p>
                      <a:r>
                        <a:rPr sz="1100" b="0">
                          <a:solidFill>
                            <a:srgbClr val="1A1A1A"/>
                          </a:solidFill>
                          <a:latin typeface="Trebuchet MS"/>
                        </a:rPr>
                        <a:t>TF-IDF text model plus keyword list, highest score per session, streak alert for repeated abuse, fairness audit.</a:t>
                      </a:r>
                    </a:p>
                  </a:txBody>
                  <a:tcPr marL="64008" marR="64008" marT="36576" marB="36576">
                    <a:solidFill>
                      <a:srgbClr val="FBF3EA"/>
                    </a:solidFill>
                  </a:tcPr>
                </a:tc>
                <a:tc>
                  <a:txBody>
                    <a:bodyPr wrap="square"/>
                    <a:lstStyle/>
                    <a:p>
                      <a:r>
                        <a:rPr sz="1100" b="0">
                          <a:solidFill>
                            <a:srgbClr val="1A1A1A"/>
                          </a:solidFill>
                          <a:latin typeface="Trebuchet MS"/>
                        </a:rPr>
                        <a:t>Add bullying labels and more Indian languages. Re-tune the alert threshold on school chat.</a:t>
                      </a:r>
                    </a:p>
                  </a:txBody>
                  <a:tcPr marL="64008" marR="64008" marT="36576" marB="36576">
                    <a:solidFill>
                      <a:srgbClr val="FBF3EA"/>
                    </a:solidFill>
                  </a:tcPr>
                </a:tc>
                <a:tc>
                  <a:txBody>
                    <a:bodyPr wrap="square"/>
                    <a:lstStyle/>
                    <a:p>
                      <a:r>
                        <a:rPr sz="1100" b="0">
                          <a:solidFill>
                            <a:srgbClr val="1A1A1A"/>
                          </a:solidFill>
                          <a:latin typeface="Trebuchet MS"/>
                        </a:rPr>
                        <a:t>HASOC shared-task data in Hindi and English. MACD, abusive comments in five Indian languages.</a:t>
                      </a:r>
                    </a:p>
                  </a:txBody>
                  <a:tcPr marL="64008" marR="64008" marT="36576" marB="36576">
                    <a:solidFill>
                      <a:srgbClr val="FBF3EA"/>
                    </a:solidFill>
                  </a:tcPr>
                </a:tc>
              </a:tr>
              <a:tr h="347472">
                <a:tc>
                  <a:txBody>
                    <a:bodyPr wrap="square"/>
                    <a:lstStyle/>
                    <a:p>
                      <a:r>
                        <a:rPr sz="1100" b="0">
                          <a:solidFill>
                            <a:srgbClr val="1A1A1A"/>
                          </a:solidFill>
                          <a:latin typeface="Trebuchet MS"/>
                        </a:rPr>
                        <a:t>Fintech fraud alerts. Fraud is rare, and floods of false alerts get ignored.</a:t>
                      </a:r>
                    </a:p>
                  </a:txBody>
                  <a:tcPr marL="64008" marR="64008" marT="36576" marB="36576">
                    <a:solidFill>
                      <a:srgbClr val="FFFFFF"/>
                    </a:solidFill>
                  </a:tcPr>
                </a:tc>
                <a:tc>
                  <a:txBody>
                    <a:bodyPr wrap="square"/>
                    <a:lstStyle/>
                    <a:p>
                      <a:r>
                        <a:rPr sz="1100" b="0">
                          <a:solidFill>
                            <a:srgbClr val="1A1A1A"/>
                          </a:solidFill>
                          <a:latin typeface="Trebuchet MS"/>
                        </a:rPr>
                        <a:t>Only the method: PR-AUC (honest when positives are rare), calibration, precision-first thresholds, ablations (remove one part, measure the loss).</a:t>
                      </a:r>
                    </a:p>
                  </a:txBody>
                  <a:tcPr marL="64008" marR="64008" marT="36576" marB="36576">
                    <a:solidFill>
                      <a:srgbClr val="FFFFFF"/>
                    </a:solidFill>
                  </a:tcPr>
                </a:tc>
                <a:tc>
                  <a:txBody>
                    <a:bodyPr wrap="square"/>
                    <a:lstStyle/>
                    <a:p>
                      <a:r>
                        <a:rPr sz="1100" b="0">
                          <a:solidFill>
                            <a:srgbClr val="1A1A1A"/>
                          </a:solidFill>
                          <a:latin typeface="Trebuchet MS"/>
                        </a:rPr>
                        <a:t>New models. Transaction speed and time of day matter more than the amount.</a:t>
                      </a:r>
                    </a:p>
                  </a:txBody>
                  <a:tcPr marL="64008" marR="64008" marT="36576" marB="36576">
                    <a:solidFill>
                      <a:srgbClr val="FFFFFF"/>
                    </a:solidFill>
                  </a:tcPr>
                </a:tc>
                <a:tc>
                  <a:txBody>
                    <a:bodyPr wrap="square"/>
                    <a:lstStyle/>
                    <a:p>
                      <a:r>
                        <a:rPr sz="1100" b="0">
                          <a:solidFill>
                            <a:srgbClr val="1A1A1A"/>
                          </a:solidFill>
                          <a:latin typeface="Trebuchet MS"/>
                        </a:rPr>
                        <a:t>IEEE-CIS Fraud Detection data on Kaggle. The ULB credit-card fraud dataset.</a:t>
                      </a:r>
                    </a:p>
                  </a:txBody>
                  <a:tcPr marL="64008" marR="64008" marT="36576" marB="36576">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Applicability of Proposed Methodology in Other Domain</a:t>
            </a:r>
          </a:p>
        </p:txBody>
      </p:sp>
      <p:sp>
        <p:nvSpPr>
          <p:cNvPr id="5" name="TextBox 4"/>
          <p:cNvSpPr txBox="1"/>
          <p:nvPr/>
        </p:nvSpPr>
        <p:spPr>
          <a:xfrm>
            <a:off x="502920" y="1115568"/>
            <a:ext cx="10515600" cy="365760"/>
          </a:xfrm>
          <a:prstGeom prst="rect">
            <a:avLst/>
          </a:prstGeom>
          <a:noFill/>
        </p:spPr>
        <p:txBody>
          <a:bodyPr wrap="square" lIns="0" rIns="0">
            <a:spAutoFit/>
          </a:bodyPr>
          <a:lstStyle/>
          <a:p>
            <a:pPr algn="r"/>
            <a:r>
              <a:rPr sz="1500" b="1" i="0">
                <a:solidFill>
                  <a:srgbClr val="E07B1A"/>
                </a:solidFill>
                <a:latin typeface="Trebuchet MS"/>
              </a:rPr>
              <a:t>Benefits, feasibility, comparison and future scope</a:t>
            </a:r>
          </a:p>
        </p:txBody>
      </p:sp>
      <p:sp>
        <p:nvSpPr>
          <p:cNvPr id="6" name="Rectangle 5"/>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sp>
        <p:nvSpPr>
          <p:cNvPr id="9" name="Rounded Rectangle 8"/>
          <p:cNvSpPr/>
          <p:nvPr/>
        </p:nvSpPr>
        <p:spPr>
          <a:xfrm>
            <a:off x="548640" y="1673352"/>
            <a:ext cx="5394960" cy="4069080"/>
          </a:xfrm>
          <a:prstGeom prst="roundRect">
            <a:avLst>
              <a:gd name="adj" fmla="val 4000"/>
            </a:avLst>
          </a:prstGeom>
          <a:solidFill>
            <a:srgbClr val="FBF3EA"/>
          </a:solidFill>
          <a:ln w="22225">
            <a:solidFill>
              <a:srgbClr val="E07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783080"/>
            <a:ext cx="5029200" cy="411480"/>
          </a:xfrm>
          <a:prstGeom prst="rect">
            <a:avLst/>
          </a:prstGeom>
          <a:noFill/>
        </p:spPr>
        <p:txBody>
          <a:bodyPr wrap="square" lIns="0" rIns="0">
            <a:spAutoFit/>
          </a:bodyPr>
          <a:lstStyle/>
          <a:p>
            <a:pPr algn="l"/>
            <a:r>
              <a:rPr sz="1600" b="1" i="0">
                <a:solidFill>
                  <a:srgbClr val="E07B1A"/>
                </a:solidFill>
                <a:latin typeface="Trebuchet MS"/>
              </a:rPr>
              <a:t>Benefits and comparison</a:t>
            </a:r>
          </a:p>
        </p:txBody>
      </p:sp>
      <p:sp>
        <p:nvSpPr>
          <p:cNvPr id="11" name="TextBox 10"/>
          <p:cNvSpPr txBox="1"/>
          <p:nvPr/>
        </p:nvSpPr>
        <p:spPr>
          <a:xfrm>
            <a:off x="731520" y="2240280"/>
            <a:ext cx="5029200" cy="3383280"/>
          </a:xfrm>
          <a:prstGeom prst="rect">
            <a:avLst/>
          </a:prstGeom>
          <a:noFill/>
        </p:spPr>
        <p:txBody>
          <a:bodyPr wrap="square">
            <a:spAutoFit/>
          </a:bodyPr>
          <a:lstStyle/>
          <a:p>
            <a:pPr>
              <a:spcAft>
                <a:spcPts val="700"/>
              </a:spcAft>
            </a:pPr>
            <a:r>
              <a:rPr sz="1300" b="0">
                <a:solidFill>
                  <a:srgbClr val="1A1A1A"/>
                </a:solidFill>
                <a:latin typeface="Trebuchet MS"/>
              </a:rPr>
              <a:t>▪  Pattern-aware signals: night play, binge sessions and rapid re-entry, not just total hours.</a:t>
            </a:r>
          </a:p>
          <a:p>
            <a:pPr>
              <a:spcAft>
                <a:spcPts val="700"/>
              </a:spcAft>
            </a:pPr>
            <a:r>
              <a:rPr sz="1300" b="0">
                <a:solidFill>
                  <a:srgbClr val="1A1A1A"/>
                </a:solidFill>
                <a:latin typeface="Trebuchet MS"/>
              </a:rPr>
              <a:t>▪  Calibrated scores: of all cases scored 0.7, about 70% really are at risk. SHAP turns each score into plain-language reasons.</a:t>
            </a:r>
          </a:p>
          <a:p>
            <a:pPr>
              <a:spcAft>
                <a:spcPts val="700"/>
              </a:spcAft>
            </a:pPr>
            <a:r>
              <a:rPr sz="1300" b="0">
                <a:solidFill>
                  <a:srgbClr val="1A1A1A"/>
                </a:solidFill>
                <a:latin typeface="Trebuchet MS"/>
              </a:rPr>
              <a:t>▪  Precision-first alerting: alert only when very sure, so families or staff are not flooded with false alarms.</a:t>
            </a:r>
          </a:p>
          <a:p>
            <a:pPr>
              <a:spcAft>
                <a:spcPts val="700"/>
              </a:spcAft>
            </a:pPr>
            <a:r>
              <a:rPr sz="1300" b="0">
                <a:solidFill>
                  <a:srgbClr val="1A1A1A"/>
                </a:solidFill>
                <a:latin typeface="Trebuchet MS"/>
              </a:rPr>
              <a:t>▪  Fairness audit built in: check every accent or language group for false alerts before trusting the system.</a:t>
            </a:r>
          </a:p>
          <a:p>
            <a:pPr>
              <a:spcAft>
                <a:spcPts val="700"/>
              </a:spcAft>
            </a:pPr>
            <a:r>
              <a:rPr sz="1300" b="0">
                <a:solidFill>
                  <a:srgbClr val="1A1A1A"/>
                </a:solidFill>
                <a:latin typeface="Trebuchet MS"/>
              </a:rPr>
              <a:t>▪  Existing tools fall short: screen-time dashboards report volume only, keyword or English-only filters miss Hinglish abuse, and risk scores are rarely calibrated.</a:t>
            </a:r>
          </a:p>
        </p:txBody>
      </p:sp>
      <p:sp>
        <p:nvSpPr>
          <p:cNvPr id="12" name="Rounded Rectangle 11"/>
          <p:cNvSpPr/>
          <p:nvPr/>
        </p:nvSpPr>
        <p:spPr>
          <a:xfrm>
            <a:off x="6217920" y="1673352"/>
            <a:ext cx="5394960" cy="4069080"/>
          </a:xfrm>
          <a:prstGeom prst="roundRect">
            <a:avLst>
              <a:gd name="adj" fmla="val 4000"/>
            </a:avLst>
          </a:prstGeom>
          <a:solidFill>
            <a:srgbClr val="FBF3EA"/>
          </a:solidFill>
          <a:ln w="22225">
            <a:solidFill>
              <a:srgbClr val="E07B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83080"/>
            <a:ext cx="5029200" cy="411480"/>
          </a:xfrm>
          <a:prstGeom prst="rect">
            <a:avLst/>
          </a:prstGeom>
          <a:noFill/>
        </p:spPr>
        <p:txBody>
          <a:bodyPr wrap="square" lIns="0" rIns="0">
            <a:spAutoFit/>
          </a:bodyPr>
          <a:lstStyle/>
          <a:p>
            <a:pPr algn="l"/>
            <a:r>
              <a:rPr sz="1600" b="1" i="0">
                <a:solidFill>
                  <a:srgbClr val="E07B1A"/>
                </a:solidFill>
                <a:latin typeface="Trebuchet MS"/>
              </a:rPr>
              <a:t>Feasibility, limitations, future scope</a:t>
            </a:r>
          </a:p>
        </p:txBody>
      </p:sp>
      <p:sp>
        <p:nvSpPr>
          <p:cNvPr id="14" name="TextBox 13"/>
          <p:cNvSpPr txBox="1"/>
          <p:nvPr/>
        </p:nvSpPr>
        <p:spPr>
          <a:xfrm>
            <a:off x="6400800" y="2240280"/>
            <a:ext cx="5029200" cy="3383280"/>
          </a:xfrm>
          <a:prstGeom prst="rect">
            <a:avLst/>
          </a:prstGeom>
          <a:noFill/>
        </p:spPr>
        <p:txBody>
          <a:bodyPr wrap="square">
            <a:spAutoFit/>
          </a:bodyPr>
          <a:lstStyle/>
          <a:p>
            <a:pPr>
              <a:spcAft>
                <a:spcPts val="700"/>
              </a:spcAft>
            </a:pPr>
            <a:r>
              <a:rPr sz="1300" b="0">
                <a:solidFill>
                  <a:srgbClr val="1A1A1A"/>
                </a:solidFill>
                <a:latin typeface="Trebuchet MS"/>
              </a:rPr>
              <a:t>▪  Feasible wherever passive usage data and a validated questionnaire both exist to check the scores against.</a:t>
            </a:r>
          </a:p>
          <a:p>
            <a:pPr>
              <a:spcAft>
                <a:spcPts val="700"/>
              </a:spcAft>
            </a:pPr>
            <a:r>
              <a:rPr sz="1300" b="0">
                <a:solidFill>
                  <a:srgbClr val="1A1A1A"/>
                </a:solidFill>
                <a:latin typeface="Trebuchet MS"/>
              </a:rPr>
              <a:t>▪  Needs in-domain data: without real gaming chat in training, our chat PR-AUC (ranking quality when positives are rare) fell 31 points, 0.825 to 0.511.</a:t>
            </a:r>
          </a:p>
          <a:p>
            <a:pPr>
              <a:spcAft>
                <a:spcPts val="700"/>
              </a:spcAft>
            </a:pPr>
            <a:r>
              <a:rPr sz="1300" b="0">
                <a:solidFill>
                  <a:srgbClr val="1A1A1A"/>
                </a:solidFill>
                <a:latin typeface="Trebuchet MS"/>
              </a:rPr>
              <a:t>▪  Every new population needs its own ethics review and consent, under India's Digital Personal Data Protection (DPDP) Act 2023.</a:t>
            </a:r>
          </a:p>
          <a:p>
            <a:pPr>
              <a:spcAft>
                <a:spcPts val="700"/>
              </a:spcAft>
            </a:pPr>
            <a:r>
              <a:rPr sz="1300" b="0">
                <a:solidFill>
                  <a:srgbClr val="1A1A1A"/>
                </a:solidFill>
                <a:latin typeface="Trebuchet MS"/>
              </a:rPr>
              <a:t>▪  Transfer is never free: models must be retrained and re-validated in each new domain.</a:t>
            </a:r>
          </a:p>
          <a:p>
            <a:pPr>
              <a:spcAft>
                <a:spcPts val="700"/>
              </a:spcAft>
            </a:pPr>
            <a:r>
              <a:rPr sz="1300" b="0">
                <a:solidFill>
                  <a:srgbClr val="1A1A1A"/>
                </a:solidFill>
                <a:latin typeface="Trebuchet MS"/>
              </a:rPr>
              <a:t>▪  Future scope: a reusable screening-pipeline toolkit, per-domain pilots, and on-device small models only after a resource drill like ours.</a:t>
            </a:r>
          </a:p>
        </p:txBody>
      </p:sp>
      <p:sp>
        <p:nvSpPr>
          <p:cNvPr id="15" name="TextBox 14"/>
          <p:cNvSpPr txBox="1"/>
          <p:nvPr/>
        </p:nvSpPr>
        <p:spPr>
          <a:xfrm>
            <a:off x="548640" y="5852160"/>
            <a:ext cx="11064240" cy="457200"/>
          </a:xfrm>
          <a:prstGeom prst="rect">
            <a:avLst/>
          </a:prstGeom>
          <a:noFill/>
        </p:spPr>
        <p:txBody>
          <a:bodyPr wrap="square" lIns="0" rIns="0">
            <a:spAutoFit/>
          </a:bodyPr>
          <a:lstStyle/>
          <a:p>
            <a:pPr algn="ctr"/>
            <a:r>
              <a:rPr sz="1300" b="0" i="1">
                <a:solidFill>
                  <a:srgbClr val="5A2E0E"/>
                </a:solidFill>
                <a:latin typeface="Trebuchet MS"/>
              </a:rPr>
              <a:t>What transfers is the method: measure patterns, calibrate, explain, alert only when sure, and audit fairness. The trained models do not transfer.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Timeline – Update on Pending Tasks</a:t>
            </a:r>
          </a:p>
        </p:txBody>
      </p:sp>
      <p:sp>
        <p:nvSpPr>
          <p:cNvPr id="5" name="TextBox 4"/>
          <p:cNvSpPr txBox="1"/>
          <p:nvPr/>
        </p:nvSpPr>
        <p:spPr>
          <a:xfrm>
            <a:off x="502920" y="1115568"/>
            <a:ext cx="10515600" cy="365760"/>
          </a:xfrm>
          <a:prstGeom prst="rect">
            <a:avLst/>
          </a:prstGeom>
          <a:noFill/>
        </p:spPr>
        <p:txBody>
          <a:bodyPr wrap="square" lIns="0" rIns="0">
            <a:spAutoFit/>
          </a:bodyPr>
          <a:lstStyle/>
          <a:p>
            <a:pPr algn="r"/>
            <a:r>
              <a:rPr sz="1500" b="1" i="0">
                <a:solidFill>
                  <a:srgbClr val="E07B1A"/>
                </a:solidFill>
                <a:latin typeface="Trebuchet MS"/>
              </a:rPr>
              <a:t>All modules are complete; these tasks remain</a:t>
            </a:r>
          </a:p>
        </p:txBody>
      </p:sp>
      <p:sp>
        <p:nvSpPr>
          <p:cNvPr id="6" name="Rectangle 5"/>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sp>
        <p:nvSpPr>
          <p:cNvPr id="9" name="TextBox 8"/>
          <p:cNvSpPr txBox="1"/>
          <p:nvPr/>
        </p:nvSpPr>
        <p:spPr>
          <a:xfrm>
            <a:off x="548640" y="1600200"/>
            <a:ext cx="4663440" cy="429768"/>
          </a:xfrm>
          <a:prstGeom prst="rect">
            <a:avLst/>
          </a:prstGeom>
          <a:noFill/>
        </p:spPr>
        <p:txBody>
          <a:bodyPr wrap="square" lIns="0" rIns="0">
            <a:spAutoFit/>
          </a:bodyPr>
          <a:lstStyle/>
          <a:p>
            <a:pPr algn="l"/>
            <a:r>
              <a:rPr sz="1200" b="1" i="0">
                <a:solidFill>
                  <a:srgbClr val="E07B1A"/>
                </a:solidFill>
                <a:latin typeface="Trebuchet MS"/>
              </a:rPr>
              <a:t>Task</a:t>
            </a:r>
          </a:p>
        </p:txBody>
      </p:sp>
      <p:sp>
        <p:nvSpPr>
          <p:cNvPr id="10" name="TextBox 9"/>
          <p:cNvSpPr txBox="1"/>
          <p:nvPr/>
        </p:nvSpPr>
        <p:spPr>
          <a:xfrm>
            <a:off x="5212080" y="1600200"/>
            <a:ext cx="1234440" cy="429768"/>
          </a:xfrm>
          <a:prstGeom prst="rect">
            <a:avLst/>
          </a:prstGeom>
          <a:noFill/>
        </p:spPr>
        <p:txBody>
          <a:bodyPr wrap="square" lIns="0" rIns="0">
            <a:spAutoFit/>
          </a:bodyPr>
          <a:lstStyle/>
          <a:p>
            <a:pPr algn="l"/>
            <a:r>
              <a:rPr sz="1200" b="1" i="0">
                <a:solidFill>
                  <a:srgbClr val="E07B1A"/>
                </a:solidFill>
                <a:latin typeface="Trebuchet MS"/>
              </a:rPr>
              <a:t>Owner</a:t>
            </a:r>
          </a:p>
        </p:txBody>
      </p:sp>
      <p:sp>
        <p:nvSpPr>
          <p:cNvPr id="11" name="TextBox 10"/>
          <p:cNvSpPr txBox="1"/>
          <p:nvPr/>
        </p:nvSpPr>
        <p:spPr>
          <a:xfrm>
            <a:off x="6446520" y="1600200"/>
            <a:ext cx="574040" cy="429768"/>
          </a:xfrm>
          <a:prstGeom prst="rect">
            <a:avLst/>
          </a:prstGeom>
          <a:noFill/>
        </p:spPr>
        <p:txBody>
          <a:bodyPr wrap="square" lIns="0" rIns="0">
            <a:spAutoFit/>
          </a:bodyPr>
          <a:lstStyle/>
          <a:p>
            <a:pPr algn="ctr"/>
            <a:r>
              <a:rPr sz="1000" b="1" i="0">
                <a:solidFill>
                  <a:srgbClr val="E07B1A"/>
                </a:solidFill>
                <a:latin typeface="Trebuchet MS"/>
              </a:rPr>
              <a:t>5 Oct</a:t>
            </a:r>
          </a:p>
        </p:txBody>
      </p:sp>
      <p:sp>
        <p:nvSpPr>
          <p:cNvPr id="12" name="TextBox 11"/>
          <p:cNvSpPr txBox="1"/>
          <p:nvPr/>
        </p:nvSpPr>
        <p:spPr>
          <a:xfrm>
            <a:off x="7020560" y="1600200"/>
            <a:ext cx="574040" cy="429768"/>
          </a:xfrm>
          <a:prstGeom prst="rect">
            <a:avLst/>
          </a:prstGeom>
          <a:noFill/>
        </p:spPr>
        <p:txBody>
          <a:bodyPr wrap="square" lIns="0" rIns="0">
            <a:spAutoFit/>
          </a:bodyPr>
          <a:lstStyle/>
          <a:p>
            <a:pPr algn="ctr"/>
            <a:r>
              <a:rPr sz="1000" b="1" i="0">
                <a:solidFill>
                  <a:srgbClr val="E07B1A"/>
                </a:solidFill>
                <a:latin typeface="Trebuchet MS"/>
              </a:rPr>
              <a:t>12 Oct</a:t>
            </a:r>
          </a:p>
        </p:txBody>
      </p:sp>
      <p:sp>
        <p:nvSpPr>
          <p:cNvPr id="13" name="TextBox 12"/>
          <p:cNvSpPr txBox="1"/>
          <p:nvPr/>
        </p:nvSpPr>
        <p:spPr>
          <a:xfrm>
            <a:off x="7594600" y="1600200"/>
            <a:ext cx="574040" cy="429768"/>
          </a:xfrm>
          <a:prstGeom prst="rect">
            <a:avLst/>
          </a:prstGeom>
          <a:noFill/>
        </p:spPr>
        <p:txBody>
          <a:bodyPr wrap="square" lIns="0" rIns="0">
            <a:spAutoFit/>
          </a:bodyPr>
          <a:lstStyle/>
          <a:p>
            <a:pPr algn="ctr"/>
            <a:r>
              <a:rPr sz="1000" b="1" i="0">
                <a:solidFill>
                  <a:srgbClr val="E07B1A"/>
                </a:solidFill>
                <a:latin typeface="Trebuchet MS"/>
              </a:rPr>
              <a:t>19 Oct</a:t>
            </a:r>
          </a:p>
        </p:txBody>
      </p:sp>
      <p:sp>
        <p:nvSpPr>
          <p:cNvPr id="14" name="TextBox 13"/>
          <p:cNvSpPr txBox="1"/>
          <p:nvPr/>
        </p:nvSpPr>
        <p:spPr>
          <a:xfrm>
            <a:off x="8168640" y="1600200"/>
            <a:ext cx="574040" cy="429768"/>
          </a:xfrm>
          <a:prstGeom prst="rect">
            <a:avLst/>
          </a:prstGeom>
          <a:noFill/>
        </p:spPr>
        <p:txBody>
          <a:bodyPr wrap="square" lIns="0" rIns="0">
            <a:spAutoFit/>
          </a:bodyPr>
          <a:lstStyle/>
          <a:p>
            <a:pPr algn="ctr"/>
            <a:r>
              <a:rPr sz="1000" b="1" i="0">
                <a:solidFill>
                  <a:srgbClr val="E07B1A"/>
                </a:solidFill>
                <a:latin typeface="Trebuchet MS"/>
              </a:rPr>
              <a:t>26 Oct</a:t>
            </a:r>
          </a:p>
        </p:txBody>
      </p:sp>
      <p:sp>
        <p:nvSpPr>
          <p:cNvPr id="15" name="TextBox 14"/>
          <p:cNvSpPr txBox="1"/>
          <p:nvPr/>
        </p:nvSpPr>
        <p:spPr>
          <a:xfrm>
            <a:off x="8742680" y="1600200"/>
            <a:ext cx="574040" cy="429768"/>
          </a:xfrm>
          <a:prstGeom prst="rect">
            <a:avLst/>
          </a:prstGeom>
          <a:noFill/>
        </p:spPr>
        <p:txBody>
          <a:bodyPr wrap="square" lIns="0" rIns="0">
            <a:spAutoFit/>
          </a:bodyPr>
          <a:lstStyle/>
          <a:p>
            <a:pPr algn="ctr"/>
            <a:r>
              <a:rPr sz="1000" b="1" i="0">
                <a:solidFill>
                  <a:srgbClr val="E07B1A"/>
                </a:solidFill>
                <a:latin typeface="Trebuchet MS"/>
              </a:rPr>
              <a:t>2 Nov</a:t>
            </a:r>
          </a:p>
        </p:txBody>
      </p:sp>
      <p:sp>
        <p:nvSpPr>
          <p:cNvPr id="16" name="TextBox 15"/>
          <p:cNvSpPr txBox="1"/>
          <p:nvPr/>
        </p:nvSpPr>
        <p:spPr>
          <a:xfrm>
            <a:off x="9316720" y="1600200"/>
            <a:ext cx="574040" cy="429768"/>
          </a:xfrm>
          <a:prstGeom prst="rect">
            <a:avLst/>
          </a:prstGeom>
          <a:noFill/>
        </p:spPr>
        <p:txBody>
          <a:bodyPr wrap="square" lIns="0" rIns="0">
            <a:spAutoFit/>
          </a:bodyPr>
          <a:lstStyle/>
          <a:p>
            <a:pPr algn="ctr"/>
            <a:r>
              <a:rPr sz="1000" b="1" i="0">
                <a:solidFill>
                  <a:srgbClr val="E07B1A"/>
                </a:solidFill>
                <a:latin typeface="Trebuchet MS"/>
              </a:rPr>
              <a:t>9 Nov</a:t>
            </a:r>
          </a:p>
        </p:txBody>
      </p:sp>
      <p:sp>
        <p:nvSpPr>
          <p:cNvPr id="17" name="TextBox 16"/>
          <p:cNvSpPr txBox="1"/>
          <p:nvPr/>
        </p:nvSpPr>
        <p:spPr>
          <a:xfrm>
            <a:off x="9890760" y="1600200"/>
            <a:ext cx="574040" cy="429768"/>
          </a:xfrm>
          <a:prstGeom prst="rect">
            <a:avLst/>
          </a:prstGeom>
          <a:noFill/>
        </p:spPr>
        <p:txBody>
          <a:bodyPr wrap="square" lIns="0" rIns="0">
            <a:spAutoFit/>
          </a:bodyPr>
          <a:lstStyle/>
          <a:p>
            <a:pPr algn="ctr"/>
            <a:r>
              <a:rPr sz="1000" b="1" i="0">
                <a:solidFill>
                  <a:srgbClr val="E07B1A"/>
                </a:solidFill>
                <a:latin typeface="Trebuchet MS"/>
              </a:rPr>
              <a:t>16 Nov</a:t>
            </a:r>
          </a:p>
        </p:txBody>
      </p:sp>
      <p:sp>
        <p:nvSpPr>
          <p:cNvPr id="18" name="TextBox 17"/>
          <p:cNvSpPr txBox="1"/>
          <p:nvPr/>
        </p:nvSpPr>
        <p:spPr>
          <a:xfrm>
            <a:off x="10464800" y="1600200"/>
            <a:ext cx="574040" cy="429768"/>
          </a:xfrm>
          <a:prstGeom prst="rect">
            <a:avLst/>
          </a:prstGeom>
          <a:noFill/>
        </p:spPr>
        <p:txBody>
          <a:bodyPr wrap="square" lIns="0" rIns="0">
            <a:spAutoFit/>
          </a:bodyPr>
          <a:lstStyle/>
          <a:p>
            <a:pPr algn="ctr"/>
            <a:r>
              <a:rPr sz="1000" b="1" i="0">
                <a:solidFill>
                  <a:srgbClr val="E07B1A"/>
                </a:solidFill>
                <a:latin typeface="Trebuchet MS"/>
              </a:rPr>
              <a:t>23 Nov</a:t>
            </a:r>
          </a:p>
        </p:txBody>
      </p:sp>
      <p:sp>
        <p:nvSpPr>
          <p:cNvPr id="19" name="TextBox 18"/>
          <p:cNvSpPr txBox="1"/>
          <p:nvPr/>
        </p:nvSpPr>
        <p:spPr>
          <a:xfrm>
            <a:off x="11038840" y="1600200"/>
            <a:ext cx="574040" cy="429768"/>
          </a:xfrm>
          <a:prstGeom prst="rect">
            <a:avLst/>
          </a:prstGeom>
          <a:noFill/>
        </p:spPr>
        <p:txBody>
          <a:bodyPr wrap="square" lIns="0" rIns="0">
            <a:spAutoFit/>
          </a:bodyPr>
          <a:lstStyle/>
          <a:p>
            <a:pPr algn="ctr"/>
            <a:r>
              <a:rPr sz="1000" b="1" i="0">
                <a:solidFill>
                  <a:srgbClr val="E07B1A"/>
                </a:solidFill>
                <a:latin typeface="Trebuchet MS"/>
              </a:rPr>
              <a:t>30 Nov</a:t>
            </a:r>
          </a:p>
        </p:txBody>
      </p:sp>
      <p:sp>
        <p:nvSpPr>
          <p:cNvPr id="20" name="TextBox 19"/>
          <p:cNvSpPr txBox="1"/>
          <p:nvPr/>
        </p:nvSpPr>
        <p:spPr>
          <a:xfrm>
            <a:off x="548640" y="2084832"/>
            <a:ext cx="4572000" cy="429768"/>
          </a:xfrm>
          <a:prstGeom prst="rect">
            <a:avLst/>
          </a:prstGeom>
          <a:noFill/>
        </p:spPr>
        <p:txBody>
          <a:bodyPr wrap="square" lIns="0" rIns="0">
            <a:spAutoFit/>
          </a:bodyPr>
          <a:lstStyle/>
          <a:p>
            <a:pPr algn="l"/>
            <a:r>
              <a:rPr sz="1050" b="0" i="0">
                <a:solidFill>
                  <a:srgbClr val="1A1A1A"/>
                </a:solidFill>
                <a:latin typeface="Trebuchet MS"/>
              </a:rPr>
              <a:t>All modules built, validated, released (Feb – Sep): v2.4.0</a:t>
            </a:r>
          </a:p>
        </p:txBody>
      </p:sp>
      <p:sp>
        <p:nvSpPr>
          <p:cNvPr id="21" name="TextBox 20"/>
          <p:cNvSpPr txBox="1"/>
          <p:nvPr/>
        </p:nvSpPr>
        <p:spPr>
          <a:xfrm>
            <a:off x="5212080" y="2084832"/>
            <a:ext cx="1234440" cy="429768"/>
          </a:xfrm>
          <a:prstGeom prst="rect">
            <a:avLst/>
          </a:prstGeom>
          <a:noFill/>
        </p:spPr>
        <p:txBody>
          <a:bodyPr wrap="square" lIns="0" rIns="0">
            <a:spAutoFit/>
          </a:bodyPr>
          <a:lstStyle/>
          <a:p>
            <a:pPr algn="l"/>
            <a:r>
              <a:rPr sz="1050" b="0" i="0">
                <a:solidFill>
                  <a:srgbClr val="888888"/>
                </a:solidFill>
                <a:latin typeface="Trebuchet MS"/>
              </a:rPr>
              <a:t>All</a:t>
            </a:r>
          </a:p>
        </p:txBody>
      </p:sp>
      <p:sp>
        <p:nvSpPr>
          <p:cNvPr id="22" name="Rectangle 21"/>
          <p:cNvSpPr/>
          <p:nvPr/>
        </p:nvSpPr>
        <p:spPr>
          <a:xfrm>
            <a:off x="6446520" y="2029968"/>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20560" y="2029968"/>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94600" y="2029968"/>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68640" y="2029968"/>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742680" y="2029968"/>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316720" y="2029968"/>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890760" y="2029968"/>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464800" y="2029968"/>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38840" y="2029968"/>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37960" y="2103120"/>
            <a:ext cx="5166360" cy="429768"/>
          </a:xfrm>
          <a:prstGeom prst="rect">
            <a:avLst/>
          </a:prstGeom>
          <a:noFill/>
        </p:spPr>
        <p:txBody>
          <a:bodyPr wrap="square" lIns="0" rIns="0">
            <a:spAutoFit/>
          </a:bodyPr>
          <a:lstStyle/>
          <a:p>
            <a:pPr algn="l"/>
            <a:r>
              <a:rPr sz="1050" b="1" i="0">
                <a:solidFill>
                  <a:srgbClr val="E07B1A"/>
                </a:solidFill>
                <a:latin typeface="Trebuchet MS"/>
              </a:rPr>
              <a:t>✓ complete before this timeline</a:t>
            </a:r>
          </a:p>
        </p:txBody>
      </p:sp>
      <p:sp>
        <p:nvSpPr>
          <p:cNvPr id="32" name="TextBox 31"/>
          <p:cNvSpPr txBox="1"/>
          <p:nvPr/>
        </p:nvSpPr>
        <p:spPr>
          <a:xfrm>
            <a:off x="548640" y="2514600"/>
            <a:ext cx="4572000" cy="429768"/>
          </a:xfrm>
          <a:prstGeom prst="rect">
            <a:avLst/>
          </a:prstGeom>
          <a:noFill/>
        </p:spPr>
        <p:txBody>
          <a:bodyPr wrap="square" lIns="0" rIns="0">
            <a:spAutoFit/>
          </a:bodyPr>
          <a:lstStyle/>
          <a:p>
            <a:pPr algn="l"/>
            <a:r>
              <a:rPr sz="1050" b="1" i="0">
                <a:solidFill>
                  <a:srgbClr val="1A1A1A"/>
                </a:solidFill>
                <a:latin typeface="Trebuchet MS"/>
              </a:rPr>
              <a:t>Review 2 — presentation and demo (13 Oct, 3:00 pm, B204)</a:t>
            </a:r>
          </a:p>
        </p:txBody>
      </p:sp>
      <p:sp>
        <p:nvSpPr>
          <p:cNvPr id="33" name="TextBox 32"/>
          <p:cNvSpPr txBox="1"/>
          <p:nvPr/>
        </p:nvSpPr>
        <p:spPr>
          <a:xfrm>
            <a:off x="5212080" y="2514600"/>
            <a:ext cx="1234440" cy="429768"/>
          </a:xfrm>
          <a:prstGeom prst="rect">
            <a:avLst/>
          </a:prstGeom>
          <a:noFill/>
        </p:spPr>
        <p:txBody>
          <a:bodyPr wrap="square" lIns="0" rIns="0">
            <a:spAutoFit/>
          </a:bodyPr>
          <a:lstStyle/>
          <a:p>
            <a:pPr algn="l"/>
            <a:r>
              <a:rPr sz="1050" b="0" i="0">
                <a:solidFill>
                  <a:srgbClr val="888888"/>
                </a:solidFill>
                <a:latin typeface="Trebuchet MS"/>
              </a:rPr>
              <a:t>All</a:t>
            </a:r>
          </a:p>
        </p:txBody>
      </p:sp>
      <p:sp>
        <p:nvSpPr>
          <p:cNvPr id="34" name="Rectangle 33"/>
          <p:cNvSpPr/>
          <p:nvPr/>
        </p:nvSpPr>
        <p:spPr>
          <a:xfrm>
            <a:off x="6446520" y="2459736"/>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020560" y="2459736"/>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594600" y="2459736"/>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68640" y="2459736"/>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742680" y="2459736"/>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16720" y="2459736"/>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890760" y="2459736"/>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464800" y="2459736"/>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1038840" y="2459736"/>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iamond 42"/>
          <p:cNvSpPr/>
          <p:nvPr/>
        </p:nvSpPr>
        <p:spPr>
          <a:xfrm>
            <a:off x="7161276" y="2532888"/>
            <a:ext cx="292608" cy="246888"/>
          </a:xfrm>
          <a:prstGeom prst="diamond">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2944368"/>
            <a:ext cx="4572000" cy="429768"/>
          </a:xfrm>
          <a:prstGeom prst="rect">
            <a:avLst/>
          </a:prstGeom>
          <a:noFill/>
        </p:spPr>
        <p:txBody>
          <a:bodyPr wrap="square" lIns="0" rIns="0">
            <a:spAutoFit/>
          </a:bodyPr>
          <a:lstStyle/>
          <a:p>
            <a:pPr algn="l"/>
            <a:r>
              <a:rPr sz="1050" b="0" i="0">
                <a:solidFill>
                  <a:srgbClr val="1A1A1A"/>
                </a:solidFill>
                <a:latin typeface="Trebuchet MS"/>
              </a:rPr>
              <a:t>Act on Review 2 feedback</a:t>
            </a:r>
          </a:p>
        </p:txBody>
      </p:sp>
      <p:sp>
        <p:nvSpPr>
          <p:cNvPr id="45" name="TextBox 44"/>
          <p:cNvSpPr txBox="1"/>
          <p:nvPr/>
        </p:nvSpPr>
        <p:spPr>
          <a:xfrm>
            <a:off x="5212080" y="2944368"/>
            <a:ext cx="1234440" cy="429768"/>
          </a:xfrm>
          <a:prstGeom prst="rect">
            <a:avLst/>
          </a:prstGeom>
          <a:noFill/>
        </p:spPr>
        <p:txBody>
          <a:bodyPr wrap="square" lIns="0" rIns="0">
            <a:spAutoFit/>
          </a:bodyPr>
          <a:lstStyle/>
          <a:p>
            <a:pPr algn="l"/>
            <a:r>
              <a:rPr sz="1050" b="0" i="0">
                <a:solidFill>
                  <a:srgbClr val="888888"/>
                </a:solidFill>
                <a:latin typeface="Trebuchet MS"/>
              </a:rPr>
              <a:t>All</a:t>
            </a:r>
          </a:p>
        </p:txBody>
      </p:sp>
      <p:sp>
        <p:nvSpPr>
          <p:cNvPr id="46" name="Rectangle 45"/>
          <p:cNvSpPr/>
          <p:nvPr/>
        </p:nvSpPr>
        <p:spPr>
          <a:xfrm>
            <a:off x="6446520" y="2889504"/>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020560" y="2889504"/>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594600" y="2889504"/>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168640" y="2889504"/>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742680" y="2889504"/>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316720" y="2889504"/>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890760" y="2889504"/>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464800" y="2889504"/>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1038840" y="2889504"/>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066280" y="2962656"/>
            <a:ext cx="1630680" cy="246888"/>
          </a:xfrm>
          <a:prstGeom prst="round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3374136"/>
            <a:ext cx="4572000" cy="429768"/>
          </a:xfrm>
          <a:prstGeom prst="rect">
            <a:avLst/>
          </a:prstGeom>
          <a:noFill/>
        </p:spPr>
        <p:txBody>
          <a:bodyPr wrap="square" lIns="0" rIns="0">
            <a:spAutoFit/>
          </a:bodyPr>
          <a:lstStyle/>
          <a:p>
            <a:pPr algn="l"/>
            <a:r>
              <a:rPr sz="1050" b="0" i="0">
                <a:solidFill>
                  <a:srgbClr val="1A1A1A"/>
                </a:solidFill>
                <a:latin typeface="Trebuchet MS"/>
              </a:rPr>
              <a:t>Remove the genre multiplier from the served score; version the score</a:t>
            </a:r>
          </a:p>
        </p:txBody>
      </p:sp>
      <p:sp>
        <p:nvSpPr>
          <p:cNvPr id="57" name="TextBox 56"/>
          <p:cNvSpPr txBox="1"/>
          <p:nvPr/>
        </p:nvSpPr>
        <p:spPr>
          <a:xfrm>
            <a:off x="5212080" y="3374136"/>
            <a:ext cx="1234440" cy="429768"/>
          </a:xfrm>
          <a:prstGeom prst="rect">
            <a:avLst/>
          </a:prstGeom>
          <a:noFill/>
        </p:spPr>
        <p:txBody>
          <a:bodyPr wrap="square" lIns="0" rIns="0">
            <a:spAutoFit/>
          </a:bodyPr>
          <a:lstStyle/>
          <a:p>
            <a:pPr algn="l"/>
            <a:r>
              <a:rPr sz="1050" b="0" i="0">
                <a:solidFill>
                  <a:srgbClr val="888888"/>
                </a:solidFill>
                <a:latin typeface="Trebuchet MS"/>
              </a:rPr>
              <a:t>Kaustubh, Kanak</a:t>
            </a:r>
          </a:p>
        </p:txBody>
      </p:sp>
      <p:sp>
        <p:nvSpPr>
          <p:cNvPr id="58" name="Rectangle 57"/>
          <p:cNvSpPr/>
          <p:nvPr/>
        </p:nvSpPr>
        <p:spPr>
          <a:xfrm>
            <a:off x="6446520" y="3319272"/>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020560" y="3319272"/>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594600" y="3319272"/>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168640" y="3319272"/>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742680" y="3319272"/>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316720" y="3319272"/>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890760" y="3319272"/>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0464800" y="3319272"/>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1038840" y="3319272"/>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7640320" y="3392424"/>
            <a:ext cx="1056640" cy="246888"/>
          </a:xfrm>
          <a:prstGeom prst="round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48640" y="3803904"/>
            <a:ext cx="4572000" cy="429768"/>
          </a:xfrm>
          <a:prstGeom prst="rect">
            <a:avLst/>
          </a:prstGeom>
          <a:noFill/>
        </p:spPr>
        <p:txBody>
          <a:bodyPr wrap="square" lIns="0" rIns="0">
            <a:spAutoFit/>
          </a:bodyPr>
          <a:lstStyle/>
          <a:p>
            <a:pPr algn="l"/>
            <a:r>
              <a:rPr sz="1050" b="0" i="0">
                <a:solidFill>
                  <a:srgbClr val="1A1A1A"/>
                </a:solidFill>
                <a:latin typeface="Trebuchet MS"/>
              </a:rPr>
              <a:t>Re-check served score = validated score; update report, papers, decks</a:t>
            </a:r>
          </a:p>
        </p:txBody>
      </p:sp>
      <p:sp>
        <p:nvSpPr>
          <p:cNvPr id="69" name="TextBox 68"/>
          <p:cNvSpPr txBox="1"/>
          <p:nvPr/>
        </p:nvSpPr>
        <p:spPr>
          <a:xfrm>
            <a:off x="5212080" y="3803904"/>
            <a:ext cx="1234440" cy="429768"/>
          </a:xfrm>
          <a:prstGeom prst="rect">
            <a:avLst/>
          </a:prstGeom>
          <a:noFill/>
        </p:spPr>
        <p:txBody>
          <a:bodyPr wrap="square" lIns="0" rIns="0">
            <a:spAutoFit/>
          </a:bodyPr>
          <a:lstStyle/>
          <a:p>
            <a:pPr algn="l"/>
            <a:r>
              <a:rPr sz="1050" b="0" i="0">
                <a:solidFill>
                  <a:srgbClr val="888888"/>
                </a:solidFill>
                <a:latin typeface="Trebuchet MS"/>
              </a:rPr>
              <a:t>Kaustubh</a:t>
            </a:r>
          </a:p>
        </p:txBody>
      </p:sp>
      <p:sp>
        <p:nvSpPr>
          <p:cNvPr id="70" name="Rectangle 69"/>
          <p:cNvSpPr/>
          <p:nvPr/>
        </p:nvSpPr>
        <p:spPr>
          <a:xfrm>
            <a:off x="6446520" y="3749040"/>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7020560" y="3749040"/>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594600" y="3749040"/>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8168640" y="3749040"/>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742680" y="3749040"/>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9316720" y="3749040"/>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890760" y="3749040"/>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464800" y="3749040"/>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1038840" y="3749040"/>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8214360" y="3822192"/>
            <a:ext cx="1056640" cy="246888"/>
          </a:xfrm>
          <a:prstGeom prst="round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48640" y="4233672"/>
            <a:ext cx="4572000" cy="429768"/>
          </a:xfrm>
          <a:prstGeom prst="rect">
            <a:avLst/>
          </a:prstGeom>
          <a:noFill/>
        </p:spPr>
        <p:txBody>
          <a:bodyPr wrap="square" lIns="0" rIns="0">
            <a:spAutoFit/>
          </a:bodyPr>
          <a:lstStyle/>
          <a:p>
            <a:pPr algn="l"/>
            <a:r>
              <a:rPr sz="1050" b="0" i="0">
                <a:solidFill>
                  <a:srgbClr val="1A1A1A"/>
                </a:solidFill>
                <a:latin typeface="Trebuchet MS"/>
              </a:rPr>
              <a:t>IEEE paper polish: multiple-comparison correction, survey reporting</a:t>
            </a:r>
          </a:p>
        </p:txBody>
      </p:sp>
      <p:sp>
        <p:nvSpPr>
          <p:cNvPr id="81" name="TextBox 80"/>
          <p:cNvSpPr txBox="1"/>
          <p:nvPr/>
        </p:nvSpPr>
        <p:spPr>
          <a:xfrm>
            <a:off x="5212080" y="4233672"/>
            <a:ext cx="1234440" cy="429768"/>
          </a:xfrm>
          <a:prstGeom prst="rect">
            <a:avLst/>
          </a:prstGeom>
          <a:noFill/>
        </p:spPr>
        <p:txBody>
          <a:bodyPr wrap="square" lIns="0" rIns="0">
            <a:spAutoFit/>
          </a:bodyPr>
          <a:lstStyle/>
          <a:p>
            <a:pPr algn="l"/>
            <a:r>
              <a:rPr sz="1050" b="0" i="0">
                <a:solidFill>
                  <a:srgbClr val="888888"/>
                </a:solidFill>
                <a:latin typeface="Trebuchet MS"/>
              </a:rPr>
              <a:t>Kaustubh, all</a:t>
            </a:r>
          </a:p>
        </p:txBody>
      </p:sp>
      <p:sp>
        <p:nvSpPr>
          <p:cNvPr id="82" name="Rectangle 81"/>
          <p:cNvSpPr/>
          <p:nvPr/>
        </p:nvSpPr>
        <p:spPr>
          <a:xfrm>
            <a:off x="6446520" y="4178808"/>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7020560" y="4178808"/>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594600" y="4178808"/>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8168640" y="4178808"/>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742680" y="4178808"/>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9316720" y="4178808"/>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890760" y="4178808"/>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464800" y="4178808"/>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1038840" y="4178808"/>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8214360" y="4251960"/>
            <a:ext cx="1630680" cy="246888"/>
          </a:xfrm>
          <a:prstGeom prst="round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48640" y="4663440"/>
            <a:ext cx="4572000" cy="429768"/>
          </a:xfrm>
          <a:prstGeom prst="rect">
            <a:avLst/>
          </a:prstGeom>
          <a:noFill/>
        </p:spPr>
        <p:txBody>
          <a:bodyPr wrap="square" lIns="0" rIns="0">
            <a:spAutoFit/>
          </a:bodyPr>
          <a:lstStyle/>
          <a:p>
            <a:pPr algn="l"/>
            <a:r>
              <a:rPr sz="1050" b="0" i="0">
                <a:solidFill>
                  <a:srgbClr val="1A1A1A"/>
                </a:solidFill>
                <a:latin typeface="Trebuchet MS"/>
              </a:rPr>
              <a:t>IEEE conference submission (venue and deadline to be fixed)</a:t>
            </a:r>
          </a:p>
        </p:txBody>
      </p:sp>
      <p:sp>
        <p:nvSpPr>
          <p:cNvPr id="93" name="TextBox 92"/>
          <p:cNvSpPr txBox="1"/>
          <p:nvPr/>
        </p:nvSpPr>
        <p:spPr>
          <a:xfrm>
            <a:off x="5212080" y="4663440"/>
            <a:ext cx="1234440" cy="429768"/>
          </a:xfrm>
          <a:prstGeom prst="rect">
            <a:avLst/>
          </a:prstGeom>
          <a:noFill/>
        </p:spPr>
        <p:txBody>
          <a:bodyPr wrap="square" lIns="0" rIns="0">
            <a:spAutoFit/>
          </a:bodyPr>
          <a:lstStyle/>
          <a:p>
            <a:pPr algn="l"/>
            <a:r>
              <a:rPr sz="1050" b="0" i="0">
                <a:solidFill>
                  <a:srgbClr val="888888"/>
                </a:solidFill>
                <a:latin typeface="Trebuchet MS"/>
              </a:rPr>
              <a:t>Kaustubh</a:t>
            </a:r>
          </a:p>
        </p:txBody>
      </p:sp>
      <p:sp>
        <p:nvSpPr>
          <p:cNvPr id="94" name="Rectangle 93"/>
          <p:cNvSpPr/>
          <p:nvPr/>
        </p:nvSpPr>
        <p:spPr>
          <a:xfrm>
            <a:off x="6446520" y="4608576"/>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7020560" y="4608576"/>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7594600" y="4608576"/>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8168640" y="4608576"/>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8742680" y="4608576"/>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9316720" y="4608576"/>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9890760" y="4608576"/>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0464800" y="4608576"/>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038840" y="4608576"/>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ounded Rectangle 102"/>
          <p:cNvSpPr/>
          <p:nvPr/>
        </p:nvSpPr>
        <p:spPr>
          <a:xfrm>
            <a:off x="9362440" y="4681728"/>
            <a:ext cx="1056640" cy="246888"/>
          </a:xfrm>
          <a:prstGeom prst="round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48640" y="5093208"/>
            <a:ext cx="4572000" cy="429768"/>
          </a:xfrm>
          <a:prstGeom prst="rect">
            <a:avLst/>
          </a:prstGeom>
          <a:noFill/>
        </p:spPr>
        <p:txBody>
          <a:bodyPr wrap="square" lIns="0" rIns="0">
            <a:spAutoFit/>
          </a:bodyPr>
          <a:lstStyle/>
          <a:p>
            <a:pPr algn="l"/>
            <a:r>
              <a:rPr sz="1050" b="0" i="0">
                <a:solidFill>
                  <a:srgbClr val="1A1A1A"/>
                </a:solidFill>
                <a:latin typeface="Trebuchet MS"/>
              </a:rPr>
              <a:t>Final project report — submission date: [fill in]</a:t>
            </a:r>
          </a:p>
        </p:txBody>
      </p:sp>
      <p:sp>
        <p:nvSpPr>
          <p:cNvPr id="105" name="TextBox 104"/>
          <p:cNvSpPr txBox="1"/>
          <p:nvPr/>
        </p:nvSpPr>
        <p:spPr>
          <a:xfrm>
            <a:off x="5212080" y="5093208"/>
            <a:ext cx="1234440" cy="429768"/>
          </a:xfrm>
          <a:prstGeom prst="rect">
            <a:avLst/>
          </a:prstGeom>
          <a:noFill/>
        </p:spPr>
        <p:txBody>
          <a:bodyPr wrap="square" lIns="0" rIns="0">
            <a:spAutoFit/>
          </a:bodyPr>
          <a:lstStyle/>
          <a:p>
            <a:pPr algn="l"/>
            <a:r>
              <a:rPr sz="1050" b="0" i="0">
                <a:solidFill>
                  <a:srgbClr val="888888"/>
                </a:solidFill>
                <a:latin typeface="Trebuchet MS"/>
              </a:rPr>
              <a:t>All</a:t>
            </a:r>
          </a:p>
        </p:txBody>
      </p:sp>
      <p:sp>
        <p:nvSpPr>
          <p:cNvPr id="106" name="Rectangle 105"/>
          <p:cNvSpPr/>
          <p:nvPr/>
        </p:nvSpPr>
        <p:spPr>
          <a:xfrm>
            <a:off x="6446520" y="5038344"/>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7020560" y="5038344"/>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7594600" y="5038344"/>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8168640" y="5038344"/>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8742680" y="5038344"/>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9316720" y="5038344"/>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9890760" y="5038344"/>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0464800" y="5038344"/>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038840" y="5038344"/>
            <a:ext cx="574040" cy="393192"/>
          </a:xfrm>
          <a:prstGeom prst="rect">
            <a:avLst/>
          </a:prstGeom>
          <a:solidFill>
            <a:srgbClr val="FFFFFF"/>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ounded Rectangle 114"/>
          <p:cNvSpPr/>
          <p:nvPr/>
        </p:nvSpPr>
        <p:spPr>
          <a:xfrm>
            <a:off x="7640320" y="5111496"/>
            <a:ext cx="3352800" cy="246888"/>
          </a:xfrm>
          <a:prstGeom prst="roundRect">
            <a:avLst/>
          </a:prstGeom>
          <a:solidFill>
            <a:srgbClr val="F2C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548640" y="5522976"/>
            <a:ext cx="4572000" cy="429768"/>
          </a:xfrm>
          <a:prstGeom prst="rect">
            <a:avLst/>
          </a:prstGeom>
          <a:noFill/>
        </p:spPr>
        <p:txBody>
          <a:bodyPr wrap="square" lIns="0" rIns="0">
            <a:spAutoFit/>
          </a:bodyPr>
          <a:lstStyle/>
          <a:p>
            <a:pPr algn="l"/>
            <a:r>
              <a:rPr sz="1050" b="0" i="0">
                <a:solidFill>
                  <a:srgbClr val="1A1A1A"/>
                </a:solidFill>
                <a:latin typeface="Trebuchet MS"/>
              </a:rPr>
              <a:t>Final evaluation / viva — date: [fill in]</a:t>
            </a:r>
          </a:p>
        </p:txBody>
      </p:sp>
      <p:sp>
        <p:nvSpPr>
          <p:cNvPr id="117" name="TextBox 116"/>
          <p:cNvSpPr txBox="1"/>
          <p:nvPr/>
        </p:nvSpPr>
        <p:spPr>
          <a:xfrm>
            <a:off x="5212080" y="5522976"/>
            <a:ext cx="1234440" cy="429768"/>
          </a:xfrm>
          <a:prstGeom prst="rect">
            <a:avLst/>
          </a:prstGeom>
          <a:noFill/>
        </p:spPr>
        <p:txBody>
          <a:bodyPr wrap="square" lIns="0" rIns="0">
            <a:spAutoFit/>
          </a:bodyPr>
          <a:lstStyle/>
          <a:p>
            <a:pPr algn="l"/>
            <a:r>
              <a:rPr sz="1050" b="0" i="0">
                <a:solidFill>
                  <a:srgbClr val="888888"/>
                </a:solidFill>
                <a:latin typeface="Trebuchet MS"/>
              </a:rPr>
              <a:t>All</a:t>
            </a:r>
          </a:p>
        </p:txBody>
      </p:sp>
      <p:sp>
        <p:nvSpPr>
          <p:cNvPr id="118" name="Rectangle 117"/>
          <p:cNvSpPr/>
          <p:nvPr/>
        </p:nvSpPr>
        <p:spPr>
          <a:xfrm>
            <a:off x="6446520" y="5468112"/>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7020560" y="5468112"/>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7594600" y="5468112"/>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168640" y="5468112"/>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8742680" y="5468112"/>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9316720" y="5468112"/>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9890760" y="5468112"/>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0464800" y="5468112"/>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038840" y="5468112"/>
            <a:ext cx="574040" cy="393192"/>
          </a:xfrm>
          <a:prstGeom prst="rect">
            <a:avLst/>
          </a:prstGeom>
          <a:solidFill>
            <a:srgbClr val="FBF3EA"/>
          </a:solidFill>
          <a:ln w="635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6537960" y="5541264"/>
            <a:ext cx="5166360" cy="429768"/>
          </a:xfrm>
          <a:prstGeom prst="rect">
            <a:avLst/>
          </a:prstGeom>
          <a:noFill/>
        </p:spPr>
        <p:txBody>
          <a:bodyPr wrap="square" lIns="0" rIns="0">
            <a:spAutoFit/>
          </a:bodyPr>
          <a:lstStyle/>
          <a:p>
            <a:pPr algn="l"/>
            <a:r>
              <a:rPr sz="1050" b="0" i="1">
                <a:solidFill>
                  <a:srgbClr val="888888"/>
                </a:solidFill>
                <a:latin typeface="Trebuchet MS"/>
              </a:rPr>
              <a:t>date to be announced by the department</a:t>
            </a:r>
          </a:p>
        </p:txBody>
      </p:sp>
      <p:sp>
        <p:nvSpPr>
          <p:cNvPr id="128" name="TextBox 127"/>
          <p:cNvSpPr txBox="1"/>
          <p:nvPr/>
        </p:nvSpPr>
        <p:spPr>
          <a:xfrm>
            <a:off x="548640" y="5971032"/>
            <a:ext cx="11064240" cy="365760"/>
          </a:xfrm>
          <a:prstGeom prst="rect">
            <a:avLst/>
          </a:prstGeom>
          <a:noFill/>
        </p:spPr>
        <p:txBody>
          <a:bodyPr wrap="square" lIns="0" rIns="0">
            <a:spAutoFit/>
          </a:bodyPr>
          <a:lstStyle/>
          <a:p>
            <a:pPr algn="l"/>
            <a:r>
              <a:rPr sz="1050" b="0" i="0">
                <a:solidFill>
                  <a:srgbClr val="888888"/>
                </a:solidFill>
                <a:latin typeface="Trebuchet MS"/>
              </a:rPr>
              <a:t>Red diamond = Review 2 · Orange = planned team task · Light = department deadline (date to be confirmed) · weeks start on the date shown.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Conclusion</a:t>
            </a:r>
          </a:p>
        </p:txBody>
      </p:sp>
      <p:sp>
        <p:nvSpPr>
          <p:cNvPr id="5" name="Rectangle 4"/>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sp>
        <p:nvSpPr>
          <p:cNvPr id="8" name="TextBox 7"/>
          <p:cNvSpPr txBox="1"/>
          <p:nvPr/>
        </p:nvSpPr>
        <p:spPr>
          <a:xfrm>
            <a:off x="731520" y="1371600"/>
            <a:ext cx="10789920" cy="4892040"/>
          </a:xfrm>
          <a:prstGeom prst="rect">
            <a:avLst/>
          </a:prstGeom>
          <a:noFill/>
        </p:spPr>
        <p:txBody>
          <a:bodyPr wrap="square">
            <a:spAutoFit/>
          </a:bodyPr>
          <a:lstStyle/>
          <a:p>
            <a:pPr>
              <a:spcAft>
                <a:spcPts val="1000"/>
              </a:spcAft>
            </a:pPr>
            <a:r>
              <a:rPr sz="1400" b="0">
                <a:solidFill>
                  <a:srgbClr val="1A1A1A"/>
                </a:solidFill>
                <a:latin typeface="Trebuchet MS"/>
              </a:rPr>
              <a:t>The system gives parents a screening signal, never a diagnosis. Here is what we built, what we showed and what is still open.</a:t>
            </a:r>
          </a:p>
          <a:p>
            <a:pPr>
              <a:spcAft>
                <a:spcPts val="900"/>
              </a:spcAft>
            </a:pPr>
            <a:r>
              <a:rPr sz="1400" b="0">
                <a:solidFill>
                  <a:srgbClr val="E07B1A"/>
                </a:solidFill>
                <a:latin typeface="Trebuchet MS"/>
              </a:rPr>
              <a:t>▪  </a:t>
            </a:r>
            <a:r>
              <a:rPr sz="1400" b="1">
                <a:solidFill>
                  <a:srgbClr val="E07B1A"/>
                </a:solidFill>
                <a:latin typeface="Trebuchet MS"/>
              </a:rPr>
              <a:t>Built and deployed.</a:t>
            </a:r>
            <a:r>
              <a:rPr sz="1400" b="0">
                <a:solidFill>
                  <a:srgbClr val="E07B1A"/>
                </a:solidFill>
                <a:latin typeface="Trebuchet MS"/>
              </a:rPr>
              <a:t> A child phone app records play, a server scores it with three models, and a parent app shows concern levels. It is live, with a consented 23-day family pilot.</a:t>
            </a:r>
          </a:p>
          <a:p>
            <a:pPr>
              <a:spcAft>
                <a:spcPts val="900"/>
              </a:spcAft>
            </a:pPr>
            <a:r>
              <a:rPr sz="1400" b="0">
                <a:solidFill>
                  <a:srgbClr val="E07B1A"/>
                </a:solidFill>
                <a:latin typeface="Trebuchet MS"/>
              </a:rPr>
              <a:t>▪  </a:t>
            </a:r>
            <a:r>
              <a:rPr sz="1400" b="1">
                <a:solidFill>
                  <a:srgbClr val="E07B1A"/>
                </a:solidFill>
                <a:latin typeface="Trebuchet MS"/>
              </a:rPr>
              <a:t>Core idea: how a child plays, not how long.</a:t>
            </a:r>
            <a:r>
              <a:rPr sz="1400" b="0">
                <a:solidFill>
                  <a:srgbClr val="E07B1A"/>
                </a:solidFill>
                <a:latin typeface="Trebuchet MS"/>
              </a:rPr>
              <a:t> For surveyed adults, late-night play, binges and quick re-logins tracked gaming-disorder scores better than play-time measures: correlations 0.330 versus 0.128, gap +0.199 [+0.019, +0.380].</a:t>
            </a:r>
          </a:p>
          <a:p>
            <a:pPr>
              <a:spcAft>
                <a:spcPts val="900"/>
              </a:spcAft>
            </a:pPr>
            <a:r>
              <a:rPr sz="1400" b="0">
                <a:solidFill>
                  <a:srgbClr val="E07B1A"/>
                </a:solidFill>
                <a:latin typeface="Trebuchet MS"/>
              </a:rPr>
              <a:t>▪  </a:t>
            </a:r>
            <a:r>
              <a:rPr sz="1400" b="1">
                <a:solidFill>
                  <a:srgbClr val="E07B1A"/>
                </a:solidFill>
                <a:latin typeface="Trebuchet MS"/>
              </a:rPr>
              <a:t>Validated: a moderate link.</a:t>
            </a:r>
            <a:r>
              <a:rPr sz="1400" b="0">
                <a:solidFill>
                  <a:srgbClr val="E07B1A"/>
                </a:solidFill>
                <a:latin typeface="Trebuchet MS"/>
              </a:rPr>
              <a:t> For 103 adult gamers, the behaviour score correlated with IGDS9-SF, a standard 9-question gaming-disorder scale, at 0.317 [0.137, 0.478]. Its edge over screen time alone is suggestive, not proven.</a:t>
            </a:r>
          </a:p>
          <a:p>
            <a:pPr>
              <a:spcAft>
                <a:spcPts val="900"/>
              </a:spcAft>
            </a:pPr>
            <a:r>
              <a:rPr sz="1400" b="0">
                <a:solidFill>
                  <a:srgbClr val="E07B1A"/>
                </a:solidFill>
                <a:latin typeface="Trebuchet MS"/>
              </a:rPr>
              <a:t>▪  </a:t>
            </a:r>
            <a:r>
              <a:rPr sz="1400" b="1">
                <a:solidFill>
                  <a:srgbClr val="E07B1A"/>
                </a:solidFill>
                <a:latin typeface="Trebuchet MS"/>
              </a:rPr>
              <a:t>Not yet validated:</a:t>
            </a:r>
            <a:r>
              <a:rPr sz="1400" b="0">
                <a:solidFill>
                  <a:srgbClr val="E07B1A"/>
                </a:solidFill>
                <a:latin typeface="Trebuchet MS"/>
              </a:rPr>
              <a:t> spotting clinical-range cases (the survey had only one), any result on children, and the 91.6% behaviour accuracy, which was measured on simulated labels, not real ones.</a:t>
            </a:r>
          </a:p>
          <a:p>
            <a:pPr>
              <a:spcAft>
                <a:spcPts val="900"/>
              </a:spcAft>
            </a:pPr>
            <a:r>
              <a:rPr sz="1400" b="0">
                <a:solidFill>
                  <a:srgbClr val="E07B1A"/>
                </a:solidFill>
                <a:latin typeface="Trebuchet MS"/>
              </a:rPr>
              <a:t>▪  </a:t>
            </a:r>
            <a:r>
              <a:rPr sz="1400" b="1">
                <a:solidFill>
                  <a:srgbClr val="E07B1A"/>
                </a:solidFill>
                <a:latin typeface="Trebuchet MS"/>
              </a:rPr>
              <a:t>Honest failures.</a:t>
            </a:r>
            <a:r>
              <a:rPr sz="1400" b="0">
                <a:solidFill>
                  <a:srgbClr val="E07B1A"/>
                </a:solidFill>
                <a:latin typeface="Trebuchet MS"/>
              </a:rPr>
              <a:t> No survey support for the genre multiplier. Four of five reason labels had misleading names and were renamed. Bilingual speech-to-text failed our phone test, so it is off by default.</a:t>
            </a:r>
          </a:p>
          <a:p>
            <a:pPr>
              <a:spcAft>
                <a:spcPts val="900"/>
              </a:spcAft>
            </a:pPr>
            <a:r>
              <a:rPr sz="1400" b="0">
                <a:solidFill>
                  <a:srgbClr val="E07B1A"/>
                </a:solidFill>
                <a:latin typeface="Trebuchet MS"/>
              </a:rPr>
              <a:t>▪  </a:t>
            </a:r>
            <a:r>
              <a:rPr sz="1400" b="1">
                <a:solidFill>
                  <a:srgbClr val="E07B1A"/>
                </a:solidFill>
                <a:latin typeface="Trebuchet MS"/>
              </a:rPr>
              <a:t>Next.</a:t>
            </a:r>
            <a:r>
              <a:rPr sz="1400" b="0">
                <a:solidFill>
                  <a:srgbClr val="E07B1A"/>
                </a:solidFill>
                <a:latin typeface="Trebuchet MS"/>
              </a:rPr>
              <a:t> Remove the genre weight so parents see exactly the validated score, and submit the IEEE paper. After ethics approval, link parents’ IGDS9-SF answers to each child’s measured play.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References</a:t>
            </a:r>
          </a:p>
        </p:txBody>
      </p:sp>
      <p:sp>
        <p:nvSpPr>
          <p:cNvPr id="5" name="Rectangle 4"/>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sp>
        <p:nvSpPr>
          <p:cNvPr id="8" name="TextBox 7"/>
          <p:cNvSpPr txBox="1"/>
          <p:nvPr/>
        </p:nvSpPr>
        <p:spPr>
          <a:xfrm>
            <a:off x="548640" y="1325880"/>
            <a:ext cx="11064240" cy="4983480"/>
          </a:xfrm>
          <a:prstGeom prst="rect">
            <a:avLst/>
          </a:prstGeom>
          <a:noFill/>
        </p:spPr>
        <p:txBody>
          <a:bodyPr wrap="square">
            <a:spAutoFit/>
          </a:bodyPr>
          <a:lstStyle/>
          <a:p>
            <a:pPr>
              <a:spcAft>
                <a:spcPts val="400"/>
              </a:spcAft>
            </a:pPr>
            <a:r>
              <a:rPr sz="1100" b="0">
                <a:solidFill>
                  <a:srgbClr val="1A1A1A"/>
                </a:solidFill>
                <a:latin typeface="Trebuchet MS"/>
              </a:rPr>
              <a:t>[1] H. M. Pontes and M. D. Griffiths, "Measuring DSM-5 Internet Gaming Disorder: Development and validation of a short psychometric scale," Computers in Human Behavior, vol. 45, pp. 137–143, 2015.</a:t>
            </a:r>
          </a:p>
          <a:p>
            <a:pPr>
              <a:spcAft>
                <a:spcPts val="400"/>
              </a:spcAft>
            </a:pPr>
            <a:r>
              <a:rPr sz="1100" b="0">
                <a:solidFill>
                  <a:srgbClr val="1A1A1A"/>
                </a:solidFill>
                <a:latin typeface="Trebuchet MS"/>
              </a:rPr>
              <a:t>[2] World Health Organization, International Classification of Diseases 11th Revision (ICD-11) — Gaming disorder (6C51), 2019.</a:t>
            </a:r>
          </a:p>
          <a:p>
            <a:pPr>
              <a:spcAft>
                <a:spcPts val="400"/>
              </a:spcAft>
            </a:pPr>
            <a:r>
              <a:rPr sz="1100" b="0">
                <a:solidFill>
                  <a:srgbClr val="1A1A1A"/>
                </a:solidFill>
                <a:latin typeface="Trebuchet MS"/>
              </a:rPr>
              <a:t>[3] H. Weld et al., "CONDA: a CONtextual Dual-Annotated dataset for in-game toxicity understanding and detection," in Findings of ACL-IJCNLP, 2021.</a:t>
            </a:r>
          </a:p>
          <a:p>
            <a:pPr>
              <a:spcAft>
                <a:spcPts val="400"/>
              </a:spcAft>
            </a:pPr>
            <a:r>
              <a:rPr sz="1100" b="0">
                <a:solidFill>
                  <a:srgbClr val="1A1A1A"/>
                </a:solidFill>
                <a:latin typeface="Trebuchet MS"/>
              </a:rPr>
              <a:t>[4] T. Mandl, S. Modha, P. Majumder, D. Patel, M. Dave, C. Mandlia, and A. Patel, "Overview of the HASOC track at FIRE 2019: Hate speech and offensive content identification in Indo-European languages," in Proc. FIRE, 2019.</a:t>
            </a:r>
          </a:p>
          <a:p>
            <a:pPr>
              <a:spcAft>
                <a:spcPts val="400"/>
              </a:spcAft>
            </a:pPr>
            <a:r>
              <a:rPr sz="1100" b="0">
                <a:solidFill>
                  <a:srgbClr val="1A1A1A"/>
                </a:solidFill>
                <a:latin typeface="Trebuchet MS"/>
              </a:rPr>
              <a:t>[5] T. Javed et al., "Svarah: Evaluating English ASR systems on Indian accents," in Proc. INTERSPEECH, 2023.</a:t>
            </a:r>
          </a:p>
          <a:p>
            <a:pPr>
              <a:spcAft>
                <a:spcPts val="400"/>
              </a:spcAft>
            </a:pPr>
            <a:r>
              <a:rPr sz="1100" b="0">
                <a:solidFill>
                  <a:srgbClr val="1A1A1A"/>
                </a:solidFill>
                <a:latin typeface="Trebuchet MS"/>
              </a:rPr>
              <a:t>[6] S. M. Lundberg and S.-I. Lee, "A unified approach to interpreting model predictions," in Advances in Neural Information Processing Systems (NeurIPS), 2017.</a:t>
            </a:r>
          </a:p>
          <a:p>
            <a:pPr>
              <a:spcAft>
                <a:spcPts val="400"/>
              </a:spcAft>
            </a:pPr>
            <a:r>
              <a:rPr sz="1100" b="0">
                <a:solidFill>
                  <a:srgbClr val="1A1A1A"/>
                </a:solidFill>
                <a:latin typeface="Trebuchet MS"/>
              </a:rPr>
              <a:t>[7] L. Hanu and Unitary team, "Detoxify: toxic comment classification models," open-source software, github.com/unitaryai/detoxify, 2020.</a:t>
            </a:r>
          </a:p>
          <a:p>
            <a:pPr>
              <a:spcAft>
                <a:spcPts val="400"/>
              </a:spcAft>
            </a:pPr>
            <a:r>
              <a:rPr sz="1100" b="0">
                <a:solidFill>
                  <a:srgbClr val="1A1A1A"/>
                </a:solidFill>
                <a:latin typeface="Trebuchet MS"/>
              </a:rPr>
              <a:t>[8] Alpha Cephei, "Vosk speech recognition toolkit," open-source software, alphacephei.com/vosk.</a:t>
            </a:r>
          </a:p>
          <a:p>
            <a:pPr>
              <a:spcAft>
                <a:spcPts val="400"/>
              </a:spcAft>
            </a:pPr>
            <a:r>
              <a:rPr sz="1100" b="0">
                <a:solidFill>
                  <a:srgbClr val="1A1A1A"/>
                </a:solidFill>
                <a:latin typeface="Trebuchet MS"/>
              </a:rPr>
              <a:t>[9] S. R. Livingstone and F. A. Russo, "The Ryerson Audio-Visual Database of Emotional Speech and Song (RAVDESS)," PLoS ONE, vol. 13, no. 5, 2018.</a:t>
            </a:r>
          </a:p>
          <a:p>
            <a:pPr>
              <a:spcAft>
                <a:spcPts val="400"/>
              </a:spcAft>
            </a:pPr>
            <a:r>
              <a:rPr sz="1100" b="0">
                <a:solidFill>
                  <a:srgbClr val="1A1A1A"/>
                </a:solidFill>
                <a:latin typeface="Trebuchet MS"/>
              </a:rPr>
              <a:t>[10] H. Cao, D. G. Cooper, M. K. Keutmann, R. C. Gur, A. Nenkova, and R. Verma, "CREMA-D: Crowd-sourced emotional multimodal actors dataset," IEEE Trans. Affective Computing, vol. 5, no. 4, 2014.</a:t>
            </a:r>
          </a:p>
          <a:p>
            <a:pPr>
              <a:spcAft>
                <a:spcPts val="400"/>
              </a:spcAft>
            </a:pPr>
            <a:r>
              <a:rPr sz="1100" b="0">
                <a:solidFill>
                  <a:srgbClr val="1A1A1A"/>
                </a:solidFill>
                <a:latin typeface="Trebuchet MS"/>
              </a:rPr>
              <a:t>[11] F. Burkhardt, A. Paeschke, M. Rolfes, W. F. Sendlmeier, and B. Weiss, "A database of German emotional speech," in Proc. Interspeech, 2005.</a:t>
            </a:r>
          </a:p>
          <a:p>
            <a:pPr>
              <a:spcAft>
                <a:spcPts val="400"/>
              </a:spcAft>
            </a:pPr>
            <a:r>
              <a:rPr sz="1100" b="0">
                <a:solidFill>
                  <a:srgbClr val="1A1A1A"/>
                </a:solidFill>
                <a:latin typeface="Trebuchet MS"/>
              </a:rPr>
              <a:t>[12] S. Latif, A. Qayyum, M. Usman, and J. Qadir, "Cross lingual speech emotion recognition: Urdu vs. Western languages," in Proc. Int. Conf. on Frontiers of Information Technology (FIT), 2018.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64592"/>
            <a:ext cx="7315200" cy="320040"/>
          </a:xfrm>
          <a:prstGeom prst="rect">
            <a:avLst/>
          </a:prstGeom>
          <a:noFill/>
        </p:spPr>
        <p:txBody>
          <a:bodyPr wrap="square" lIns="0" rIns="0">
            <a:spAutoFit/>
          </a:bodyPr>
          <a:lstStyle/>
          <a:p>
            <a:pPr algn="l"/>
            <a:r>
              <a:rPr sz="1200" b="0" i="0">
                <a:solidFill>
                  <a:srgbClr val="888888"/>
                </a:solidFill>
                <a:latin typeface="Arial"/>
              </a:rPr>
              <a:t>AI-Driven Gaming Addiction Screening System</a:t>
            </a:r>
          </a:p>
        </p:txBody>
      </p:sp>
      <p:pic>
        <p:nvPicPr>
          <p:cNvPr id="3" name="Picture 2" descr="pes_logo.png"/>
          <p:cNvPicPr>
            <a:picLocks noChangeAspect="1"/>
          </p:cNvPicPr>
          <p:nvPr/>
        </p:nvPicPr>
        <p:blipFill>
          <a:blip r:embed="rId2"/>
          <a:stretch>
            <a:fillRect/>
          </a:stretch>
        </p:blipFill>
        <p:spPr>
          <a:xfrm>
            <a:off x="11201400" y="109728"/>
            <a:ext cx="642682" cy="868680"/>
          </a:xfrm>
          <a:prstGeom prst="rect">
            <a:avLst/>
          </a:prstGeom>
        </p:spPr>
      </p:pic>
      <p:sp>
        <p:nvSpPr>
          <p:cNvPr id="4" name="TextBox 3"/>
          <p:cNvSpPr txBox="1"/>
          <p:nvPr/>
        </p:nvSpPr>
        <p:spPr>
          <a:xfrm>
            <a:off x="502920" y="658368"/>
            <a:ext cx="10515600" cy="502920"/>
          </a:xfrm>
          <a:prstGeom prst="rect">
            <a:avLst/>
          </a:prstGeom>
          <a:noFill/>
        </p:spPr>
        <p:txBody>
          <a:bodyPr wrap="square" lIns="0" rIns="0">
            <a:spAutoFit/>
          </a:bodyPr>
          <a:lstStyle/>
          <a:p>
            <a:pPr algn="r"/>
            <a:r>
              <a:rPr sz="2400" b="0" i="0">
                <a:solidFill>
                  <a:srgbClr val="FF0000"/>
                </a:solidFill>
                <a:latin typeface="Trebuchet MS"/>
              </a:rPr>
              <a:t>References (continued)</a:t>
            </a:r>
          </a:p>
        </p:txBody>
      </p:sp>
      <p:sp>
        <p:nvSpPr>
          <p:cNvPr id="5" name="Rectangle 4"/>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528816"/>
            <a:ext cx="12191695" cy="274320"/>
          </a:xfrm>
          <a:prstGeom prst="rect">
            <a:avLst/>
          </a:prstGeom>
          <a:noFill/>
        </p:spPr>
        <p:txBody>
          <a:bodyPr wrap="square" lIns="0" rIns="0">
            <a:spAutoFit/>
          </a:bodyPr>
          <a:lstStyle/>
          <a:p>
            <a:pPr algn="ctr"/>
            <a:r>
              <a:rPr sz="1000" b="0" i="0">
                <a:solidFill>
                  <a:srgbClr val="FFFFFF"/>
                </a:solidFill>
                <a:latin typeface="Trebuchet MS"/>
              </a:rPr>
              <a:t>Kaustubh_Khushee_Kanak_Vidisha</a:t>
            </a:r>
          </a:p>
        </p:txBody>
      </p:sp>
      <p:sp>
        <p:nvSpPr>
          <p:cNvPr id="8" name="TextBox 7"/>
          <p:cNvSpPr txBox="1"/>
          <p:nvPr/>
        </p:nvSpPr>
        <p:spPr>
          <a:xfrm>
            <a:off x="548640" y="1325880"/>
            <a:ext cx="11064240" cy="4983480"/>
          </a:xfrm>
          <a:prstGeom prst="rect">
            <a:avLst/>
          </a:prstGeom>
          <a:noFill/>
        </p:spPr>
        <p:txBody>
          <a:bodyPr wrap="square">
            <a:spAutoFit/>
          </a:bodyPr>
          <a:lstStyle/>
          <a:p>
            <a:pPr>
              <a:spcAft>
                <a:spcPts val="400"/>
              </a:spcAft>
            </a:pPr>
            <a:r>
              <a:rPr sz="1100" b="0">
                <a:solidFill>
                  <a:srgbClr val="1A1A1A"/>
                </a:solidFill>
                <a:latin typeface="Trebuchet MS"/>
              </a:rPr>
              <a:t>[13] R. Wang, F. Chen, Z. Chen, et al., "StudentLife: Assessing mental health, academic performance and behavioral trends of college students using smartphones," in Proc. ACM UbiComp, Seattle, WA, USA, 2014, pp. 3–14, doi: 10.1145/2632048.2632054.</a:t>
            </a:r>
          </a:p>
          <a:p>
            <a:pPr>
              <a:spcAft>
                <a:spcPts val="400"/>
              </a:spcAft>
            </a:pPr>
            <a:r>
              <a:rPr sz="1100" b="0">
                <a:solidFill>
                  <a:srgbClr val="1A1A1A"/>
                </a:solidFill>
                <a:latin typeface="Trebuchet MS"/>
              </a:rPr>
              <a:t>[14] M. Kwon, D.-J. Kim, H. Cho, and S. Yang, "The smartphone addiction scale: Development and validation of a short version for adolescents," PLoS ONE, vol. 8, no. 12, Art. no. e83558, 2013.</a:t>
            </a:r>
          </a:p>
          <a:p>
            <a:pPr>
              <a:spcAft>
                <a:spcPts val="400"/>
              </a:spcAft>
            </a:pPr>
            <a:r>
              <a:rPr sz="1100" b="0">
                <a:solidFill>
                  <a:srgbClr val="1A1A1A"/>
                </a:solidFill>
                <a:latin typeface="Trebuchet MS"/>
              </a:rPr>
              <a:t>[15] C. S. Andreassen et al., "The relationship between addictive use of social media and video games and symptoms of psychiatric disorders: A large-scale cross-sectional study," Psychology of Addictive Behaviors, vol. 30, no. 2, pp. 252–262, 2016.</a:t>
            </a:r>
          </a:p>
          <a:p>
            <a:pPr>
              <a:spcAft>
                <a:spcPts val="400"/>
              </a:spcAft>
            </a:pPr>
            <a:r>
              <a:rPr sz="1100" b="0">
                <a:solidFill>
                  <a:srgbClr val="1A1A1A"/>
                </a:solidFill>
                <a:latin typeface="Trebuchet MS"/>
              </a:rPr>
              <a:t>[16] R. A. LaBrie, D. A. LaPlante, S. E. Nelson, A. Schumann, and H. J. Shaffer, "Assessing the playing field: A prospective longitudinal study of Internet sports gambling behavior," Journal of Gambling Studies, vol. 23, no. 3, pp. 347–362, 2007.</a:t>
            </a:r>
          </a:p>
          <a:p>
            <a:pPr>
              <a:spcAft>
                <a:spcPts val="400"/>
              </a:spcAft>
            </a:pPr>
            <a:r>
              <a:rPr sz="1100" b="0">
                <a:solidFill>
                  <a:srgbClr val="1A1A1A"/>
                </a:solidFill>
                <a:latin typeface="Trebuchet MS"/>
              </a:rPr>
              <a:t>[17] J. Ferris and H. Wynne, "The Canadian Problem Gambling Index: Final report," Canadian Centre on Substance Abuse, Ottawa, ON, Canada, 2001.</a:t>
            </a:r>
          </a:p>
          <a:p>
            <a:pPr>
              <a:spcAft>
                <a:spcPts val="400"/>
              </a:spcAft>
            </a:pPr>
            <a:r>
              <a:rPr sz="1100" b="0">
                <a:solidFill>
                  <a:srgbClr val="1A1A1A"/>
                </a:solidFill>
                <a:latin typeface="Trebuchet MS"/>
              </a:rPr>
              <a:t>[18] V. Gupta et al., "MACD: Multilingual abusive comment detection at scale for Indic languages," in Advances in Neural Information Processing Systems (NeurIPS), Datasets and Benchmarks Track, vol. 35, 2022, pp. 26176–26191.</a:t>
            </a:r>
          </a:p>
          <a:p>
            <a:pPr>
              <a:spcAft>
                <a:spcPts val="400"/>
              </a:spcAft>
            </a:pPr>
            <a:r>
              <a:rPr sz="1100" b="0">
                <a:solidFill>
                  <a:srgbClr val="1A1A1A"/>
                </a:solidFill>
                <a:latin typeface="Trebuchet MS"/>
              </a:rPr>
              <a:t>[19] IEEE Computational Intelligence Society and Vesta Corporation, "IEEE-CIS Fraud Detection," Kaggle, 2019. [Online]. Available: kaggle.com/competitions/ieee-fraud-detection</a:t>
            </a:r>
          </a:p>
          <a:p>
            <a:pPr>
              <a:spcAft>
                <a:spcPts val="400"/>
              </a:spcAft>
            </a:pPr>
            <a:r>
              <a:rPr sz="1100" b="0">
                <a:solidFill>
                  <a:srgbClr val="1A1A1A"/>
                </a:solidFill>
                <a:latin typeface="Trebuchet MS"/>
              </a:rPr>
              <a:t>[20] A. Dal Pozzolo, O. Caelen, R. A. Johnson, and G. Bontempi, "Calibrating probability with undersampling for unbalanced classification," in Proc. IEEE Symp. Series on Computational Intelligence (SSCI), 2015, pp. 159–166.</a:t>
            </a:r>
          </a:p>
          <a:p>
            <a:pPr>
              <a:spcAft>
                <a:spcPts val="400"/>
              </a:spcAft>
            </a:pPr>
            <a:r>
              <a:rPr sz="1100" b="0">
                <a:solidFill>
                  <a:srgbClr val="1A1A1A"/>
                </a:solidFill>
                <a:latin typeface="Trebuchet MS"/>
              </a:rPr>
              <a:t>[21] Government of India, "The Digital Personal Data Protection Act, 2023," Act No. 22 of 2023, The Gazette of India, 2023.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743200"/>
            <a:ext cx="12191695" cy="1280160"/>
          </a:xfrm>
          <a:prstGeom prst="rect">
            <a:avLst/>
          </a:prstGeom>
          <a:noFill/>
        </p:spPr>
        <p:txBody>
          <a:bodyPr wrap="square" lIns="0" rIns="0">
            <a:spAutoFit/>
          </a:bodyPr>
          <a:lstStyle/>
          <a:p>
            <a:pPr algn="ctr"/>
            <a:r>
              <a:rPr sz="4000" b="0" i="0">
                <a:solidFill>
                  <a:srgbClr val="E07B1A"/>
                </a:solidFill>
                <a:latin typeface="Trebuchet MS"/>
              </a:rPr>
              <a:t>Thank You</a:t>
            </a:r>
          </a:p>
        </p:txBody>
      </p:sp>
      <p:sp>
        <p:nvSpPr>
          <p:cNvPr id="3" name="Rectangle 2"/>
          <p:cNvSpPr/>
          <p:nvPr/>
        </p:nvSpPr>
        <p:spPr>
          <a:xfrm>
            <a:off x="0" y="6473952"/>
            <a:ext cx="12191695" cy="384048"/>
          </a:xfrm>
          <a:prstGeom prst="rect">
            <a:avLst/>
          </a:prstGeom>
          <a:solidFill>
            <a:srgbClr val="B954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19088"/>
            <a:ext cx="12191695" cy="54864"/>
          </a:xfrm>
          <a:prstGeom prst="rect">
            <a:avLst/>
          </a:prstGeom>
          <a:solidFill>
            <a:srgbClr val="E07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