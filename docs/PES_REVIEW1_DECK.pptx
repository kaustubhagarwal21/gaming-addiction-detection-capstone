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deployed, multimodal screening system for parents that measures HOW a child plays, not just how long — externally validated against a clinical instrument, with its limitations named before you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context in 60 s: IGD is WHO-recognised; parents notice late; questionnaires need cooperation, screen-time counters measure volume. We measure HOW a child plays. Say "screening, not diagnosis" out loud. Scope: minors, Android, guardian in the loop — and why (a guardian with duty of care is what makes screening the unwilling possible and proportionate).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(approval) proposed the vision; Phase 2 built and evaluated the system; each review's feedback narrowed the design toward what could be validated. Be explicit that several Phase-1 ideas were dropped ON PURPOSE with a reason — camera/facial expression (privacy, no consent story), screen-recording OCR (privacy regression), iOS (no accessibility API for capture), Kaggle behaviour datasets (audited: synthetic provenance). Reviewers reward "we changed our mind because we measured" far more than "we did everything we said."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inferences that shaped the design, each tied to a paper the panel can check: (1) family factors and behavioural patterns, not hours, predict IGD → pattern features and a guardian in the loop; (2) IGDS9-SF is the validated short instrument → our external anchor; (3) domain data beats architecture for toxicity → CONDA in-game chat, HASOC Hindi. And one inference from our own survey that the literature did not give us: pattern &gt; volume,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ChildApp: foreground-package game detection, 10 objective session features, custom keyboard + accessibility for chat, VAD-gated mic with on-device Vosk STT, anti-tamper, consent-gated. Backend: Flask on Render, Neon Postgres, three models + availability-weighted fusion (40/30/30 over channels PRESENT), isotonic calibration, SHAP why, alerts to every guardian, drift monitor, export = delete scope. ParentApp: dashboard, 14-day trend, alerts with verdicts → threshold tuner, nudges, capture-coverage transparency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asks for the data pipeline stages explicitly, and the SDK/API/tool list with licences. Everything is open-source; no licensed component. Mention that the two gated datasets (HASOC, Svarah) are NOT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follows the module ownership the team agreed (each member owns the modules listed). Module LOC are measured (git ls-files | wc -l on 2026-08-18); hours are team estimates. If a panelist asks how LOC were attributed: by module ownership — the repo is pushed from one machine, so git author lines do not split by person, and we say that rather than fake per-author blame. Timeline is on the Gantt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per DEMO_RUNBOOK §3 (parent dashboard → alerts + verdict → nudge → chat/emotion → live capture in Roblox → tamper). Backup video ready. Testing: 291 automated tests + 7 research-integrity guards in CI on both DB dialects; load, fuzz, CVE, MobSF; on-device drill numbers here are MEASURED (Galaxy M52, 2026-08-18). Results table: every number is from the committed JSONs; 7 CI guards fail the build if the paper and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from git history and the Phase-1 deck: Phase 1 approval + literature (Feb–Mar), Phase 2 design + build (Apr–Jun: 19 commits May, 100 June), Phase 2 evaluation + pilot (Jul: 48 commits, 23-day pilot 6–28 Jul), Phase 3 validation + release + reporting (Aug: 70 commits — survey 7–9 Aug, fairness audit 14 Aug, device drill + v2.4.0 18 Aug). Remaining: final report submission,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 format; the full 48-entry list is in the report, 31 in the IEEE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0">
                <a:solidFill>
                  <a:srgbClr val="1A1A1A"/>
                </a:solidFill>
                <a:latin typeface="Trebuchet MS"/>
              </a:rPr>
              <a:t>UE22CS441A – Capstone Project Phase –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83080"/>
            <a:ext cx="1219169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600" b="0">
                <a:solidFill>
                  <a:srgbClr val="E07B1A"/>
                </a:solidFill>
                <a:latin typeface="Trebuchet MS"/>
              </a:rPr>
              <a:t>Project Progress Review #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06240"/>
            <a:ext cx="2743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E07B1A"/>
                </a:solidFill>
                <a:latin typeface="Trebuchet MS"/>
              </a:rPr>
              <a:t>Project Title   :
Project ID        :
Project Guide  :
Project Team  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206240"/>
            <a:ext cx="73152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Trebuchet MS"/>
              </a:rPr>
              <a:t>AI-Driven Gaming Addiction Screening System
PW26_SAS-03
Prof. Shridevi Sawant
Kaustubh Agarwal (PES1UG23CS291) · Khushee P Kiran (PES1UG23CS303)
Kanak Goyal (PES1UG23CS279) · Vidisha Murali (PES1UG23CS681)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Abstract and Scope of the Project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Capstone Project Phase – 2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Summary of work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Inferences drawn from Literature Survey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List of Tasks/Modules with Individual Contribution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Design of overall Architecture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Demonstration and Testing of the completed modules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Gantt chart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Abstract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Problem.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Internet Gaming Disorder (IGD) is a WHO-recognised condition (listed in ICD-11, the WHO disease catalogue); parents notice it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late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from the outside. Existing tools are self-report questionnaires (the child rates themself, so needs honest cooperation) or screen-time counters (measure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how long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which only weakly tracks severity)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we built.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deployed three-tier system — Child app (background capture) → cloud ML backend → Parent app — that combines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behaviour patterns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chat toxicity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(English, plus Hindi in romanised Latin letters or Devanagari script) and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voice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into one calibrated (a 0.8 score means about 80% of such cases really are high-risk), explainable screening signal with a plain-language "why"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Scope.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Minors on Android; guardian-consented; screening and awareness — a signal that flags concern for a parent,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not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clinical diagnosis. Cloud backend live in production; signed APKs on GitHub; consented family pilot ran 23 days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Phase 3 adds.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External (construct) validation: does our score track IGDS9-SF, the standard 9-question clinical screening questionnaire for gaming disorder? (134 raw / 104 usable); an accent-fairness audit of speech-to-text (6,656 clips); on-device resource measurement; and the honest limitations of 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Summary of Work Done in Capstone Project Phase –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572000"/>
                <a:gridCol w="49377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Phase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What was proposed / done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Suggestion or finding → improvement made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1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(approval)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AI-driven prediction app: playtime + chat sentiment + speech emotion; Casual / At-risk / Addicted; parental dashboard; Flutter/React Native + Firebase; Android + iOS; camera for facial expression; screen-recording OCR (reading on-screen text from screenshots); Kaggle datasets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Narrowed to what is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capturable, consentable and validatable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: native Android only (iOS has no capture API); camera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(no proportionate consent story); OCR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(privacy regression); Kaggle behaviour sets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audited and rejected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(synthetic provenance: the data was generated, not collected from real players)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2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(build + evaluate)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Apps + Flask backend deployed; 3-model ensemble + calibration + SHAP (per-prediction ‘why’ for parents); 11 real open datasets adopted by measured trial; ablations (retrain minus one part) + confidence intervals; family pilot; 266 CI tests at Phase-2 close (291 now)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Review feedback: "labels are synthetic" → grounded on 2 real surveys, stated on every slide; "voice number looks inflated" → speaker-independent split (no speaker in both train + test; –8.3 pts, honest); "no Hindi" → HASOC (Hindi hate-speech corpus) in both scripts + Devanagari keyboard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3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(this review)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survey; accent-fairness audit; on-device resource drill (CPU / memory measured on a phone); v2.4.0 released; 48-page report + 6-page IEEE paper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"Does the score mean anything?"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ρ = 0.317 (rank correlation) vs IGDS9-SF, leads screen time in 97% of resamples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"fair across accents?"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 / 9.6 h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WER (word error rate) gap named; "battery?"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measured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dual-STT (English/Hindi speech-to-text) fails gate → default OFF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Inferences Drawn from Literature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9319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Source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Inference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How it shaped our design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You et al. 2025; Coșa et al. 2025; Ergin &amp; Essau 2025 (family &amp; IGD)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Parent–child relationship and behavioural patterns (how a child plays) predict IGD better than raw hours of play; interventions work through the family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Guardian stays in the loop;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pattern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features (late-night play, re-logins, binges) are core model inputs; nudges, not blocks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Pontes &amp; Griffiths 2015 (IGDS9-SF); Latin-American IGDS9-SF dataset, n = 11,191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Validated 9-item DSM-5 (psychiatric manual) instrument; base rate (how common the disordered range is) ≈ 6.4 %; toxic-chat involvement tracks severity (r = +0.156)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IGDS9-SF is our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anchor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(the real label we test against); base rate sets thresholds; chat channel justified — and reproduced in our survey (ρ = 0.323)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Huang et al. 2024; Jiang 2024 (ML for gaming disorder)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Prior ML work models questionnaire data or a single signal; none deploys passive capture of several signals reporting to a guardian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gap we fill: deployed, behaviour + chat + voice, explainable, calibrated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Weld et al. 2021 (CONDA, real in-game chat); Mandl et al. 2019 (HASOC); Javed et al. 2023 (Svarah)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Game chat and mixed Hindi–English are their own writing styles; speech-to-text (ASR) error varies by Indian accent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Domain data &gt; model size: pretrained toxic-BERT is 12 pts below our LogReg; dual-script Hindi;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accent-fairness audit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(Svarah, Indian-English speech)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Our own survey (n = 104 usable)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Each pattern feature (how) beats each volume feature (how long) at tracking IGDS9-SF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Our design premise — measure how, not how long — confirmed against real questionnaire labels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ChildApp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Game detection (allowlist → OS category → parent override)
10 objective (measured) session features
Chat: custom keyboard (IME) + accessibility service
Mic on only during speech (VAD, voice-activity detection) → on-device Vosk speech-to-text
Anti-tamper · versioned consent (no consent → no capture)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Flask backend (Render + Neon Postgres)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RF behaviour (10 feats) · LogReg+TF-IDF chat · HistGB voice
Availability-weighted fusion 40/30/30 (re-weights over channels present)
Isotonic calibration (monotone correction of scores) · SHAP "why"
Alerts to all guardians · drift monitor (PSI/KS)
Export and delete cover the same data · HTTPS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ParentApp (Android)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Risk band + plain-language why · 14-day risk trend
Real-time alerts (risk / toxicity / tamper)
Accurate / false-alarm verdicts → Beta threshold tuner (Bayesian; adjusts alert cut-off)
Nudges to child · weekly PDF report
"What we can and can't see" transparency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4164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83640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Data flow: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session telemetry (session start / end times) / chat lines / 10-s voice segments → one score per channel → fused, calibrated risk + SHAP "why" → dashboard + push alerts; raw audio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deleted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after feature extraction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Modules: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game detection · session lifecycle · chat capture (IME/accessibility) · voice capture + speech-to-text (STT) · behaviour model · chat model · voice model · fusion &amp; alerting · feedback tuner · drift monitor (flags data unlike the training data) · consent &amp; anti-tamper (flags disabled capture) · parent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List of Tasks /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126480"/>
                <a:gridCol w="28346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Stage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What we do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Where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collection &amp; preparation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11 open datasets screened for provenance (origin), task fit and open licence, adopted after a measured trial; 2 rejected with evidence; own IGDS9-SF survey (134 raw / 104 usable) as primary data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ml/fetch_*.py, ml/analyze_*.py, docs/VALIDATION_PLAN.md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input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ChildApp session telemetry, keyboard (IME) / accessibility chat capture, VAD-gated audio; the survey’s Google-Form CSV export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android/ChildApp, ml/eval_behavior_survey.py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Pre-processing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One feature function shared by training and serving; TF-IDF over word + character n-grams; 36 acoustic features (pitch, energy, timbre); Hindi romanised to Latin spelling; survey columns matched by keyword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backend/behavior_features.py, ml/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Modelling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RF (10 feats) · LogReg+isotonic chat + noisy-OR word list (can only raise scores) · HistGB voice; availability-weighted fusion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ml/retrain_models.py, backend/app.py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Visualisation &amp; interpretation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SHAP per prediction → plain-language why for parents; precision–recall curve, confusion matrices, reliability diagrams (calibration plots), ablation tables, survey figure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ml/make_figures.py, docs/figures/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Storage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One code path: SQLite locally, Postgres (Neon) in prod; export = exactly what delete removes; audio never retained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backend/app.py, DEPLOY.md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E07B1A"/>
                </a:solidFill>
                <a:latin typeface="Trebuchet MS"/>
              </a:rPr>
              <a:t>SDK / API / Model / Tools (all open-source):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Android SDK 34 / Kotlin · Retrofit · Vosk 0.3.47 offline speech-to-text (Apache-2.0; en-in + hi small models) · Firebase Cloud Messaging (push alerts) · Python 3.11 · Flask · scikit-learn (RandomForest, LogisticRegression, HistGradientBoosting, isotonic) · SHAP · librosa / webrtcvad (audio / VAD) · psycopg2 · Postgres 16 (Neon) · Render (cloud host) · GitHub Actions · pytest · schemathesis (API fuzzing) · bandit · pip-audit · MobSF (three security scanners) · LaTeX/IEEEtran · Datasets: Jigsaw (Wikipedia comment toxicity), CONDA, Davidson (Twitter hate speech), HASOC 2019 (gated: on request), Hindi Wikipedia, RAVDESS, CREMA-D, EMO-DB, URDU (emotional-speech corpora), Gamers &amp; Anxiety (OSF), IGDS9-SF LatAm (OSF), StudentLife, Svarah (CC BY 4.0, gated).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Individual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943600"/>
                <a:gridCol w="1828800"/>
                <a:gridCol w="15544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Team member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Tasks / modules assigned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Development (LOC, approx.)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Time spent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Kaustubh Agarwal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ML pipeline (3 models, calibration, fusion, ablations); backend model serving + REST API; external validation survey (IGDS9-SF) + analysis; accent-fairness audit; report &amp; IEEE paper draft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15,197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420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Khushee P Kiran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ChildApp: game detection, session tracking, custom keyboard (IME) + Devanagari layout, accessibility chat capture, voice recorder + on-device speech-to-text, anti-tamper, consent; on-device resource drill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12,058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300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Kanak Goyal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infra: one DB code path for SQLite (local) and Postgres (production), auth, rate limiting, alerts/FCM, drift monitor, export/delete; CI, tests, deployment (Render/Neon)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9,681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280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Vidisha Murali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ParentApp: dashboard, alerts + accurate/false-alarm verdicts, chat/emotion analysis screens, “what we can and can’t see” transparency screen, weekly PDF; privacy/ethics docs, survey questionnaire &amp; recruitment, review decks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10,865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260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Total (repo)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12,061 · ML 5,962 · ChildApp 11,127 · ParentApp 7,243 · tests 4,742 · docs 6,411 · CI 257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47,803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1,260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Lines of code (LOC) counted with `git ls-files | wc -l` on 2026-08-18 (source, tests, docs, CI) and attributed by the module ownership the team agreed; hours are team estimates. Timeline of every task/module: see the Gantt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Demonstration and Testing of the Modules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66928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Module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Result (held-out, real data unless stated)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Testing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Behaviour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91.6 % acc · macro-F1 0.918 · CV 0.921 ± 0.002 (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synthetic labels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, grounded on 2 real surveys); ECE (calibration error) 0.062 → 0.015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Ablations w/ conf. intervals; hours-only baseline 0.702; 5 pattern feats 0.902 vs 5 volume 0.871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Chat model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In-domain (real in-game chat) PR-AUC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0.825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[0.807, 0.841]; P 0.956 / R 0.428 at threshold 0.95; Hindi P 0.968 (Devanagari) / 0.958 (romanised)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Ablation: no CONDA → 0.511; toxic-BERT baseline 0.709; HASOC 933 rows held out (never trained on)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Voice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0.574 acc speaker-independent (chance 0.25); random split 0.657 → 8.3-pt leakage exposed (memorised voices)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Speaker-independent CV; wav2vec2 headroom 0.776 (larger model); augmentation: no effect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Spearman ρ (rank correlation) =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0.317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[0.137, 0.478] vs IGDS9-SF (n = 103); screen-time hours alone 0.147; gain over hours Δρ = +0.167 [-0.002, 0.341]; pattern features 0.330 vs volume features 0.128, formal contrast (pattern − volume)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+0.199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[0.019, 0.380]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Exclusions fixed in advance; paired bootstrap (same people); late batch folded in per pre-stated rule; genre null (no effect) p = 0.598 reported; cut-off sens./spec. withheld (1 positive)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Fairness (STT → toxicity)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in 9.61 h / 6,656 clips, every accent group; WER (word error rate) by first-language family: 34.6 % Dravidian → 60.8 % Tibeto-Burman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Svarah (Indian-English, 117 speakers); deployed speech-to-text + scorer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System / apps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Live on Render + Neon; v2.4.0 signed APKs validated on device; 23-day pilot; default path 14 % CPU / 288 MB; dual-STT (two speech-to-text engines) 51–72 % / 419 MB →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fails resource gate → default OFF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181 backend (SQLite + Postgres) + 110 JVM tests + 7 paper-vs-data guards, all in CI; 288-req load 0 errors; fuzz; CVE scan; MobSF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urvey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3070860" cy="1783080"/>
          </a:xfrm>
          <a:prstGeom prst="rect">
            <a:avLst/>
          </a:prstGeom>
        </p:spPr>
      </p:pic>
      <p:pic>
        <p:nvPicPr>
          <p:cNvPr id="10" name="Picture 9" descr="pr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4572000"/>
            <a:ext cx="2517289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617720"/>
            <a:ext cx="52120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Live demo: parent dashboard → alert verdict → nudge → chat/emotion analysis → live capture in Roblox → tamper alert. Backup video ready. Two results AGAINST the system are reported: genre multiplier (per-genre risk weight) unsupported; 4 of 5 proxy names discredited → renamed in the product. PR-AUC = area under the precision–recall curve; right metric when toxic messages are rare.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E07B1A"/>
                </a:solidFill>
                <a:latin typeface="Trebuchet MS"/>
              </a:rPr>
              <a:t>Task /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Feb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2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Mar ’26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Apr ’26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6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May ’26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Jun ’26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1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Jul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8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Aug ’26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55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Sep ’26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4708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1: problem, scope, literature survey, approval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12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69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26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1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98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55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91456" y="1874520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23113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Architecture &amp; data pipeline design; dataset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12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69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6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41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8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55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48706" y="225856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61518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ChildApp / ParentApp / backend build (v1 → v2.3)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12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69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26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41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05956" y="2642616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299923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Model training, calibration, ablations, bake-offs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12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69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26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83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41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55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63206" y="3026664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38328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Cloud deployment (Render + Neon), CI, security audits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12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9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26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83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41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755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63206" y="3410712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376732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Consented family pilot (6–28 Jul); feedback loop; drift monitor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2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69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26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83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41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98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755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077706" y="3794760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15137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Hindi dual-script chat + Devanagari keyboard + dual-STT (v2.4.0)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12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9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26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41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898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5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077706" y="417880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53542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External validation survey (IGDS9-SF, n = 134) + analysis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12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69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326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183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41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898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755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934956" y="4562856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491947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Accent-fairness audit · on-device drill · v2.4.0 release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12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69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26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183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1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98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55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934956" y="4946904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8640" y="53035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Report (48 pp) · IEEE paper (6 pp) · defense kit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12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9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326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183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41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898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55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934956" y="5330952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8640" y="568756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3 reviews · final submission · viva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12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69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326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41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898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55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934956" y="5715000"/>
            <a:ext cx="2498598" cy="201168"/>
          </a:xfrm>
          <a:prstGeom prst="roundRect">
            <a:avLst/>
          </a:prstGeom>
          <a:solidFill>
            <a:srgbClr val="F2C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6071616"/>
            <a:ext cx="11064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Solid = complete · Light = in progress. Cadence from git: 19 commits May · 100 Jun · 48 Jul · 70 Aug (to 18 Aug).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[1] H. M. Pontes and M. D. Griffiths, "Measuring DSM-5 Internet Gaming Disorder: Development and validation of a short psychometric scale," Computers in Human Behavior, vol. 45, pp. 137–143, 2015.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[2] World Health Organization, International Classification of Diseases 11th Revision (ICD-11) — Gaming disorder (6C51),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[3] S. You, X. Wang, Z. Hu, and J. He, "Parent–child relationships and gaming addiction: A systematic review and meta-analysis," Journal of Youth and Adolescence,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[4] Y. Huang, R. Wu, Y. Huang, Y. Xiang, and W. Zhou, "Investigating mechanisms of Internet Gaming Disorder and developing intelligent monitoring models using AI technologies," BMC Public Health, 2024.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[5] D. A. Ergin and C. A. Essau, "Family factors and Internet Gaming Disorder among adolescents: A systematic review," Int. J. Developmental Science,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[6] H. Weld et al., "CONDA: a CONtextual Dual-Annotated dataset for in-game toxicity understanding and detection," in Findings of ACL-IJCNLP, 2021.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[7] T. Mandl et al., "Overview of the HASOC track at FIRE 2019: Hate speech and offensive content identification in Indo-European languages," in Proc. FIRE,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[8] T. Javed et al., "Svarah: Evaluating English ASR systems on Indian accents," in Proc. INTERSPEECH, 2023.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[9] S. M. Lundberg and S.-I. Lee, "A unified approach to interpreting model predictions," in Advances in Neural Information Processing Systems (NeurIPS), 2017.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[10] S. R. Livingstone and F. A. Russo, "The Ryerson Audio-Visual Database of Emotional Speech and Song (RAVDESS)," PLoS ONE, vol. 13, no. 5, 2018.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[11] H. Cao et al., "CREMA-D: Crowd-sourced emotional multimodal actors dataset," IEEE Trans. Affective Computing, vol. 5, no. 4, 2014.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[12] T. Davidson, D. Warmsley, M. Macy, and I. Weber, "Automated hate speech detection and the problem of offensive language," in Proc. ICWSM, 2017.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0">
                <a:solidFill>
                  <a:srgbClr val="E07B1A"/>
                </a:solidFill>
                <a:latin typeface="Trebuchet MS"/>
              </a:rPr>
              <a:t>Thank
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