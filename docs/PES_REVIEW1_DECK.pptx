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a deployed, multimodal screening system for parents that measures HOW a child plays, not just how long — externally validated against a clinical instrument.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context in 60 s: IGD is WHO-recognised; parents notice late; questionnaires need cooperation, screen-time counters measure volume. We measure HOW a child plays. Say "screening, not diagnosis" out loud. Scope: minors, Android, guardian in the loop — and why (a guardian with duty of care is what makes screening the unwilling possible and proportionate).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(approval) proposed the vision; Phase 2 built and evaluated the system; each review's feedback narrowed the design toward what could be validated. Be explicit that several Phase-1 ideas were dropped ON PURPOSE with a reason — camera/facial expression (privacy, no consent story), screen-recording OCR (privacy regression), iOS (no accessibility API for capture), Kaggle behaviour datasets (audited: synthetic provenance). Reviewers reward "we changed our mind because we measured" far more than "we did everything we said."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inferences that shaped the design, each tied to a paper the panel can check: (1) family factors and behavioural patterns, not hours, predict IGD → pattern features and a guardian in the loop; (2) IGDS9-SF is the validated short instrument → our external anchor; (3) domain data beats architecture for toxicity → CONDA in-game chat, HASOC Hindi. And one inference from our own survey that the literature did not give us: pattern &gt; volume,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ChildApp: foreground-package game detection, 10 objective session features, custom keyboard + accessibility for chat, VAD-gated mic with on-device Vosk STT, anti-tamper, consent-gated. Backend: Flask on Render, Neon Postgres, three models + availability-weighted fusion (40/30/30 over channels PRESENT), isotonic calibration, SHAP why, alerts to every guardian, drift monitor, export = delete scope. ParentApp: dashboard, 14-day trend, alerts with verdicts → threshold tuner, nudges, capture-coverage transparency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asks for the data pipeline stages explicitly, and the SDK/API/tool list with licences. Everything is open-source; no licensed component. Mention that the two gated datasets (HASOC, Svarah) are NOT redistributed.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follows the module ownership the team agreed (each member owns the modules listed). Module LOC are measured (git ls-files | wc -l on 2026-08-18); hours are team estimates. If a panelist asks how LOC were attributed: by module ownership — the repo is pushed from one machine, so git author lines do not split by person, and we say that rather than fake per-author blame. Timeline is on the Gantt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per DEMO_RUNBOOK §3 (parent dashboard → alerts + verdict → nudge → chat/emotion → live capture in Roblox → tamper). Backup video ready. Testing: 290 automated tests in CI on both DB dialects; load, fuzz, CVE, MobSF; on-device drill numbers here are MEASURED (Galaxy M52, 2026-08-18). Results table: every number is from the committed JSONs; 7 CI guards fail the build if the paper and data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from git history and the Phase-1 deck: Phase 1 approval + literature (Feb–Mar), Phase 2 design + build (Apr–Jun: 19 commits May, 100 June), Phase 2 evaluation + pilot (Jul: 48 commits, 23-day pilot 6–28 Jul), Phase 3 validation + release + reporting (Aug: 70 commits — survey 7–9 Aug, fairness audit 14 Aug, device drill + v2.4.0 18 Aug). Remaining: final report submission,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IEEE format; the full 44-entry list is in the report, 22 in the IEEE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05840"/>
            <a:ext cx="121916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 b="0">
                <a:solidFill>
                  <a:srgbClr val="1A1A1A"/>
                </a:solidFill>
                <a:latin typeface="Trebuchet MS"/>
              </a:rPr>
              <a:t>UE22CS441A – Capstone Project Phase –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783080"/>
            <a:ext cx="1219169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600" b="0">
                <a:solidFill>
                  <a:srgbClr val="E07B1A"/>
                </a:solidFill>
                <a:latin typeface="Trebuchet MS"/>
              </a:rPr>
              <a:t>Project Progress Review #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06240"/>
            <a:ext cx="27432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>
                <a:solidFill>
                  <a:srgbClr val="E07B1A"/>
                </a:solidFill>
                <a:latin typeface="Trebuchet MS"/>
              </a:rPr>
              <a:t>Project Title   :
Project ID        :
Project Guide  :
Project Team  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206240"/>
            <a:ext cx="73152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Trebuchet MS"/>
              </a:rPr>
              <a:t>AI-Driven Gaming Addiction Screening System
PW26_SAS-03
Prof. Shridevi Sawant
Kaustubh Agarwal (PES1UG23CS291) · Khushee P Kiran (PES1UG23CS303)
Kanak Goyal (PES1UG23CS279) · Vidisha Murali (PES1UG23CS681)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Abstract and Scope of the Project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Capstone Project Phase – 2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Trebuchet MS"/>
              </a:rPr>
              <a:t>– Summary of work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1A1A1A"/>
                </a:solidFill>
                <a:latin typeface="Trebuchet MS"/>
              </a:rPr>
              <a:t>– Inferences drawn from Literature Survey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List of Tasks/Modules with Individual Contribution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Design of overall Architecture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Demonstration and Testing of the completed modules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Gantt chart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E07B1A"/>
                </a:solidFill>
                <a:latin typeface="Trebuchet MS"/>
              </a:rPr>
              <a:t>▪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Abstract and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E07B1A"/>
                </a:solidFill>
                <a:latin typeface="Trebuchet MS"/>
              </a:rPr>
              <a:t>▪ 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Problem.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Internet Gaming Disorder is WHO-recognised (ICD-11); parents notice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late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, from the outside. Existing tools are self-report questionnaires (need the child's honest cooperation) or screen-time counters (measure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how long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, a weak correlate of severity)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07B1A"/>
                </a:solidFill>
                <a:latin typeface="Trebuchet MS"/>
              </a:rPr>
              <a:t>▪ 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What we built.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A deployed three-tier system — Child app (passive capture) → cloud ML backend → Parent app — that fuses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behaviour patterns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,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chat toxicity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(English + romanised Hindi + Devanagari) and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voice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into one calibrated, explainable *screening* signal with a plain-language "why"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07B1A"/>
                </a:solidFill>
                <a:latin typeface="Trebuchet MS"/>
              </a:rPr>
              <a:t>▪ 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Scope.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Minors on Android; guardian-consented; screening and awareness —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not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a clinical diagnosis. Cloud backend live in production; signed APKs on GitHub; consented family pilot ran 23 days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E07B1A"/>
                </a:solidFill>
                <a:latin typeface="Trebuchet MS"/>
              </a:rPr>
              <a:t>▪  </a:t>
            </a:r>
            <a:r>
              <a:rPr sz="1600" b="1">
                <a:solidFill>
                  <a:srgbClr val="E07B1A"/>
                </a:solidFill>
                <a:latin typeface="Trebuchet MS"/>
              </a:rPr>
              <a:t>What Phase 3 adds.</a:t>
            </a:r>
            <a:r>
              <a:rPr sz="1600" b="0">
                <a:solidFill>
                  <a:srgbClr val="E07B1A"/>
                </a:solidFill>
                <a:latin typeface="Trebuchet MS"/>
              </a:rPr>
              <a:t> External construct validation against the IGDS9-SF clinical instrument (134 raw / 104 usable), an accent-fairness audit (6,656 clips), on-device resource measurement, and the honest limitations that come with all three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Summary of Work Done in Capstone Project Phase – 1 &amp;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572000"/>
                <a:gridCol w="49377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Phase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What was proposed / done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Suggestion or finding → improvement made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Phase 1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(approval)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AI-driven prediction app: playtime + chat sentiment + speech emotion; Casual / At-risk / Addicted; parental dashboard; Flutter/React Native + Firebase; Android + iOS; camera for facial expression; screen-recording OCR; Kaggle datasets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Narrowed to what is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capturable, consentable and validatable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: native Android only (iOS has no capture API); camera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dropped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(no proportionate consent story); OCR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dropped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(privacy regression); Kaggle behaviour sets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audited and rejected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(synthetic provenance)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Phase 2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(build + evaluate)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Both apps + Flask backend built and deployed; 3-model ensemble with calibration + SHAP; 11 real open datasets adopted by measured trial; ablations with CIs; family pilot; 266 tests in CI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Review feedback: "labels are synthetic" → grounded on 2 real surveys and stated on every slide; "voice number looks inflated" → speaker-independent split (–9 pts, honest); "no Hindi" → dual-script HASOC path + Devanagari keyboard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Phase 3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(this review)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External validation survey; accent-fairness audit; on-device resource drill; v2.4.0 released; 47-page report + 5-page IEEE paper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"Does the score mean anything?" →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ρ = 0.317 vs IGDS9-SF, leads screen time in 97% of resamples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; "is it fair across accents?" →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0 false alerts / 9.6 h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, WER gap named; "battery?" →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measured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, dual-STT fails our gate → default OFF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Inferences Drawn from 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39319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Source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Inference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How it shaped our design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You et al. 2025; Coșa et al. 2025; Ergin &amp; Essau 2025 (family &amp; IGD)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Parent–child relationship and behavioural patterns predict IGD better than raw exposure; interventions work through the family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Guardian-in-the-loop screening;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pattern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 features (late-night, re-logins, binges) as first-class inputs; nudges, not blocks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Pontes &amp; Griffiths 2015 (IGDS9-SF); LatAm IGDS9-SF dataset, n = 11,191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A validated 9-item DSM-5 instrument exists; disordered-range base rate ≈ 6.4 %; toxic-chat involvement tracks severity (r = +0.156)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IGDS9-SF as the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external validation anchor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; base rate grounds thresholds; chat channel justified — and replicated locally (ρ = 0.315)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Huang et al. 2024; Jiang 2024 (ML for gaming disorder)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Prior ML work models survey data or single signals; none deploys passive multi-signal capture to a guardian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The gap we fill: deployed, multimodal, explainable, calibrated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Weld et al. 2021 (CONDA); Mandl et al. 2019 (HASOC); Javed et al. 2023 (Svarah)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In-game chat and code-mixed Hindi are their own registers; Indian-accent ASR error is uneven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Domain corpora over model capacity (toxic-BERT loses to our LogReg by 12 pts); dual-script Hindi; </a:t>
                      </a:r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accent-fairness audit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Our own survey (n = 104 usable)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Every pattern feature out-ranks every volume feature against IGDS9-SF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The design premise — measure *how*, not *how long* — confirmed against real labels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474720" cy="2377440"/>
          </a:xfrm>
          <a:prstGeom prst="roundRect">
            <a:avLst/>
          </a:prstGeom>
          <a:solidFill>
            <a:srgbClr val="FBF3EA"/>
          </a:solidFill>
          <a:ln w="25400">
            <a:solidFill>
              <a:srgbClr val="E0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E07B1A"/>
                </a:solidFill>
                <a:latin typeface="Trebuchet MS"/>
              </a:rPr>
              <a:t>ChildApp (Android)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2004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Game detection (allowlist → OS category → parent override)
10 objective session features
IME + accessibility chat capture (Devanagari layout)
VAD-gated mic → on-device Vosk STT
Anti-tamper · versioned consent (fails closed)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2377440"/>
          </a:xfrm>
          <a:prstGeom prst="roundRect">
            <a:avLst/>
          </a:prstGeom>
          <a:solidFill>
            <a:srgbClr val="FBF3EA"/>
          </a:solidFill>
          <a:ln w="25400">
            <a:solidFill>
              <a:srgbClr val="E0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E07B1A"/>
                </a:solidFill>
                <a:latin typeface="Trebuchet MS"/>
              </a:rPr>
              <a:t>Flask backend (Render + Neon Postgres)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RF behaviour (10 feats) · LogReg+TF-IDF chat · HistGB voice
Availability-weighted fusion 40/30/30
Isotonic calibration · SHAP "why"
Alerts to all guardians · drift monitor (PSI/KS)
Export scope = delete scope · HTTPS ·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74720" cy="2377440"/>
          </a:xfrm>
          <a:prstGeom prst="roundRect">
            <a:avLst/>
          </a:prstGeom>
          <a:solidFill>
            <a:srgbClr val="FBF3EA"/>
          </a:solidFill>
          <a:ln w="25400">
            <a:solidFill>
              <a:srgbClr val="E0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E07B1A"/>
                </a:solidFill>
                <a:latin typeface="Trebuchet MS"/>
              </a:rPr>
              <a:t>ParentApp (Android)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004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Risk band + plain-language why · 14-day trend
Real-time alerts (risk / toxicity / tamper)
Accurate / false-alarm verdicts → Beta threshold tuner
Nudges to child · weekly PDF
"What we can and can't see" transparency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41648" y="2468880"/>
            <a:ext cx="292608" cy="365760"/>
          </a:xfrm>
          <a:prstGeom prst="rightArrow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836408" y="2468880"/>
            <a:ext cx="292608" cy="365760"/>
          </a:xfrm>
          <a:prstGeom prst="rightArrow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07B1A"/>
                </a:solidFill>
                <a:latin typeface="Trebuchet MS"/>
              </a:rPr>
              <a:t>▪  </a:t>
            </a:r>
            <a:r>
              <a:rPr sz="1300" b="1">
                <a:solidFill>
                  <a:srgbClr val="E07B1A"/>
                </a:solidFill>
                <a:latin typeface="Trebuchet MS"/>
              </a:rPr>
              <a:t>Data flow:</a:t>
            </a:r>
            <a:r>
              <a:rPr sz="1300" b="0">
                <a:solidFill>
                  <a:srgbClr val="E07B1A"/>
                </a:solidFill>
                <a:latin typeface="Trebuchet MS"/>
              </a:rPr>
              <a:t> session telemetry / chat lines / 10-s voice segments → per-channel scores → fused, calibrated risk + SHAP → dashboard + push alerts; raw audio </a:t>
            </a:r>
            <a:r>
              <a:rPr sz="1300" b="1">
                <a:solidFill>
                  <a:srgbClr val="E07B1A"/>
                </a:solidFill>
                <a:latin typeface="Trebuchet MS"/>
              </a:rPr>
              <a:t>deleted</a:t>
            </a:r>
            <a:r>
              <a:rPr sz="1300" b="0">
                <a:solidFill>
                  <a:srgbClr val="E07B1A"/>
                </a:solidFill>
                <a:latin typeface="Trebuchet MS"/>
              </a:rPr>
              <a:t> after feature extraction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07B1A"/>
                </a:solidFill>
                <a:latin typeface="Trebuchet MS"/>
              </a:rPr>
              <a:t>▪  </a:t>
            </a:r>
            <a:r>
              <a:rPr sz="1300" b="1">
                <a:solidFill>
                  <a:srgbClr val="E07B1A"/>
                </a:solidFill>
                <a:latin typeface="Trebuchet MS"/>
              </a:rPr>
              <a:t>Modules:</a:t>
            </a:r>
            <a:r>
              <a:rPr sz="1300" b="0">
                <a:solidFill>
                  <a:srgbClr val="E07B1A"/>
                </a:solidFill>
                <a:latin typeface="Trebuchet MS"/>
              </a:rPr>
              <a:t> game detection · session lifecycle · chat capture (IME/accessibility) · voice capture + STT · behaviour model · chat model · voice model · fusion &amp; alerting · feedback tuner · drift monitor · consent &amp; anti-tamper · parent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List of Tasks /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126480"/>
                <a:gridCol w="28346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Trebuchet MS"/>
                        </a:rPr>
                        <a:t>Stage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Trebuchet MS"/>
                        </a:rPr>
                        <a:t>What we do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Trebuchet MS"/>
                        </a:rPr>
                        <a:t>Where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Data collection &amp; preparation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11 open corpora screened by provenance/fit/openness, adopted by measured trial; 2 rejected with evidence; own IGDS9-SF survey (134 raw / 104 usable) as primary data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ml/fetch_*.py, ml/analyze_*.py, docs/VALIDATION_PLAN.md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Data input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ChildApp session telemetry, IME/accessibility chat, VAD-gated audio; Google-Form export for the survey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android/ChildApp, ml/eval_behavior_survey.py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Pre-processing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Train/serve-aligned feature derivation (one shared function); TF-IDF word ∪ char_wb; 36 acoustic features; romanisation of Hindi; keyword-column matching for the survey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backend/behavior_features.py, ml/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Modelling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RF (10 feats) · LogReg+isotonic chat with noisy-OR lexicon · HistGB voice; availability-weighted fusion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ml/retrain_models.py, backend/app.py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Visualisation &amp; interpretation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SHAP per prediction; PR curve, confusion matrices, reliability diagrams, ablation tables, survey figure; parent-facing plain-language why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ml/make_figures.py, docs/figures/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Storage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SQLite (dev) / Neon Postgres (prod), one code path; export = delete scope; audio never retained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backend/app.py, DEPLOY.md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E07B1A"/>
                </a:solidFill>
                <a:latin typeface="Trebuchet MS"/>
              </a:rPr>
              <a:t>SDK / API / Model / Tools (all open-source):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Android SDK 34 / Kotlin · Retrofit · Vosk 0.3.47 (Apache-2.0; en-in + hi small models) · Firebase Cloud Messaging · Python 3.11 · Flask · scikit-learn (RandomForest, LogisticRegression, HistGradientBoosting, isotonic) · SHAP · librosa / webrtcvad · psycopg2 · Postgres 16 (Neon) · Render · GitHub Actions · pytest · schemathesis · bandit · pip-audit · MobSF · LaTeX/IEEEtran · Datasets: Jigsaw, CONDA, Davidson, HASOC 2019 (gated), Hindi Wikipedia, RAVDESS, CREMA-D, EMO-DB, URDU, Gamers &amp; Anxiety (OSF), IGDS9-SF LatAm (OSF), StudentLife, Svarah (CC BY 4.0, gated).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Individual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943600"/>
                <a:gridCol w="1828800"/>
                <a:gridCol w="15544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Team member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Tasks / modules assigned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Development (LOC, approx.)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Trebuchet MS"/>
                        </a:rPr>
                        <a:t>Time spent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Kaustubh Agarwal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ML pipeline (3 models, calibration, fusion, ablations); backend serving + API; external validation survey + analysis; fairness audit; paper &amp; IEEE draft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15,040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≈ 420 h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Khushee P Kiran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ChildApp: game detection, session lifecycle, IME + Devanagari keyboard, accessibility capture, voice recorder + on-device STT, anti-tamper, consent; on-device drill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12,058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≈ 300 h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Kanak Goyal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Backend infra: Postgres/SQLite dual dialect, auth, rate limiting, alerts/FCM, drift monitor, export/delete; CI, tests, deployment (Render/Neon)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9,664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≈ 280 h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Vidisha Murali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ParentApp: dashboard, alerts + feedback verdicts, chat/emotion analysis screens, transparency screen, weekly PDF; privacy/ethics docs, survey instrument &amp; recruitment, review decks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10,729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≈ 260 h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Total (repo)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backend 12,061 · ML 5,941 · ChildApp 11,127 · ParentApp 7,243 · tests 4,742 · docs 6,139 · CI 240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Trebuchet MS"/>
                        </a:rPr>
                        <a:t>47,493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Trebuchet MS"/>
                        </a:rPr>
                        <a:t>≈ 1,260 h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Trebuchet MS"/>
              </a:rPr>
              <a:t>LOC counted with `git ls-files | wc -l` on 2026-08-18 (source, tests, docs, CI), attributed by agreed module ownership; hours are team estimates. Timeline of every task/module: see the Gantt chart.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Demonstration and Testing of the Modules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669280"/>
                <a:gridCol w="3657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Trebuchet MS"/>
                        </a:rPr>
                        <a:t>Module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Trebuchet MS"/>
                        </a:rPr>
                        <a:t>Result (held-out, real data unless stated)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Trebuchet MS"/>
                        </a:rPr>
                        <a:t>Testing</a:t>
                      </a:r>
                    </a:p>
                  </a:txBody>
                  <a:tcPr marL="64008" marR="64008" marT="27432" marB="27432">
                    <a:solidFill>
                      <a:srgbClr val="E07B1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Behaviour model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91.6 % acc · macro-F1 0.918 · CV 0.921 ± 0.002 (</a:t>
                      </a:r>
                      <a:r>
                        <a:rPr sz="1000" b="1">
                          <a:solidFill>
                            <a:srgbClr val="1A1A1A"/>
                          </a:solidFill>
                          <a:latin typeface="Trebuchet MS"/>
                        </a:rPr>
                        <a:t>synthetic labels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, grounded on 2 real surveys); ECE 0.062 → 0.015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Ablations w/ CIs; hours-only baseline 0.702; pattern-5 0.902 vs volume-5 0.871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Chat model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In-domain PR-AUC </a:t>
                      </a:r>
                      <a:r>
                        <a:rPr sz="1000" b="1">
                          <a:solidFill>
                            <a:srgbClr val="1A1A1A"/>
                          </a:solidFill>
                          <a:latin typeface="Trebuchet MS"/>
                        </a:rPr>
                        <a:t>0.825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 [0.807, 0.841]; P 0.956 / R 0.428 @ 0.95; Hindi P 0.968 (Devanagari) / 0.958 (romanised)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Ablation: − CONDA → 0.511; toxic-BERT baseline 0.709; HASOC held-out 933 rows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Voice model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0.574 acc speaker-independent (chance 0.25); random split 0.657 → 9-pt leakage exposed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Speaker-independent CV; w2v2 headroom 0.776; augmentation ablation neutral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Trebuchet MS"/>
                        </a:rPr>
                        <a:t>External validation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ρ = </a:t>
                      </a:r>
                      <a:r>
                        <a:rPr sz="1000" b="1">
                          <a:solidFill>
                            <a:srgbClr val="1A1A1A"/>
                          </a:solidFill>
                          <a:latin typeface="Trebuchet MS"/>
                        </a:rPr>
                        <a:t>0.317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 [0.137, 0.478] vs IGDS9-SF (n = 86); hours baseline 0.147; Δρ = +0.167 [-0.002, 0.341]; pattern 0.330 vs volume 0.128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Pre-specified exclusions; paired bootstrap; late batch folded in per pre-stated rule; genre null p = 0.598 reported; caseness withheld (1 positive)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Fairness (STT → toxicity)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Trebuchet MS"/>
                        </a:rPr>
                        <a:t>0 false alerts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 in 9.61 h / 6,656 clips, every accent group; WER 34.6 % Dravidian → 60.8 % Tibeto-Burman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Svarah (117 speakers); deployed recogniser + served scorer</a:t>
                      </a:r>
                    </a:p>
                  </a:txBody>
                  <a:tcPr marL="64008" marR="64008" marT="27432" marB="27432">
                    <a:solidFill>
                      <a:srgbClr val="FBF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System / apps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Live on Render + Neon; v2.4.0 signed APKs validated on device; 23-day pilot; default path 14 % CPU / 288 MB; dual-STT 51–72 % / 419 MB → </a:t>
                      </a:r>
                      <a:r>
                        <a:rPr sz="1000" b="1">
                          <a:solidFill>
                            <a:srgbClr val="1A1A1A"/>
                          </a:solidFill>
                          <a:latin typeface="Trebuchet MS"/>
                        </a:rPr>
                        <a:t>fails gate → default OFF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Trebuchet MS"/>
                        </a:rPr>
                        <a:t>180 backend (SQLite + Postgres) + 110 JVM + 7 guards; 288-req load 0 errors; fuzz; CVE; MobSF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survey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0"/>
            <a:ext cx="3070860" cy="1783080"/>
          </a:xfrm>
          <a:prstGeom prst="rect">
            <a:avLst/>
          </a:prstGeom>
        </p:spPr>
      </p:pic>
      <p:pic>
        <p:nvPicPr>
          <p:cNvPr id="10" name="Picture 9" descr="pr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39" y="4572000"/>
            <a:ext cx="2517289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617720"/>
            <a:ext cx="521208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Live demo (DEMO_RUNBOOK §3): parent dashboard → alert verdict → nudge → chat/emotion analysis → live capture in Roblox → tamper alert. Backup video ready. Two results AGAINST the system are reported: genre multiplier unsupported; 4 of 5 proxy names discredited → renamed in the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Gantt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E07B1A"/>
                </a:solidFill>
                <a:latin typeface="Trebuchet MS"/>
              </a:rPr>
              <a:t>Task /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Feb ’26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213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Mar ’26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938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Apr ’26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663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May ’26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Jun ’26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113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Jul ’26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838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Aug ’26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5630" y="1417320"/>
            <a:ext cx="85725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E07B1A"/>
                </a:solidFill>
                <a:latin typeface="Trebuchet MS"/>
              </a:rPr>
              <a:t>Sep ’26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47088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Phase 1: problem, scope, literature survey,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1213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938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663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113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9838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55630" y="180136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91456" y="1874520"/>
            <a:ext cx="249859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231136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Architecture &amp; data pipeline design; dataset 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1213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6938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2663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4113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9838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55630" y="2185416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48706" y="2258568"/>
            <a:ext cx="249859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615184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ChildApp / ParentApp / backend build (v1 → v2.3)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1213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6938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2663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8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4113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9838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55630" y="2569464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05956" y="2642616"/>
            <a:ext cx="335584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2999232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Model training, calibration, ablations, bake-offs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1213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6938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2663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8388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4113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9838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55630" y="2953512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63206" y="3026664"/>
            <a:ext cx="249859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383280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Cloud deployment (Render + Neon), CI, security audits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1213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6938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2663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8388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4113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9838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755630" y="3337560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63206" y="3410712"/>
            <a:ext cx="335584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3767328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Consented family pilot (6–28 Jul); feedback loop; drift monitor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213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6938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2663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8388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4113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9838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755630" y="3721608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077706" y="3794760"/>
            <a:ext cx="164134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4151376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Hindi dual-script chat + Devanagari keyboard + dual-STT (v2.4.0)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1213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6938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2663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8388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4113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838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755630" y="4105656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077706" y="4178808"/>
            <a:ext cx="249859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4535424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External validation survey (IGDS9-SF, n = 87) + analysis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5488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1213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6938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2663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8388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4113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9838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755630" y="4489704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934956" y="4562856"/>
            <a:ext cx="164134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" y="4919472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Accent-fairness audit · on-device drill · v2.4.0 release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5488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1213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6938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2663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18388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4113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9838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755630" y="4873752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934956" y="4946904"/>
            <a:ext cx="164134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8640" y="5303520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Report (47 pp) · IEEE paper (5 pp) · defense kit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61213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6938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32663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18388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4113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9838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55630" y="5257800"/>
            <a:ext cx="85725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9934956" y="5330952"/>
            <a:ext cx="1641348" cy="201168"/>
          </a:xfrm>
          <a:prstGeom prst="round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8640" y="5687568"/>
            <a:ext cx="42062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rebuchet MS"/>
              </a:rPr>
              <a:t>Phase 3 reviews · final submission · viva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5488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1213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46938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32663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18388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04113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89838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55630" y="5641848"/>
            <a:ext cx="857250" cy="347472"/>
          </a:xfrm>
          <a:prstGeom prst="rect">
            <a:avLst/>
          </a:prstGeom>
          <a:solidFill>
            <a:srgbClr val="FBF3E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9934956" y="5715000"/>
            <a:ext cx="2498598" cy="201168"/>
          </a:xfrm>
          <a:prstGeom prst="roundRect">
            <a:avLst/>
          </a:prstGeom>
          <a:solidFill>
            <a:srgbClr val="F2C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8640" y="6071616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Trebuchet MS"/>
              </a:rPr>
              <a:t>Solid = complete · Light = in progress. Cadence from git: 19 commits May · 100 Jun · 48 Jul · 70 Aug (to 18 Aug).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Trebuchet MS"/>
              </a:rPr>
              <a:t>AI-Driven Gaming Addiction Screening System</a:t>
            </a:r>
          </a:p>
        </p:txBody>
      </p:sp>
      <p:pic>
        <p:nvPicPr>
          <p:cNvPr id="3" name="Picture 2" descr="pe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09728"/>
            <a:ext cx="642682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2600" b="0">
                <a:solidFill>
                  <a:srgbClr val="1A1A1A"/>
                </a:solidFill>
                <a:latin typeface="Trebuchet MS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Trebuchet MS"/>
              </a:rPr>
              <a:t>Kaustubh_Khushee_Kanak_Vidisha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[1] H. M. Pontes and M. D. Griffiths, "Measuring DSM-5 Internet Gaming Disorder: Development and validation of a short psychometric scale," Computers in Human Behavior, vol. 45, pp. 137–143, 2015.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[2] World Health Organization, International Classification of Diseases 11th Revision (ICD-11) — Gaming disorder (6C51), 2019.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[3] S. You, X. Wang, Z. Hu, and J. He, "Parent–child relationships and gaming addiction: A systematic review and meta-analysis," Journal of Youth and Adolescence, 2025.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[4] Y. Huang, R. Wu, Y. Huang, Y. Xiang, and W. Zhou, "Investigating mechanisms of Internet Gaming Disorder and developing intelligent monitoring models using AI technologies," BMC Public Health, 2024.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[5] D. A. Ergin and C. A. Essau, "Family factors and Internet Gaming Disorder among adolescents: A systematic review," Int. J. Developmental Science, 2025.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[6] H. Weld et al., "CONDA: a CONtextual Dual-Annotated dataset for in-game toxicity understanding and detection," in Findings of ACL-IJCNLP, 2021.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[7] T. Mandl et al., "Overview of the HASOC track at FIRE 2019: Hate speech and offensive content identification in Indo-European languages," in Proc. FIRE, 2019.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[8] T. Javed et al., "Svarah: Evaluating English ASR systems on Indian accents," in Proc. INTERSPEECH, 2023.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[9] S. M. Lundberg and S.-I. Lee, "A unified approach to interpreting model predictions," in Advances in Neural Information Processing Systems (NeurIPS), 2017.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[10] S. R. Livingstone and F. A. Russo, "The Ryerson Audio-Visual Database of Emotional Speech and Song (RAVDESS)," PLoS ONE, vol. 13, no. 5, 2018.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[11] H. Cao et al., "CREMA-D: Crowd-sourced emotional multimodal actors dataset," IEEE Trans. Affective Computing, vol. 5, no. 4, 2014.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rebuchet MS"/>
              </a:rPr>
              <a:t>[12] T. Davidson, D. Warmsley, M. Macy, and I. Weber, "Automated hate speech detection and the problem of offensive language," in Proc. ICWSM, 2017.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000" b="0">
                <a:solidFill>
                  <a:srgbClr val="E07B1A"/>
                </a:solidFill>
                <a:latin typeface="Trebuchet MS"/>
              </a:rPr>
              <a:t>Thank
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B95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E0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