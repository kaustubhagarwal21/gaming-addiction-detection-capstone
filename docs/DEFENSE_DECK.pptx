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"We built and deployed a complete parent-facing screening system — two Android apps and a cloud ML backend — and evaluated it the way ML should be evaluated: real data where it exists, honest numbers where it doesn't, and an external validation study that returned two results we did not want."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map for the panel: every Phase III expectation has a slide, a repo artefact and a number behind it. If time is short, this slide plus slides 11 and 13 carry the grade. Point at the artefact column — everything is reproducible from the public repository, and 7 CI tests fail the build if the paper and the data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scope before an examiner sets it for you: screening, not diagnosis — diagnosis needs a clinician. The gap: questionnaires need the child's honest cooperation; screen-time counters cannot tell 3 hours of healthy play from 3 hours of compulsive play. Behaviour patterns, in-game communication and voice stress together can. Children specifically: a guardian with duty of care is what makes SCREENING — reaching the person who would not self-report — both possible and proportionate; an adult version is either a self-help journal or spyware. (DEFENSE_NOTES §1)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ChildApp captures session telemetry, game chat (custom keyboard + accessibility), and gated mic segments; the Flask backend scores each channel and fuses them; ParentApp polls dashboards and receives push alerts to every guardian. It is LIVE — Render + Neon Postgres, HTTPS, token auth — and sideload-distributed by design (a family-consent install, not a Play Store product). (DEFENSE_NOTES §8)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missing channel contributes nothing rather than a fake neutral score — an earlier version imputed missing modalities and diluted real signal. Behaviour dominates because it is always eventually present and best measured. Say now: "the voice weight is lowest because we MEASURED it as the weakest channel — slide 7 shows that number honestly." (DEFENSE_NOTES §1, §5)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attack points, answer both proactively. (1) Why RF, not deep learning: bake-off on tabular data — RF wins on accuracy-per-cost and gives SHAP-friendly explanations parents see. (2) Synthetic labels: no public dataset pairs device telemetry with addiction labels — we audited candidates (slide 13). Grounding: IGDS9-SF Latin-America (11,191 real MOBA players) fixes severity base rates; Gamers &amp; Anxiety (13,464) grounds behaviour–severity relations. The 20→10 feature cut: the 10 derived proxies are functions of the first 10; keeping them makes SHAP circular — ablation 0.9191 vs 0.9160, CIs overlap. Say plainly: 91.6% is a synthetic-distribution number; slide 11 is where the score meets real labels. (DEFENSE_NOTES §2)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threshold story is the strongest 60 s of the talk: at the realistic ~3.5% toxic base rate, threshold 0.5 gives precision 0.235 — a parent gets ~3 false alarms per real one and stops reading alerts. At the deployed 0.95, precision is 0.956 at recall 0.428: we consciously trade recall to keep alerts credible (the session-level streak alert recovers coverage). Threshold is env-tunable; a Beta-posterior tuner adjusts it from parent feedback, capped at ±0.05 per run and human-applied. Why no BERT: 512 MB serving budget, real-time per-message scoring, and off-the-shelf toxic-BERT scores 0.709 on the same split — 12 points BELOW the domain-trained classical pipeline. (DEFENSE_NOTES §3, §5)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"57% is weak": chance on 4 classes is 25%; the interesting part is the 9-point gap — with random splits the model memorised VOICES, not emotions, and the split choice even flipped which model won the bake-off. An honest 0.574 beats an inflated 0.657 in front of any examiner. Transcription happens on-device; a short WAV goes up over HTTPS and raw audio is deleted server-side after feature extraction. Measured on hardware (slide 13): the default voice path costs ~14% of one core. Known gap (slide 15): acted adult emotion ≠ child gaming speech. (DEFENSE_NOTES §4)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Max-not-mean: one credible threat matters more than a hundred clean messages diluting it. Sitting above best-F1 is a CHOICE — the asymmetric cost is parents ignoring alerts. Know both operating points: 0.85 → P 0.800/R 0.703; 0.90 → P 0.888/R 0.623. Feedback tuner: Beta posterior, ±0.05 cap per run, minimum-evidence floor, recommendations a human applies via env vars — no automatic loop can drift. (DEFENSE_NOTES §5)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makes it OURS, not a re-skin of a US parental-control app. English-only toxicity models miss most Indian gaming abuse. We measured the gap and closed it: a script-prior bug (a Devanagari corpus with a 53% offensive rate taught the model that Devanagari ITSELF looked toxic) surfaced from our own smoke test; a clean-Hindi Wikipedia counterweight fixed it. The keyboard matters because a third-party Hindi keyboard inside a canvas game is invisible to capture; ours is not. Fairness: every Svarah clip through the deployed STT and the served scorer — zero false alerts in 9.6 h across every accent group, but WER 35% Dravidian vs 61% Tibeto-Burman: a coverage gap on Northeast accents, not an accusation gap; named as the highest-leverage STT improvement. (DEFENSE_NOTES Hindi + fairness Q&amp;As)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what separates the project from "we trained a model." Every design choice has a measured counterfactual. Headline lesson: data &gt; architecture — losing domain data costs 31 PR-AUC points, more than every architecture choice combined — and three transformer benchmarks (Detoxify on chat, w2v2 on voice, MuRIL on Hindi) confirm it: capacity helps in-distribution, domain and register fit decide. Mention the reported NEGATIVE result: voice augmentation was measured and found neutral — we say so instead of hiding it. And now (slide 11) the pipeline output is anchored OUTSIDE its own training distribution. (DEFENSE_NOTES §6)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the whole project builds toward — protect its time. Every other number in the deck is measured INSIDE our own training distribution; this one is measured outside it, against an instrument we did not design, on people who never touched the app. Lead with the comparison, not the magnitude — 0.35 sounds modest until you say the baseline every commercial parental-control tool ships reaches 0.147 with a CI spanning zero — and volunteer that the paired delta grazes zero after the late batch, so the partial correlation (0.303, CI excluding zero) carries the incremental claim. Pre-empt the two follow-ups: WHY NO SENSITIVITY/SPECIFICITY — one respondent scored in the disordered range; the script refuses caseness metrics below ten positives, a guard written before we saw the data. WHY KEEP THE GENRE MULTIPLIER — the null is underpowered (36%), not decisive, and removing it flips 34% of served bands; it stays flagged and env-tunable. Close on the two negative results: volunteer them. A validation study that only confirms is not one. (DEFENSE_NOTES §10)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downloaded and inspected the rejected sets rather than dismissing them from their descriptions — provenance analysis showed one is synthetically generated with engagement labels, not addiction labels. Examiners like rejected-with-reasons more than adopted-without-reasons. Plus two datasets we collected/used ourselves: the IGDS9-SF survey (primary data) and Svarah (eval-only, gated download, not redistributed). (DEFENSE_NOTES §7)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stories if asked: (1) the Postgres CI job caught a real dialect bug in the drift script the day it was added — exactly the "works locally, fails in prod" class it exists for; (2) the device drill (2026-08-18, Galaxy M52): the default monitoring path costs ~14% of one core — about 1/15th of the game it monitors — and 288 MB; the dual Hindi+English STT toggle costs 4–5× the CPU and peaks at 419 MB, FAILING our own acceptance gate, which is exactly why it ships default OFF. A measurement that failed a feature is worth more than one that flattered it. Also on record: adb could not uninstall the app past the Device Admin block — the anti-tamper working against a developer with USB access. (DEFENSE_NOTES §8 + battery Q&amp;A)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strongest fact: what a parent can see is exactly what gets erased — export and deletion cover the same 15 tables. If pressed on the mic: layered mitigations in order — consent, on-device transcription, server-side raw-audio deletion, speech-gated capture. Then the two tensions we state ourselves: (a) the crisis asymmetry — profanity alerts a parent, a self-harm disclosure to the companion does not, DELIBERATELY: we refused to hard-code a contested clinical judgement; the tiered wellbeing-check design is documented as a proposal pending clinical review; (b) sensing blindspots — browser/webview games are invisible because the boundary is "installed apps", and closing it needs screen capture or URL surveillance, which we refuse. (DEFENSE_NOTES §9)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shifted this year: the weakest part USED to be that nothing was externally validated; now it is that validation is partial in a specific, nameable way. Draw the line explicitly — construct validity is measured, caseness accuracy is not, and we will not blur them. That distinction is what a sharp examiner is probing for, so say it first. Then: "the contribution is not a solved clinical instrument — it is a fully built, honestly measured screening pipeline where every claim traces to a runnable script, including the claims our own validation study refused to support, and the fix our own drill falsified." (DEFENSE_NOTES §10, §11)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differentiator: reproducibility and honesty as features — now with the strongest possible evidence for it, a validation study we ran on ourselves that returned two results we did not want, and a device drill that failed one of our own features. Then demo per DEMO_RUNBOOK.md; if Wi-Fi/devices misbehave, switch to the video without apologising. Future work is deliberately data-first, not model-first — "the gap is data, not architecture."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AI-Driven Gaming Addiction Screening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C9D6E3"/>
                </a:solidFill>
                <a:latin typeface="Calibri"/>
              </a:rPr>
              <a:t>A multimodal, privacy-conscious mobile platform for early detection and parental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9FD8DD"/>
                </a:solidFill>
                <a:latin typeface="Calibri"/>
              </a:rPr>
              <a:t>behaviour  ·  chat  ·  voice   →   one screening signal a parent can act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Kaustubh Agarwal (PES1UG23CS291) · Khushee P Kiran (PES1UG23CS303)
Kanak Goyal (PES1UG23CS279) · Vidisha Murali (PES1UG23CS681)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C9D6E3"/>
                </a:solidFill>
                <a:latin typeface="Calibri"/>
              </a:rPr>
              <a:t>Guide: Prof. Shridevi Sawant   ·   Team PW26_SAS-03   ·   PES University,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Phase III — where each expectation is evidenced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System testing · V&amp;V · deployment · final results · performance analysis · research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94360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Phase III expectation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System testing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290 automated tests in CI (backend on SQLite + Postgres, Android JVM); load smoke, API fuzz, CVE + MobSF audits; on-device resource drill on real hardware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slide 14 · TESTING.md · ci.yml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Validation &amp; verification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Held-out / speaker-independent / in-domain evaluation; ablations with 95 % CIs; </a:t>
                      </a:r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external construct validation</a:t>
                      </a:r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 vs IGDS9-SF (n = 87); accent-fairness audit; 7 research-integrity guards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slides 10–12 · docs/*.json · ml/tests/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Live cloud backend (Render + Neon Postgres, HTTPS, tokens); signed APKs v2.4.0 on GitHub, validated on device; consented family pilot ran 23 days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slide 4 · DEPLOY.md · GitHub Releases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Final experimental results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Behaviour 91.6 % (synthetic); chat PR-AUC 0.825 in-domain, ≥ 0.95 precision on 3 registers; voice 0.574 speaker-independent; </a:t>
                      </a:r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ρ = 0.317 vs clinical instrument</a:t>
                      </a:r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, leads hours baseline (97% of paired resamples; partial excludes zero)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slides 6–12 · model_metadata.json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Performance analysis (tables &amp; graphs)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PR curve · confusion matrices · reliability diagrams · ablation tables · survey correlation table + feature chart · device resource table · fairness-by-accent table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slides 6–14 · docs/figures/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Complete research paper draft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47-page paper: architecture, methodology, 11-dataset audit, results, ablations, external validation, fairness audit, ethics &amp; limitations, 44 references — numbers pinned to the data by CI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docs/PROJECT_PAPER.pdf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86400"/>
            <a:ext cx="11064240" cy="6858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Everything on this slide is reproducible from the public repository — and 7 CI tests fail the build if the paper and the data disagree.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Screening, not diagnosis — and why existing tools miss 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Internet Gaming Disorder is WHO-recognised (ICD-11) — parents notice </a:t>
            </a:r>
            <a:r>
              <a:rPr sz="1900" b="1">
                <a:solidFill>
                  <a:srgbClr val="14223C"/>
                </a:solidFill>
                <a:latin typeface="Calibri"/>
              </a:rPr>
              <a:t>late</a:t>
            </a:r>
            <a:r>
              <a:rPr sz="1900" b="0">
                <a:solidFill>
                  <a:srgbClr val="14223C"/>
                </a:solidFill>
                <a:latin typeface="Calibri"/>
              </a:rPr>
              <a:t>, from the outside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Existing tools: self-report questionnaires </a:t>
            </a:r>
            <a:r>
              <a:rPr sz="1900" b="1">
                <a:solidFill>
                  <a:srgbClr val="14223C"/>
                </a:solidFill>
                <a:latin typeface="Calibri"/>
              </a:rPr>
              <a:t>or</a:t>
            </a:r>
            <a:r>
              <a:rPr sz="1900" b="0">
                <a:solidFill>
                  <a:srgbClr val="14223C"/>
                </a:solidFill>
                <a:latin typeface="Calibri"/>
              </a:rPr>
              <a:t> blunt screen-time counters / blockers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Ours: </a:t>
            </a:r>
            <a:r>
              <a:rPr sz="1900" b="1">
                <a:solidFill>
                  <a:srgbClr val="14223C"/>
                </a:solidFill>
                <a:latin typeface="Calibri"/>
              </a:rPr>
              <a:t>passive, multi-signal screening</a:t>
            </a:r>
            <a:r>
              <a:rPr sz="1900" b="0">
                <a:solidFill>
                  <a:srgbClr val="14223C"/>
                </a:solidFill>
                <a:latin typeface="Calibri"/>
              </a:rPr>
              <a:t> surfaced to a parent — with a plain-language "why"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</a:t>
            </a:r>
            <a:r>
              <a:rPr sz="1900" b="1">
                <a:solidFill>
                  <a:srgbClr val="14223C"/>
                </a:solidFill>
                <a:latin typeface="Calibri"/>
              </a:rPr>
              <a:t>NOT a diagnostic instrument</a:t>
            </a:r>
            <a:r>
              <a:rPr sz="1900" b="0">
                <a:solidFill>
                  <a:srgbClr val="14223C"/>
                </a:solidFill>
                <a:latin typeface="Calibri"/>
              </a:rPr>
              <a:t> — a "talk to your child / consider help" signal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Scoped to minors by design: a guardian in the loop is what makes screening the unwilling possible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1064240" cy="8229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Volume tells you </a:t>
            </a:r>
            <a:r>
              <a:rPr sz="1400" b="1">
                <a:solidFill>
                  <a:srgbClr val="FFFFFF"/>
                </a:solidFill>
                <a:latin typeface="Calibri"/>
              </a:rPr>
              <a:t>how long</a:t>
            </a:r>
            <a:r>
              <a:rPr sz="1400" b="0">
                <a:solidFill>
                  <a:srgbClr val="FFFFFF"/>
                </a:solidFill>
                <a:latin typeface="Calibri"/>
              </a:rPr>
              <a:t>. We measure </a:t>
            </a:r>
            <a:r>
              <a:rPr sz="1400" b="1">
                <a:solidFill>
                  <a:srgbClr val="FFFFFF"/>
                </a:solidFill>
                <a:latin typeface="Calibri"/>
              </a:rPr>
              <a:t>how</a:t>
            </a:r>
            <a:r>
              <a:rPr sz="1400" b="0">
                <a:solidFill>
                  <a:srgbClr val="FFFFFF"/>
                </a:solidFill>
                <a:latin typeface="Calibri"/>
              </a:rPr>
              <a:t> — late-night play, rapid re-logins, binges, rising toxicity, voice stress.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Overview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Three tiers, live in production — not localhost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474720" cy="2194560"/>
          </a:xfrm>
          <a:prstGeom prst="roundRect">
            <a:avLst/>
          </a:prstGeom>
          <a:solidFill>
            <a:srgbClr val="F3F5F8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E7C86"/>
                </a:solidFill>
                <a:latin typeface="Calibri"/>
              </a:rPr>
              <a:t>ChildApp (Android)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4223C"/>
                </a:solidFill>
                <a:latin typeface="Calibri"/>
              </a:rPr>
              <a:t>passive capture
session telemetry · IME + accessibility chat
gated mic → on-device STT
anti-tamper · consent-gated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74720" cy="2194560"/>
          </a:xfrm>
          <a:prstGeom prst="roundRect">
            <a:avLst/>
          </a:prstGeom>
          <a:solidFill>
            <a:srgbClr val="F3F5F8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47088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E7C86"/>
                </a:solidFill>
                <a:latin typeface="Calibri"/>
              </a:rPr>
              <a:t>Flask backend (cloud)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4223C"/>
                </a:solidFill>
                <a:latin typeface="Calibri"/>
              </a:rPr>
              <a:t>Render + Neon Postgres · HTTPS · tokens
3 models + availability-weighted fusion
SHAP "why" · alerts · drift monitor
export scope = delete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474720" cy="2194560"/>
          </a:xfrm>
          <a:prstGeom prst="roundRect">
            <a:avLst/>
          </a:prstGeom>
          <a:solidFill>
            <a:srgbClr val="F3F5F8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47088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E7C86"/>
                </a:solidFill>
                <a:latin typeface="Calibri"/>
              </a:rPr>
              <a:t>ParentApp (Android)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4223C"/>
                </a:solidFill>
                <a:latin typeface="Calibri"/>
              </a:rPr>
              <a:t>dashboard + 14-day trend
real-time alerts (all guardians)
feedback loop → threshold tuner
capture-coverage transparency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41648" y="2651760"/>
            <a:ext cx="292608" cy="365760"/>
          </a:xfrm>
          <a:prstGeom prst="rightArrow">
            <a:avLst/>
          </a:prstGeom>
          <a:solidFill>
            <a:srgbClr val="D9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36408" y="2651760"/>
            <a:ext cx="292608" cy="365760"/>
          </a:xfrm>
          <a:prstGeom prst="rightArrow">
            <a:avLst/>
          </a:prstGeom>
          <a:solidFill>
            <a:srgbClr val="D9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SQLite in dev / </a:t>
            </a:r>
            <a:r>
              <a:rPr sz="1600" b="1">
                <a:solidFill>
                  <a:srgbClr val="14223C"/>
                </a:solidFill>
                <a:latin typeface="Calibri"/>
              </a:rPr>
              <a:t>Postgres (Neon)</a:t>
            </a:r>
            <a:r>
              <a:rPr sz="1600" b="0">
                <a:solidFill>
                  <a:srgbClr val="14223C"/>
                </a:solidFill>
                <a:latin typeface="Calibri"/>
              </a:rPr>
              <a:t> in production — one code path, CI runs both dialects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Signed release APKs on GitHub; </a:t>
            </a:r>
            <a:r>
              <a:rPr sz="1600" b="1">
                <a:solidFill>
                  <a:srgbClr val="14223C"/>
                </a:solidFill>
                <a:latin typeface="Calibri"/>
              </a:rPr>
              <a:t>v2.4.0</a:t>
            </a:r>
            <a:r>
              <a:rPr sz="1600" b="0">
                <a:solidFill>
                  <a:srgbClr val="14223C"/>
                </a:solidFill>
                <a:latin typeface="Calibri"/>
              </a:rPr>
              <a:t> current, validated on real hardware (2026-08-18)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Consent is versioned and </a:t>
            </a:r>
            <a:r>
              <a:rPr sz="1600" b="1">
                <a:solidFill>
                  <a:srgbClr val="14223C"/>
                </a:solidFill>
                <a:latin typeface="Calibri"/>
              </a:rPr>
              <a:t>fails closed</a:t>
            </a:r>
            <a:r>
              <a:rPr sz="1600" b="0">
                <a:solidFill>
                  <a:srgbClr val="14223C"/>
                </a:solidFill>
                <a:latin typeface="Calibri"/>
              </a:rPr>
              <a:t>: bump the version → ingestion 403s until re-consent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Three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They fail independently — fusion treats each as an optional witness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</a:t>
            </a:r>
            <a:r>
              <a:rPr sz="1900" b="1">
                <a:solidFill>
                  <a:srgbClr val="14223C"/>
                </a:solidFill>
                <a:latin typeface="Calibri"/>
              </a:rPr>
              <a:t>Behaviour</a:t>
            </a:r>
            <a:r>
              <a:rPr sz="1900" b="0">
                <a:solidFill>
                  <a:srgbClr val="14223C"/>
                </a:solidFill>
                <a:latin typeface="Calibri"/>
              </a:rPr>
              <a:t> needs days of telemetry; </a:t>
            </a:r>
            <a:r>
              <a:rPr sz="1900" b="1">
                <a:solidFill>
                  <a:srgbClr val="14223C"/>
                </a:solidFill>
                <a:latin typeface="Calibri"/>
              </a:rPr>
              <a:t>chat</a:t>
            </a:r>
            <a:r>
              <a:rPr sz="1900" b="0">
                <a:solidFill>
                  <a:srgbClr val="14223C"/>
                </a:solidFill>
                <a:latin typeface="Calibri"/>
              </a:rPr>
              <a:t> exists only when the child types; </a:t>
            </a:r>
            <a:r>
              <a:rPr sz="1900" b="1">
                <a:solidFill>
                  <a:srgbClr val="14223C"/>
                </a:solidFill>
                <a:latin typeface="Calibri"/>
              </a:rPr>
              <a:t>voice</a:t>
            </a:r>
            <a:r>
              <a:rPr sz="1900" b="0">
                <a:solidFill>
                  <a:srgbClr val="14223C"/>
                </a:solidFill>
                <a:latin typeface="Calibri"/>
              </a:rPr>
              <a:t> only when they speak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Fusion prior </a:t>
            </a:r>
            <a:r>
              <a:rPr sz="1900" b="1">
                <a:solidFill>
                  <a:srgbClr val="14223C"/>
                </a:solidFill>
                <a:latin typeface="Calibri"/>
              </a:rPr>
              <a:t>40 / 30 / 30</a:t>
            </a:r>
            <a:r>
              <a:rPr sz="1900" b="0">
                <a:solidFill>
                  <a:srgbClr val="14223C"/>
                </a:solidFill>
                <a:latin typeface="Calibri"/>
              </a:rPr>
              <a:t>, </a:t>
            </a:r>
            <a:r>
              <a:rPr sz="1900" b="1">
                <a:solidFill>
                  <a:srgbClr val="14223C"/>
                </a:solidFill>
                <a:latin typeface="Calibri"/>
              </a:rPr>
              <a:t>renormalised over the channels present</a:t>
            </a:r>
            <a:r>
              <a:rPr sz="1900" b="0">
                <a:solidFill>
                  <a:srgbClr val="14223C"/>
                </a:solidFill>
                <a:latin typeface="Calibri"/>
              </a:rPr>
              <a:t> this session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Weights follow </a:t>
            </a:r>
            <a:r>
              <a:rPr sz="1900" b="1">
                <a:solidFill>
                  <a:srgbClr val="14223C"/>
                </a:solidFill>
                <a:latin typeface="Calibri"/>
              </a:rPr>
              <a:t>measured</a:t>
            </a:r>
            <a:r>
              <a:rPr sz="1900" b="0">
                <a:solidFill>
                  <a:srgbClr val="14223C"/>
                </a:solidFill>
                <a:latin typeface="Calibri"/>
              </a:rPr>
              <a:t> reliability — voice is lowest for a reason we show, not hide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4223C"/>
                </a:solidFill>
                <a:latin typeface="Calibri"/>
              </a:rPr>
              <a:t>▪  Genre multiplier and band thresholds are priors, env-tunable — the first things we took to external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1148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Real training data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Weakest link (stated)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10 objective session features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labels synthetic; distributions from 2 real surveys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calibrated toxicity, 3 registers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5 real corpora incl. in-game (CONDA) + Hindi (HASOC)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field data thin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Voice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STT→toxicity + acoustic emotion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4 real speech corpora, 154 speakers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acted adult speech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Behaviour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Random Forest on ten measured features — calibrated, explainable, honest about its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Random Forest (200 trees × depth 6) on </a:t>
            </a:r>
            <a:r>
              <a:rPr sz="1600" b="1">
                <a:solidFill>
                  <a:srgbClr val="14223C"/>
                </a:solidFill>
                <a:latin typeface="Calibri"/>
              </a:rPr>
              <a:t>10 objective features</a:t>
            </a:r>
            <a:r>
              <a:rPr sz="1600" b="0">
                <a:solidFill>
                  <a:srgbClr val="14223C"/>
                </a:solidFill>
                <a:latin typeface="Calibri"/>
              </a:rPr>
              <a:t> — the model never sees the 10 derived proxies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</a:t>
            </a:r>
            <a:r>
              <a:rPr sz="1600" b="1">
                <a:solidFill>
                  <a:srgbClr val="14223C"/>
                </a:solidFill>
                <a:latin typeface="Calibri"/>
              </a:rPr>
              <a:t>91.6 %</a:t>
            </a:r>
            <a:r>
              <a:rPr sz="1600" b="0">
                <a:solidFill>
                  <a:srgbClr val="14223C"/>
                </a:solidFill>
                <a:latin typeface="Calibri"/>
              </a:rPr>
              <a:t> test accuracy · macro-F1 0.918 · 5-fold CV 0.921 ± 0.002 — errors only ever land in an </a:t>
            </a:r>
            <a:r>
              <a:rPr sz="1600" b="1">
                <a:solidFill>
                  <a:srgbClr val="14223C"/>
                </a:solidFill>
                <a:latin typeface="Calibri"/>
              </a:rPr>
              <a:t>adjacent</a:t>
            </a:r>
            <a:r>
              <a:rPr sz="1600" b="0">
                <a:solidFill>
                  <a:srgbClr val="14223C"/>
                </a:solidFill>
                <a:latin typeface="Calibri"/>
              </a:rPr>
              <a:t> band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Isotonic calibration: Brier 0.134 → 0.128; top-label </a:t>
            </a:r>
            <a:r>
              <a:rPr sz="1600" b="1">
                <a:solidFill>
                  <a:srgbClr val="14223C"/>
                </a:solidFill>
                <a:latin typeface="Calibri"/>
              </a:rPr>
              <a:t>ECE 0.062 → 0.015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Labels are </a:t>
            </a:r>
            <a:r>
              <a:rPr sz="1600" b="1">
                <a:solidFill>
                  <a:srgbClr val="14223C"/>
                </a:solidFill>
                <a:latin typeface="Calibri"/>
              </a:rPr>
              <a:t>synthetic</a:t>
            </a:r>
            <a:r>
              <a:rPr sz="1600" b="0">
                <a:solidFill>
                  <a:srgbClr val="14223C"/>
                </a:solidFill>
                <a:latin typeface="Calibri"/>
              </a:rPr>
              <a:t> — grounded on real psychometrics (n = 11,191 + 13,464); stated on every slide it matters</a:t>
            </a:r>
          </a:p>
        </p:txBody>
      </p:sp>
      <p:pic>
        <p:nvPicPr>
          <p:cNvPr id="8" name="Picture 7" descr="cm_behavi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71600"/>
            <a:ext cx="4297680" cy="3716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120640"/>
            <a:ext cx="6583680" cy="914400"/>
          </a:xfrm>
          <a:prstGeom prst="roundRect">
            <a:avLst/>
          </a:prstGeom>
          <a:solidFill>
            <a:srgbClr val="D9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Ten pattern-and-volume features in; </a:t>
            </a:r>
            <a:r>
              <a:rPr sz="1400" b="1">
                <a:solidFill>
                  <a:srgbClr val="FFFFFF"/>
                </a:solidFill>
                <a:latin typeface="Calibri"/>
              </a:rPr>
              <a:t>how</a:t>
            </a:r>
            <a:r>
              <a:rPr sz="1400" b="0">
                <a:solidFill>
                  <a:srgbClr val="FFFFFF"/>
                </a:solidFill>
                <a:latin typeface="Calibri"/>
              </a:rPr>
              <a:t> a child plays, not just how long. The proxies parents see are explanations, never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Domain data beats model capacity — and the threshold is a product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TF-IDF (word 1–2g + char_wb 3–5g) → LogReg → isotonic; </a:t>
            </a:r>
            <a:r>
              <a:rPr sz="1500" b="1">
                <a:solidFill>
                  <a:srgbClr val="14223C"/>
                </a:solidFill>
                <a:latin typeface="Calibri"/>
              </a:rPr>
              <a:t>noisy-OR</a:t>
            </a:r>
            <a:r>
              <a:rPr sz="1500" b="0">
                <a:solidFill>
                  <a:srgbClr val="14223C"/>
                </a:solidFill>
                <a:latin typeface="Calibri"/>
              </a:rPr>
              <a:t> fusion with a Hinglish / Devanagari lexicon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In-domain (CONDA game chat): </a:t>
            </a:r>
            <a:r>
              <a:rPr sz="1500" b="1">
                <a:solidFill>
                  <a:srgbClr val="14223C"/>
                </a:solidFill>
                <a:latin typeface="Calibri"/>
              </a:rPr>
              <a:t>PR-AUC 0.825</a:t>
            </a:r>
            <a:r>
              <a:rPr sz="1500" b="0">
                <a:solidFill>
                  <a:srgbClr val="14223C"/>
                </a:solidFill>
                <a:latin typeface="Calibri"/>
              </a:rPr>
              <a:t> [0.807, 0.841] — off-the-shelf toxic-BERT: 0.709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At alert threshold </a:t>
            </a:r>
            <a:r>
              <a:rPr sz="1500" b="1">
                <a:solidFill>
                  <a:srgbClr val="14223C"/>
                </a:solidFill>
                <a:latin typeface="Calibri"/>
              </a:rPr>
              <a:t>0.95</a:t>
            </a:r>
            <a:r>
              <a:rPr sz="1500" b="0">
                <a:solidFill>
                  <a:srgbClr val="14223C"/>
                </a:solidFill>
                <a:latin typeface="Calibri"/>
              </a:rPr>
              <a:t>: precision </a:t>
            </a:r>
            <a:r>
              <a:rPr sz="1500" b="1">
                <a:solidFill>
                  <a:srgbClr val="14223C"/>
                </a:solidFill>
                <a:latin typeface="Calibri"/>
              </a:rPr>
              <a:t>0.956</a:t>
            </a:r>
            <a:r>
              <a:rPr sz="1500" b="0">
                <a:solidFill>
                  <a:srgbClr val="14223C"/>
                </a:solidFill>
                <a:latin typeface="Calibri"/>
              </a:rPr>
              <a:t>, recall 0.428 — </a:t>
            </a:r>
            <a:r>
              <a:rPr sz="1500" b="1">
                <a:solidFill>
                  <a:srgbClr val="14223C"/>
                </a:solidFill>
                <a:latin typeface="Calibri"/>
              </a:rPr>
              <a:t>≥ 0.95 precision on every register</a:t>
            </a:r>
            <a:r>
              <a:rPr sz="1500" b="0">
                <a:solidFill>
                  <a:srgbClr val="14223C"/>
                </a:solidFill>
                <a:latin typeface="Calibri"/>
              </a:rPr>
              <a:t> at one threshold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Dual-script Hindi</a:t>
            </a:r>
            <a:r>
              <a:rPr sz="1500" b="0">
                <a:solidFill>
                  <a:srgbClr val="14223C"/>
                </a:solidFill>
                <a:latin typeface="Calibri"/>
              </a:rPr>
              <a:t> (HASOC 2019 + clean-wiki counterweight): held-out precision </a:t>
            </a:r>
            <a:r>
              <a:rPr sz="1500" b="1">
                <a:solidFill>
                  <a:srgbClr val="14223C"/>
                </a:solidFill>
                <a:latin typeface="Calibri"/>
              </a:rPr>
              <a:t>0.968 / 0.958</a:t>
            </a:r>
            <a:r>
              <a:rPr sz="1500" b="0">
                <a:solidFill>
                  <a:srgbClr val="14223C"/>
                </a:solidFill>
                <a:latin typeface="Calibri"/>
              </a:rPr>
              <a:t> — near-zero before</a:t>
            </a:r>
          </a:p>
        </p:txBody>
      </p:sp>
      <p:pic>
        <p:nvPicPr>
          <p:cNvPr id="8" name="Picture 7" descr="pr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206240" cy="29794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84632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Ablation (chat, held-out CONDA)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95 % CI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full recipe (deployed)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0.825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[0.807, 0.841]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− char_wb n-grams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[0.776, 0.811]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− CONDA domain data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0.511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[0.487, 0.535]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Voice Channel — two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On-device speech-to-text, and acoustic emotion trained on real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Path 1: </a:t>
            </a:r>
            <a:r>
              <a:rPr sz="1500" b="1">
                <a:solidFill>
                  <a:srgbClr val="14223C"/>
                </a:solidFill>
                <a:latin typeface="Calibri"/>
              </a:rPr>
              <a:t>on-device</a:t>
            </a:r>
            <a:r>
              <a:rPr sz="1500" b="0">
                <a:solidFill>
                  <a:srgbClr val="14223C"/>
                </a:solidFill>
                <a:latin typeface="Calibri"/>
              </a:rPr>
              <a:t> Vosk STT (Indian English) → transcript → the same chat toxicity model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Path 2: 36 acoustic features → HistGB emotion, trained on </a:t>
            </a:r>
            <a:r>
              <a:rPr sz="1500" b="1">
                <a:solidFill>
                  <a:srgbClr val="14223C"/>
                </a:solidFill>
                <a:latin typeface="Calibri"/>
              </a:rPr>
              <a:t>real</a:t>
            </a:r>
            <a:r>
              <a:rPr sz="1500" b="0">
                <a:solidFill>
                  <a:srgbClr val="14223C"/>
                </a:solidFill>
                <a:latin typeface="Calibri"/>
              </a:rPr>
              <a:t> corpora (RAVDESS, CREMA-D, EMO-DB, URDU)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Speaker-independent accuracy </a:t>
            </a:r>
            <a:r>
              <a:rPr sz="1500" b="1">
                <a:solidFill>
                  <a:srgbClr val="14223C"/>
                </a:solidFill>
                <a:latin typeface="Calibri"/>
              </a:rPr>
              <a:t>0.574</a:t>
            </a:r>
            <a:r>
              <a:rPr sz="1500" b="0">
                <a:solidFill>
                  <a:srgbClr val="14223C"/>
                </a:solidFill>
                <a:latin typeface="Calibri"/>
              </a:rPr>
              <a:t> (chance 0.25) — random splits said 0.657: </a:t>
            </a:r>
            <a:r>
              <a:rPr sz="1500" b="1">
                <a:solidFill>
                  <a:srgbClr val="14223C"/>
                </a:solidFill>
                <a:latin typeface="Calibri"/>
              </a:rPr>
              <a:t>9 points was speaker leakage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Headroom measured: frozen w2v2 embeddings + same classifier → 0.776 — the ceiling a deployable distillation could reach</a:t>
            </a:r>
          </a:p>
        </p:txBody>
      </p:sp>
      <p:pic>
        <p:nvPicPr>
          <p:cNvPr id="8" name="Picture 7" descr="cm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206240" cy="36378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120640"/>
            <a:ext cx="6675120" cy="8229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Raw audio is </a:t>
            </a:r>
            <a:r>
              <a:rPr sz="1400" b="1">
                <a:solidFill>
                  <a:srgbClr val="FFFFFF"/>
                </a:solidFill>
                <a:latin typeface="Calibri"/>
              </a:rPr>
              <a:t>never retained</a:t>
            </a:r>
            <a:r>
              <a:rPr sz="1400" b="0">
                <a:solidFill>
                  <a:srgbClr val="FFFFFF"/>
                </a:solidFill>
                <a:latin typeface="Calibri"/>
              </a:rPr>
              <a:t>: on-device STT, server-side deletion after feature extraction, VAD-gated capture.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Fusion &amp;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Max-not-mean, a threshold above best-F1, and a feedback loop that learns from parents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Weighted fusion 40/30/30 over channels </a:t>
            </a:r>
            <a:r>
              <a:rPr sz="1600" b="1">
                <a:solidFill>
                  <a:srgbClr val="14223C"/>
                </a:solidFill>
                <a:latin typeface="Calibri"/>
              </a:rPr>
              <a:t>present</a:t>
            </a:r>
            <a:r>
              <a:rPr sz="1600" b="0">
                <a:solidFill>
                  <a:srgbClr val="14223C"/>
                </a:solidFill>
                <a:latin typeface="Calibri"/>
              </a:rPr>
              <a:t> this session; genre multiplier; observation mode for &lt; 3 sessions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Session chat risk = </a:t>
            </a:r>
            <a:r>
              <a:rPr sz="1600" b="1">
                <a:solidFill>
                  <a:srgbClr val="14223C"/>
                </a:solidFill>
                <a:latin typeface="Calibri"/>
              </a:rPr>
              <a:t>max</a:t>
            </a:r>
            <a:r>
              <a:rPr sz="1600" b="0">
                <a:solidFill>
                  <a:srgbClr val="14223C"/>
                </a:solidFill>
                <a:latin typeface="Calibri"/>
              </a:rPr>
              <a:t> of per-message calibrated scores — one credible threat is not diluted by clean lines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Alert at </a:t>
            </a:r>
            <a:r>
              <a:rPr sz="1600" b="1">
                <a:solidFill>
                  <a:srgbClr val="14223C"/>
                </a:solidFill>
                <a:latin typeface="Calibri"/>
              </a:rPr>
              <a:t>0.95</a:t>
            </a:r>
            <a:r>
              <a:rPr sz="1600" b="0">
                <a:solidFill>
                  <a:srgbClr val="14223C"/>
                </a:solidFill>
                <a:latin typeface="Calibri"/>
              </a:rPr>
              <a:t>, deliberately above best-F1 (0.85): false alarms cost the only thing that matters — trust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Parent "accurate / false alarm" verdicts → Beta-posterior threshold tuner (capped ±0.05, human-applied)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23C"/>
                </a:solidFill>
                <a:latin typeface="Calibri"/>
              </a:rPr>
              <a:t>▪  Every prior we could not fit we </a:t>
            </a:r>
            <a:r>
              <a:rPr sz="1600" b="1">
                <a:solidFill>
                  <a:srgbClr val="14223C"/>
                </a:solidFill>
                <a:latin typeface="Calibri"/>
              </a:rPr>
              <a:t>stress-tested</a:t>
            </a:r>
            <a:r>
              <a:rPr sz="1600" b="0">
                <a:solidFill>
                  <a:srgbClr val="14223C"/>
                </a:solidFill>
                <a:latin typeface="Calibri"/>
              </a:rPr>
              <a:t>: removing the genre multiplier flips 34 % of served bands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348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Operating point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Meaning for a parent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0.85 (best-F1)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0.703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1 in 5 alerts is wrong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0.623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~1 in 9 wrong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0.95 (deployed)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0.428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~1 in 23 wrong — alerts stay credible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Built for India —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Code-mixed chat in three registers, a Devanagari keyboard, and an accent-fairness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Indian kids' game chat is </a:t>
            </a:r>
            <a:r>
              <a:rPr sz="1500" b="1">
                <a:solidFill>
                  <a:srgbClr val="14223C"/>
                </a:solidFill>
                <a:latin typeface="Calibri"/>
              </a:rPr>
              <a:t>code-mixed</a:t>
            </a:r>
            <a:r>
              <a:rPr sz="1500" b="0">
                <a:solidFill>
                  <a:srgbClr val="14223C"/>
                </a:solidFill>
                <a:latin typeface="Calibri"/>
              </a:rPr>
              <a:t>: English + romanised Hindi + Devanagari — all three at </a:t>
            </a:r>
            <a:r>
              <a:rPr sz="1500" b="1">
                <a:solidFill>
                  <a:srgbClr val="14223C"/>
                </a:solidFill>
                <a:latin typeface="Calibri"/>
              </a:rPr>
              <a:t>≥ 0.95 precision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Native </a:t>
            </a:r>
            <a:r>
              <a:rPr sz="1500" b="1">
                <a:solidFill>
                  <a:srgbClr val="14223C"/>
                </a:solidFill>
                <a:latin typeface="Calibri"/>
              </a:rPr>
              <a:t>Devanagari keyboard</a:t>
            </a:r>
            <a:r>
              <a:rPr sz="1500" b="0">
                <a:solidFill>
                  <a:srgbClr val="14223C"/>
                </a:solidFill>
                <a:latin typeface="Calibri"/>
              </a:rPr>
              <a:t> in the Wellbeing Keyboard — Hindi captured even in canvas games (Roblox)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Accent-fairness audited</a:t>
            </a:r>
            <a:r>
              <a:rPr sz="1500" b="0">
                <a:solidFill>
                  <a:srgbClr val="14223C"/>
                </a:solidFill>
                <a:latin typeface="Calibri"/>
              </a:rPr>
              <a:t> on Svarah (6,656 clips / 117 speakers): </a:t>
            </a:r>
            <a:r>
              <a:rPr sz="1500" b="1">
                <a:solidFill>
                  <a:srgbClr val="14223C"/>
                </a:solidFill>
                <a:latin typeface="Calibri"/>
              </a:rPr>
              <a:t>0 false alerts</a:t>
            </a:r>
            <a:r>
              <a:rPr sz="1500" b="0">
                <a:solidFill>
                  <a:srgbClr val="14223C"/>
                </a:solidFill>
                <a:latin typeface="Calibri"/>
              </a:rPr>
              <a:t> in 9.61 h of benign speech, every accent group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Honest capture matrix shown to parents — </a:t>
            </a:r>
            <a:r>
              <a:rPr sz="1500" b="1">
                <a:solidFill>
                  <a:srgbClr val="14223C"/>
                </a:solidFill>
                <a:latin typeface="Calibri"/>
              </a:rPr>
              <a:t>including the blind spots</a:t>
            </a:r>
            <a:r>
              <a:rPr sz="1500" b="0">
                <a:solidFill>
                  <a:srgbClr val="14223C"/>
                </a:solidFill>
                <a:latin typeface="Calibri"/>
              </a:rPr>
              <a:t> (browser games, in-game VOIP holding the mic)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2519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Accent group (L1 family)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clips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STT word-error rate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benign-speech false alerts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Dravidian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1798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34.6 %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Indo-Aryan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4456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38.1 %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Tibeto-Burman (Northeast)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223C"/>
                          </a:solidFill>
                          <a:latin typeface="Calibri"/>
                        </a:rPr>
                        <a:t>60.8 %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223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The chain degrades toward silence, never toward accusation — but it hears some accents markedly worse. A coverage gap, named.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Verification — 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Every design choice has a measured counterfactual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Held-out only, seeds recorded; </a:t>
            </a:r>
            <a:r>
              <a:rPr sz="1500" b="1">
                <a:solidFill>
                  <a:srgbClr val="14223C"/>
                </a:solidFill>
                <a:latin typeface="Calibri"/>
              </a:rPr>
              <a:t>voice = speaker-independent</a:t>
            </a:r>
            <a:r>
              <a:rPr sz="1500" b="0">
                <a:solidFill>
                  <a:srgbClr val="14223C"/>
                </a:solidFill>
                <a:latin typeface="Calibri"/>
              </a:rPr>
              <a:t>; </a:t>
            </a:r>
            <a:r>
              <a:rPr sz="1500" b="1">
                <a:solidFill>
                  <a:srgbClr val="14223C"/>
                </a:solidFill>
                <a:latin typeface="Calibri"/>
              </a:rPr>
              <a:t>chat = in-domain</a:t>
            </a:r>
            <a:r>
              <a:rPr sz="1500" b="0">
                <a:solidFill>
                  <a:srgbClr val="14223C"/>
                </a:solidFill>
                <a:latin typeface="Calibri"/>
              </a:rPr>
              <a:t> (real game chat), not general-corpus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Ablations: one component removed per row, </a:t>
            </a:r>
            <a:r>
              <a:rPr sz="1500" b="1">
                <a:solidFill>
                  <a:srgbClr val="14223C"/>
                </a:solidFill>
                <a:latin typeface="Calibri"/>
              </a:rPr>
              <a:t>bootstrap 95 % CIs</a:t>
            </a:r>
            <a:r>
              <a:rPr sz="1500" b="0">
                <a:solidFill>
                  <a:srgbClr val="14223C"/>
                </a:solidFill>
                <a:latin typeface="Calibri"/>
              </a:rPr>
              <a:t> (1,000 resamples) — "better" only when intervals separate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MCC + PR-AUC alongside F1 (base rates are extreme); direct calibration proof: </a:t>
            </a:r>
            <a:r>
              <a:rPr sz="1500" b="1">
                <a:solidFill>
                  <a:srgbClr val="14223C"/>
                </a:solidFill>
                <a:latin typeface="Calibri"/>
              </a:rPr>
              <a:t>ECE 0.062 → 0.015</a:t>
            </a:r>
            <a:r>
              <a:rPr sz="1500" b="0">
                <a:solidFill>
                  <a:srgbClr val="14223C"/>
                </a:solidFill>
                <a:latin typeface="Calibri"/>
              </a:rPr>
              <a:t> (behaviour)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Biggest finding: remove CONDA domain data → PR-AUC 0.825 → </a:t>
            </a:r>
            <a:r>
              <a:rPr sz="1500" b="1">
                <a:solidFill>
                  <a:srgbClr val="14223C"/>
                </a:solidFill>
                <a:latin typeface="Calibri"/>
              </a:rPr>
              <a:t>0.511</a:t>
            </a:r>
            <a:r>
              <a:rPr sz="1500" b="0">
                <a:solidFill>
                  <a:srgbClr val="14223C"/>
                </a:solidFill>
                <a:latin typeface="Calibri"/>
              </a:rPr>
              <a:t> — data beats architecture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Negative results reported: voice augmentation neutral; genre multiplier unsupported; 4 of 5 proxy names discredited</a:t>
            </a:r>
          </a:p>
        </p:txBody>
      </p:sp>
      <p:pic>
        <p:nvPicPr>
          <p:cNvPr id="8" name="Picture 7" descr="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63040"/>
            <a:ext cx="4754880" cy="1891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3429000"/>
            <a:ext cx="4754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Reliability diagrams: calibrated confidence vs observed accuracy, both 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023360"/>
            <a:ext cx="4754880" cy="914400"/>
          </a:xfrm>
          <a:prstGeom prst="roundRect">
            <a:avLst/>
          </a:prstGeom>
          <a:solidFill>
            <a:srgbClr val="D9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7 research-integrity tests in CI pin the paper's numbers to the committed JSONs — a stale figure fails the build.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Validation — does the score mean anything?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An IGDS9-SF survey, scored through the deployed pipeline, against real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766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23C"/>
                </a:solidFill>
                <a:latin typeface="Calibri"/>
              </a:rPr>
              <a:t>▪  Anonymous adult IGDS9-SF survey — </a:t>
            </a:r>
            <a:r>
              <a:rPr sz="1200" b="1">
                <a:solidFill>
                  <a:srgbClr val="14223C"/>
                </a:solidFill>
                <a:latin typeface="Calibri"/>
              </a:rPr>
              <a:t>134 raw → 104 usable</a:t>
            </a:r>
            <a:r>
              <a:rPr sz="1200" b="0">
                <a:solidFill>
                  <a:srgbClr val="14223C"/>
                </a:solidFill>
                <a:latin typeface="Calibri"/>
              </a:rPr>
              <a:t>; pattern answers scored through the </a:t>
            </a:r>
            <a:r>
              <a:rPr sz="1200" b="1">
                <a:solidFill>
                  <a:srgbClr val="14223C"/>
                </a:solidFill>
                <a:latin typeface="Calibri"/>
              </a:rPr>
              <a:t>deployed</a:t>
            </a:r>
            <a:r>
              <a:rPr sz="1200" b="0">
                <a:solidFill>
                  <a:srgbClr val="14223C"/>
                </a:solidFill>
                <a:latin typeface="Calibri"/>
              </a:rPr>
              <a:t> serving path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23C"/>
                </a:solidFill>
                <a:latin typeface="Calibri"/>
              </a:rPr>
              <a:t>▪  Construct validity: </a:t>
            </a:r>
            <a:r>
              <a:rPr sz="1200" b="1">
                <a:solidFill>
                  <a:srgbClr val="14223C"/>
                </a:solidFill>
                <a:latin typeface="Calibri"/>
              </a:rPr>
              <a:t>ρ = 0.317</a:t>
            </a:r>
            <a:r>
              <a:rPr sz="1200" b="0">
                <a:solidFill>
                  <a:srgbClr val="14223C"/>
                </a:solidFill>
                <a:latin typeface="Calibri"/>
              </a:rPr>
              <a:t> [0.137, 0.478] vs the clinical instrument — CI excludes zero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23C"/>
                </a:solidFill>
                <a:latin typeface="Calibri"/>
              </a:rPr>
              <a:t>▪  </a:t>
            </a:r>
            <a:r>
              <a:rPr sz="1200" b="1">
                <a:solidFill>
                  <a:srgbClr val="14223C"/>
                </a:solidFill>
                <a:latin typeface="Calibri"/>
              </a:rPr>
              <a:t>Leads the screen-time baseline it replaces</a:t>
            </a:r>
            <a:r>
              <a:rPr sz="1200" b="0">
                <a:solidFill>
                  <a:srgbClr val="14223C"/>
                </a:solidFill>
                <a:latin typeface="Calibri"/>
              </a:rPr>
              <a:t> in 97.4 % of paired resamples: hours ρ = 0.147 (CI spans zero); Δρ = +0.167 [-0.002, 0.341] — </a:t>
            </a:r>
            <a:r>
              <a:rPr sz="1200" b="1">
                <a:solidFill>
                  <a:srgbClr val="14223C"/>
                </a:solidFill>
                <a:latin typeface="Calibri"/>
              </a:rPr>
              <a:t>CI grazes zero; the partial carries the claim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23C"/>
                </a:solidFill>
                <a:latin typeface="Calibri"/>
              </a:rPr>
              <a:t>▪  Not a screen-time proxy: partial ρ = </a:t>
            </a:r>
            <a:r>
              <a:rPr sz="1200" b="1">
                <a:solidFill>
                  <a:srgbClr val="14223C"/>
                </a:solidFill>
                <a:latin typeface="Calibri"/>
              </a:rPr>
              <a:t>0.303</a:t>
            </a:r>
            <a:r>
              <a:rPr sz="1200" b="0">
                <a:solidFill>
                  <a:srgbClr val="14223C"/>
                </a:solidFill>
                <a:latin typeface="Calibri"/>
              </a:rPr>
              <a:t> with hours removed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23C"/>
                </a:solidFill>
                <a:latin typeface="Calibri"/>
              </a:rPr>
              <a:t>▪  Signal is in </a:t>
            </a:r>
            <a:r>
              <a:rPr sz="1200" b="1">
                <a:solidFill>
                  <a:srgbClr val="14223C"/>
                </a:solidFill>
                <a:latin typeface="Calibri"/>
              </a:rPr>
              <a:t>pattern</a:t>
            </a:r>
            <a:r>
              <a:rPr sz="1200" b="0">
                <a:solidFill>
                  <a:srgbClr val="14223C"/>
                </a:solidFill>
                <a:latin typeface="Calibri"/>
              </a:rPr>
              <a:t> features (0.330) not </a:t>
            </a:r>
            <a:r>
              <a:rPr sz="1200" b="1">
                <a:solidFill>
                  <a:srgbClr val="14223C"/>
                </a:solidFill>
                <a:latin typeface="Calibri"/>
              </a:rPr>
              <a:t>volume</a:t>
            </a:r>
            <a:r>
              <a:rPr sz="1200" b="0">
                <a:solidFill>
                  <a:srgbClr val="14223C"/>
                </a:solidFill>
                <a:latin typeface="Calibri"/>
              </a:rPr>
              <a:t> (0.128) — formal paired contrast </a:t>
            </a:r>
            <a:r>
              <a:rPr sz="1200" b="1">
                <a:solidFill>
                  <a:srgbClr val="14223C"/>
                </a:solidFill>
                <a:latin typeface="Calibri"/>
              </a:rPr>
              <a:t>+0.199 [0.019, 0.380]</a:t>
            </a:r>
            <a:r>
              <a:rPr sz="1200" b="0">
                <a:solidFill>
                  <a:srgbClr val="14223C"/>
                </a:solidFill>
                <a:latin typeface="Calibri"/>
              </a:rPr>
              <a:t>, excludes zero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23C"/>
                </a:solidFill>
                <a:latin typeface="Calibri"/>
              </a:rPr>
              <a:t>▪  Two results </a:t>
            </a:r>
            <a:r>
              <a:rPr sz="1200" b="1">
                <a:solidFill>
                  <a:srgbClr val="14223C"/>
                </a:solidFill>
                <a:latin typeface="Calibri"/>
              </a:rPr>
              <a:t>against</a:t>
            </a:r>
            <a:r>
              <a:rPr sz="1200" b="0">
                <a:solidFill>
                  <a:srgbClr val="14223C"/>
                </a:solidFill>
                <a:latin typeface="Calibri"/>
              </a:rPr>
              <a:t> us: genre multiplier p = 0.598; 4 of 5 proxy names track nothing → </a:t>
            </a:r>
            <a:r>
              <a:rPr sz="1200" b="1">
                <a:solidFill>
                  <a:srgbClr val="14223C"/>
                </a:solidFill>
                <a:latin typeface="Calibri"/>
              </a:rPr>
              <a:t>labels renamed in the product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3716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1188720"/>
              </a:tblGrid>
              <a:tr h="365760">
                <a:tc>
                  <a:txBody>
                    <a:bodyPr wrap="square"/>
                    <a:lstStyle/>
                    <a:p/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ρ vs IGDS9-SF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95 % CI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Model risk score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[0.137, 0.478]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Self-reported hours/week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0.147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[-0.053, 0.339]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Paired difference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+0.167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[-0.002, 0.341]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Partial (hours removed)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0.303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[0.110, 0.476]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3566160"/>
            <a:ext cx="4114800" cy="10515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 beats the hours baseline in </a:t>
            </a:r>
            <a:r>
              <a:rPr sz="1200" b="1">
                <a:solidFill>
                  <a:srgbClr val="FFFFFF"/>
                </a:solidFill>
                <a:latin typeface="Calibri"/>
              </a:rPr>
              <a:t>97.4 %</a:t>
            </a:r>
            <a:r>
              <a:rPr sz="1200" b="0">
                <a:solidFill>
                  <a:srgbClr val="FFFFFF"/>
                </a:solidFill>
                <a:latin typeface="Calibri"/>
              </a:rPr>
              <a:t> of paired resamples. Caseness metrics withheld by design (1 disordered-range respondent).</a:t>
            </a:r>
          </a:p>
        </p:txBody>
      </p:sp>
      <p:pic>
        <p:nvPicPr>
          <p:cNvPr id="10" name="Picture 9" descr="survey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4572000" cy="2654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0" y="4754880"/>
            <a:ext cx="41148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Left: every pattern feature out-ranks every volume feature — no interleaving. The design premise, confirmed against real labels rather than assumed.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Eleven real open corpora adopted by measured trial — and the ones we rejected, with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Adopted (11)</a:t>
            </a:r>
            <a:r>
              <a:rPr sz="1500" b="0">
                <a:solidFill>
                  <a:srgbClr val="14223C"/>
                </a:solidFill>
                <a:latin typeface="Calibri"/>
              </a:rPr>
              <a:t>: Gamers &amp; Anxiety (13,464) · IGDS9-SF LatAm (11,191) · CONDA · Davidson · </a:t>
            </a:r>
            <a:r>
              <a:rPr sz="1500" b="1">
                <a:solidFill>
                  <a:srgbClr val="14223C"/>
                </a:solidFill>
                <a:latin typeface="Calibri"/>
              </a:rPr>
              <a:t>HASOC 2019 Hindi</a:t>
            </a:r>
            <a:r>
              <a:rPr sz="1500" b="0">
                <a:solidFill>
                  <a:srgbClr val="14223C"/>
                </a:solidFill>
                <a:latin typeface="Calibri"/>
              </a:rPr>
              <a:t> · clean-Hindi Wikipedia · RAVDESS + CREMA-D + EMO-DB + URDU (9,817 clips)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+ our own primary data</a:t>
            </a:r>
            <a:r>
              <a:rPr sz="1500" b="0">
                <a:solidFill>
                  <a:srgbClr val="14223C"/>
                </a:solidFill>
                <a:latin typeface="Calibri"/>
              </a:rPr>
              <a:t>: the IGDS9-SF survey (n = 87) — no open dataset pairs the instrument with the pattern variables we measure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+ eval-only</a:t>
            </a:r>
            <a:r>
              <a:rPr sz="1500" b="0">
                <a:solidFill>
                  <a:srgbClr val="14223C"/>
                </a:solidFill>
                <a:latin typeface="Calibri"/>
              </a:rPr>
              <a:t>: Svarah Indian-accent English (6,656 clips, CC BY 4.0) for the fairness audit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Rejected with evidence</a:t>
            </a:r>
            <a:r>
              <a:rPr sz="1500" b="0">
                <a:solidFill>
                  <a:srgbClr val="14223C"/>
                </a:solidFill>
                <a:latin typeface="Calibri"/>
              </a:rPr>
              <a:t>: Kaggle "Predict Online Gaming Behavior" (synthetic; engagement ≠ addiction) · "Mobile App Usage" (3/10 features, credential-walled)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Reality-checked</a:t>
            </a:r>
            <a:r>
              <a:rPr sz="1500" b="0">
                <a:solidFill>
                  <a:srgbClr val="14223C"/>
                </a:solidFill>
                <a:latin typeface="Calibri"/>
              </a:rPr>
              <a:t> one hand-set prior against real phone telemetry (StudentLife): heavy-band late-night sits above the 90th percentile of normal student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Testing &amp; Engineering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Tested, load-verified, watched in production — and measured on real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223C"/>
                </a:solidFill>
                <a:latin typeface="Calibri"/>
              </a:rPr>
              <a:t>▪  </a:t>
            </a:r>
            <a:r>
              <a:rPr sz="1400" b="1">
                <a:solidFill>
                  <a:srgbClr val="14223C"/>
                </a:solidFill>
                <a:latin typeface="Calibri"/>
              </a:rPr>
              <a:t>290 automated tests in CI</a:t>
            </a:r>
            <a:r>
              <a:rPr sz="1400" b="0">
                <a:solidFill>
                  <a:srgbClr val="14223C"/>
                </a:solidFill>
                <a:latin typeface="Calibri"/>
              </a:rPr>
              <a:t>: 180 backend (run on </a:t>
            </a:r>
            <a:r>
              <a:rPr sz="1400" b="1">
                <a:solidFill>
                  <a:srgbClr val="14223C"/>
                </a:solidFill>
                <a:latin typeface="Calibri"/>
              </a:rPr>
              <a:t>both</a:t>
            </a:r>
            <a:r>
              <a:rPr sz="1400" b="0">
                <a:solidFill>
                  <a:srgbClr val="14223C"/>
                </a:solidFill>
                <a:latin typeface="Calibri"/>
              </a:rPr>
              <a:t> SQLite &amp; Postgres 16) + 110 Android JVM + 7 research-integrity guards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23C"/>
                </a:solidFill>
                <a:latin typeface="Calibri"/>
              </a:rPr>
              <a:t>▪  Load-verified: 288 concurrent requests, </a:t>
            </a:r>
            <a:r>
              <a:rPr sz="1400" b="1">
                <a:solidFill>
                  <a:srgbClr val="14223C"/>
                </a:solidFill>
                <a:latin typeface="Calibri"/>
              </a:rPr>
              <a:t>0 errors</a:t>
            </a:r>
            <a:r>
              <a:rPr sz="1400" b="0">
                <a:solidFill>
                  <a:srgbClr val="14223C"/>
                </a:solidFill>
                <a:latin typeface="Calibri"/>
              </a:rPr>
              <a:t>, p50 66 ms; API fuzzed (schemathesis), CVE-audited, MobSF static audit clean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23C"/>
                </a:solidFill>
                <a:latin typeface="Calibri"/>
              </a:rPr>
              <a:t>▪  Weekly </a:t>
            </a:r>
            <a:r>
              <a:rPr sz="1400" b="1">
                <a:solidFill>
                  <a:srgbClr val="14223C"/>
                </a:solidFill>
                <a:latin typeface="Calibri"/>
              </a:rPr>
              <a:t>drift monitor</a:t>
            </a:r>
            <a:r>
              <a:rPr sz="1400" b="0">
                <a:solidFill>
                  <a:srgbClr val="14223C"/>
                </a:solidFill>
                <a:latin typeface="Calibri"/>
              </a:rPr>
              <a:t> vs the production DB (PSI/KS); signed-token auth, rate limiting, authz regression tests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23C"/>
                </a:solidFill>
                <a:latin typeface="Calibri"/>
              </a:rPr>
              <a:t>▪  Anti-tamper on record: even </a:t>
            </a:r>
            <a:r>
              <a:rPr sz="1400" b="1">
                <a:solidFill>
                  <a:srgbClr val="14223C"/>
                </a:solidFill>
                <a:latin typeface="Calibri"/>
              </a:rPr>
              <a:t>adb could not uninstall</a:t>
            </a:r>
            <a:r>
              <a:rPr sz="1400" b="0">
                <a:solidFill>
                  <a:srgbClr val="14223C"/>
                </a:solidFill>
                <a:latin typeface="Calibri"/>
              </a:rPr>
              <a:t> the app past the Device-Admin block without the parent PIN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776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On-device cost (Galaxy M52, 15-min Roblox)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English STT (default)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Dual Hindi+English toggle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73152" marR="73152" marT="27432" marB="27432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CPU, averaged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14 %</a:t>
                      </a:r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 of one core (game: 215 %)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51–72 % (~4–5×)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&lt; 2× — </a:t>
                      </a:r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RAM (PSS) mean / peak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288 / 301 MB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399 / </a:t>
                      </a:r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419 MB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&lt; 400 MB — </a:t>
                      </a:r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 marL="73152" marR="73152" marT="27432" marB="2743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Thermal throttling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none — passes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23C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ships as default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23C"/>
                          </a:solidFill>
                          <a:latin typeface="Calibri"/>
                        </a:rPr>
                        <a:t>default OFF — measured reason</a:t>
                      </a:r>
                    </a:p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Privacy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Consent that fails closed, symmetric export/delete, and the tensions we name instead of hide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Explicit onboarding consent, </a:t>
            </a:r>
            <a:r>
              <a:rPr sz="1500" b="1">
                <a:solidFill>
                  <a:srgbClr val="14223C"/>
                </a:solidFill>
                <a:latin typeface="Calibri"/>
              </a:rPr>
              <a:t>versioned, fails closed</a:t>
            </a:r>
            <a:r>
              <a:rPr sz="1500" b="0">
                <a:solidFill>
                  <a:srgbClr val="14223C"/>
                </a:solidFill>
                <a:latin typeface="Calibri"/>
              </a:rPr>
              <a:t>; revoking a capture permission </a:t>
            </a:r>
            <a:r>
              <a:rPr sz="1500" b="1">
                <a:solidFill>
                  <a:srgbClr val="14223C"/>
                </a:solidFill>
                <a:latin typeface="Calibri"/>
              </a:rPr>
              <a:t>alerts the parent</a:t>
            </a:r>
            <a:r>
              <a:rPr sz="1500" b="0">
                <a:solidFill>
                  <a:srgbClr val="14223C"/>
                </a:solidFill>
                <a:latin typeface="Calibri"/>
              </a:rPr>
              <a:t> — no silent failure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STT </a:t>
            </a:r>
            <a:r>
              <a:rPr sz="1500" b="1">
                <a:solidFill>
                  <a:srgbClr val="14223C"/>
                </a:solidFill>
                <a:latin typeface="Calibri"/>
              </a:rPr>
              <a:t>on-device</a:t>
            </a:r>
            <a:r>
              <a:rPr sz="1500" b="0">
                <a:solidFill>
                  <a:srgbClr val="14223C"/>
                </a:solidFill>
                <a:latin typeface="Calibri"/>
              </a:rPr>
              <a:t>; raw audio deleted after feature extraction; VAD gates the mic; </a:t>
            </a:r>
            <a:r>
              <a:rPr sz="1500" b="1">
                <a:solidFill>
                  <a:srgbClr val="14223C"/>
                </a:solidFill>
                <a:latin typeface="Calibri"/>
              </a:rPr>
              <a:t>no raw media retained anywhere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`/api/user/export` = everything held (credentials excluded); </a:t>
            </a:r>
            <a:r>
              <a:rPr sz="1500" b="1">
                <a:solidFill>
                  <a:srgbClr val="14223C"/>
                </a:solidFill>
                <a:latin typeface="Calibri"/>
              </a:rPr>
              <a:t>deletion scope identical to export</a:t>
            </a:r>
            <a:r>
              <a:rPr sz="1500" b="0">
                <a:solidFill>
                  <a:srgbClr val="14223C"/>
                </a:solidFill>
                <a:latin typeface="Calibri"/>
              </a:rPr>
              <a:t> — one table inventory in code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Parental monitoring of a </a:t>
            </a:r>
            <a:r>
              <a:rPr sz="1500" b="1">
                <a:solidFill>
                  <a:srgbClr val="14223C"/>
                </a:solidFill>
                <a:latin typeface="Calibri"/>
              </a:rPr>
              <a:t>minor</a:t>
            </a:r>
            <a:r>
              <a:rPr sz="1500" b="0">
                <a:solidFill>
                  <a:srgbClr val="14223C"/>
                </a:solidFill>
                <a:latin typeface="Calibri"/>
              </a:rPr>
              <a:t>, by design — visibility over prevention: alerts, not blocks; never covert toward the child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</a:t>
            </a:r>
            <a:r>
              <a:rPr sz="1500" b="1">
                <a:solidFill>
                  <a:srgbClr val="14223C"/>
                </a:solidFill>
                <a:latin typeface="Calibri"/>
              </a:rPr>
              <a:t>Named tensions</a:t>
            </a:r>
            <a:r>
              <a:rPr sz="1500" b="0">
                <a:solidFill>
                  <a:srgbClr val="14223C"/>
                </a:solidFill>
                <a:latin typeface="Calibri"/>
              </a:rPr>
              <a:t>: the crisis-alert asymmetry (a refusal, not an oversight) · sensing blindspots (browser games) · adult-only validation cohort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64240" cy="7315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 monitoring boundary honestly disclosed to the parent beats a privacy regression that closes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 &amp; What Is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Partial in a specific, nameable way — and we will not blur 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Training labels still </a:t>
            </a:r>
            <a:r>
              <a:rPr sz="1500" b="1">
                <a:solidFill>
                  <a:srgbClr val="14223C"/>
                </a:solidFill>
                <a:latin typeface="Calibri"/>
              </a:rPr>
              <a:t>synthetic</a:t>
            </a:r>
            <a:r>
              <a:rPr sz="1500" b="0">
                <a:solidFill>
                  <a:srgbClr val="14223C"/>
                </a:solidFill>
                <a:latin typeface="Calibri"/>
              </a:rPr>
              <a:t> — the 91.6 % is a synthetic-distribution number, and the survey does </a:t>
            </a:r>
            <a:r>
              <a:rPr sz="1500" b="1">
                <a:solidFill>
                  <a:srgbClr val="14223C"/>
                </a:solidFill>
                <a:latin typeface="Calibri"/>
              </a:rPr>
              <a:t>not</a:t>
            </a:r>
            <a:r>
              <a:rPr sz="1500" b="0">
                <a:solidFill>
                  <a:srgbClr val="14223C"/>
                </a:solidFill>
                <a:latin typeface="Calibri"/>
              </a:rPr>
              <a:t> upgrade 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Validated: the score's </a:t>
            </a:r>
            <a:r>
              <a:rPr sz="1500" b="1">
                <a:solidFill>
                  <a:srgbClr val="14223C"/>
                </a:solidFill>
                <a:latin typeface="Calibri"/>
              </a:rPr>
              <a:t>meaning</a:t>
            </a:r>
            <a:r>
              <a:rPr sz="1500" b="0">
                <a:solidFill>
                  <a:srgbClr val="14223C"/>
                </a:solidFill>
                <a:latin typeface="Calibri"/>
              </a:rPr>
              <a:t> (ρ = 0.317; partial vs hours excludes zero). Not validated: its </a:t>
            </a:r>
            <a:r>
              <a:rPr sz="1500" b="1">
                <a:solidFill>
                  <a:srgbClr val="14223C"/>
                </a:solidFill>
                <a:latin typeface="Calibri"/>
              </a:rPr>
              <a:t>accuracy at the clinical cut-off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The blocker is quantified: </a:t>
            </a:r>
            <a:r>
              <a:rPr sz="1500" b="1">
                <a:solidFill>
                  <a:srgbClr val="14223C"/>
                </a:solidFill>
                <a:latin typeface="Calibri"/>
              </a:rPr>
              <a:t>1</a:t>
            </a:r>
            <a:r>
              <a:rPr sz="1500" b="0">
                <a:solidFill>
                  <a:srgbClr val="14223C"/>
                </a:solidFill>
                <a:latin typeface="Calibri"/>
              </a:rPr>
              <a:t> disordered-range respondent in 87 → need </a:t>
            </a:r>
            <a:r>
              <a:rPr sz="1500" b="1">
                <a:solidFill>
                  <a:srgbClr val="14223C"/>
                </a:solidFill>
                <a:latin typeface="Calibri"/>
              </a:rPr>
              <a:t>~157 usable</a:t>
            </a:r>
            <a:r>
              <a:rPr sz="1500" b="0">
                <a:solidFill>
                  <a:srgbClr val="14223C"/>
                </a:solidFill>
                <a:latin typeface="Calibri"/>
              </a:rPr>
              <a:t> at the 6.4 % base rate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Adults, self-reported, cross-sectional — the deployment target is </a:t>
            </a:r>
            <a:r>
              <a:rPr sz="1500" b="1">
                <a:solidFill>
                  <a:srgbClr val="14223C"/>
                </a:solidFill>
                <a:latin typeface="Calibri"/>
              </a:rPr>
              <a:t>adolescents, measured, over time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Voice trained on acted adult emotion (gap quantified: leakage 9 pts; missing domain data 32 PR-AUC pts); dual-STT fails our resource gate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23C"/>
                </a:solidFill>
                <a:latin typeface="Calibri"/>
              </a:rPr>
              <a:t>▪  One remaining tier: a </a:t>
            </a:r>
            <a:r>
              <a:rPr sz="1500" b="1">
                <a:solidFill>
                  <a:srgbClr val="14223C"/>
                </a:solidFill>
                <a:latin typeface="Calibri"/>
              </a:rPr>
              <a:t>per-child cohort</a:t>
            </a:r>
            <a:r>
              <a:rPr sz="1500" b="0">
                <a:solidFill>
                  <a:srgbClr val="14223C"/>
                </a:solidFill>
                <a:latin typeface="Calibri"/>
              </a:rPr>
              <a:t> (guardian IGDS9-SF + telemetry) — needs ethics approval; the submission is the next artefact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Final Results, Conclusion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Reproducibility and honesty as features — with the evidence to prove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PW26_SAS-03 · AI-Driven Gaming Addiction Screening · PES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5B636E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4223C"/>
                </a:solidFill>
                <a:latin typeface="Calibri"/>
              </a:rPr>
              <a:t>▪  </a:t>
            </a:r>
            <a:r>
              <a:rPr sz="1700" b="1">
                <a:solidFill>
                  <a:srgbClr val="14223C"/>
                </a:solidFill>
                <a:latin typeface="Calibri"/>
              </a:rPr>
              <a:t>Deployed</a:t>
            </a:r>
            <a:r>
              <a:rPr sz="1700" b="0">
                <a:solidFill>
                  <a:srgbClr val="14223C"/>
                </a:solidFill>
                <a:latin typeface="Calibri"/>
              </a:rPr>
              <a:t> end-to-end system · 3 real-data-grounded models · every design choice ablated with CIs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23C"/>
                </a:solidFill>
                <a:latin typeface="Calibri"/>
              </a:rPr>
              <a:t>▪  </a:t>
            </a:r>
            <a:r>
              <a:rPr sz="1700" b="1">
                <a:solidFill>
                  <a:srgbClr val="14223C"/>
                </a:solidFill>
                <a:latin typeface="Calibri"/>
              </a:rPr>
              <a:t>Externally validated</a:t>
            </a:r>
            <a:r>
              <a:rPr sz="1700" b="0">
                <a:solidFill>
                  <a:srgbClr val="14223C"/>
                </a:solidFill>
                <a:latin typeface="Calibri"/>
              </a:rPr>
              <a:t>: ρ = 0.317 vs IGDS9-SF, leading the screen-time baseline (97 % of paired resamples) — signal in </a:t>
            </a:r>
            <a:r>
              <a:rPr sz="1700" b="1">
                <a:solidFill>
                  <a:srgbClr val="14223C"/>
                </a:solidFill>
                <a:latin typeface="Calibri"/>
              </a:rPr>
              <a:t>how</a:t>
            </a:r>
            <a:r>
              <a:rPr sz="1700" b="0">
                <a:solidFill>
                  <a:srgbClr val="14223C"/>
                </a:solidFill>
                <a:latin typeface="Calibri"/>
              </a:rPr>
              <a:t>, not </a:t>
            </a:r>
            <a:r>
              <a:rPr sz="1700" b="1">
                <a:solidFill>
                  <a:srgbClr val="14223C"/>
                </a:solidFill>
                <a:latin typeface="Calibri"/>
              </a:rPr>
              <a:t>how long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23C"/>
                </a:solidFill>
                <a:latin typeface="Calibri"/>
              </a:rPr>
              <a:t>▪  </a:t>
            </a:r>
            <a:r>
              <a:rPr sz="1700" b="1">
                <a:solidFill>
                  <a:srgbClr val="14223C"/>
                </a:solidFill>
                <a:latin typeface="Calibri"/>
              </a:rPr>
              <a:t>Built for India</a:t>
            </a:r>
            <a:r>
              <a:rPr sz="1700" b="0">
                <a:solidFill>
                  <a:srgbClr val="14223C"/>
                </a:solidFill>
                <a:latin typeface="Calibri"/>
              </a:rPr>
              <a:t>: three-register chat, Devanagari keyboard, accent-fairness audited (0 false alerts / 9.6 h)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23C"/>
                </a:solidFill>
                <a:latin typeface="Calibri"/>
              </a:rPr>
              <a:t>▪  </a:t>
            </a:r>
            <a:r>
              <a:rPr sz="1700" b="1">
                <a:solidFill>
                  <a:srgbClr val="14223C"/>
                </a:solidFill>
                <a:latin typeface="Calibri"/>
              </a:rPr>
              <a:t>Reproducible</a:t>
            </a:r>
            <a:r>
              <a:rPr sz="1700" b="0">
                <a:solidFill>
                  <a:srgbClr val="14223C"/>
                </a:solidFill>
                <a:latin typeface="Calibri"/>
              </a:rPr>
              <a:t>: every number on these slides is one script in the repo; 7 CI guards pin the paper to the data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23C"/>
                </a:solidFill>
                <a:latin typeface="Calibri"/>
              </a:rPr>
              <a:t>▪  Future is data-first: per-child cohort (ethics-gated) → child-speech adaptation → per-family thresholds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4223C"/>
                </a:solidFill>
                <a:latin typeface="Calibri"/>
              </a:rPr>
              <a:t>▪  </a:t>
            </a:r>
            <a:r>
              <a:rPr sz="1700" b="1">
                <a:solidFill>
                  <a:srgbClr val="14223C"/>
                </a:solidFill>
                <a:latin typeface="Calibri"/>
              </a:rPr>
              <a:t>Live demo</a:t>
            </a:r>
            <a:r>
              <a:rPr sz="1700" b="0">
                <a:solidFill>
                  <a:srgbClr val="14223C"/>
                </a:solidFill>
                <a:latin typeface="Calibri"/>
              </a:rPr>
              <a:t> — backup video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64240" cy="822960"/>
          </a:xfrm>
          <a:prstGeom prst="roundRect">
            <a:avLst/>
          </a:prstGeom>
          <a:solidFill>
            <a:srgbClr val="14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thesis survived contact with real labels. Two of its components did not — and we shipped the paper that says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